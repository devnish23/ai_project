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704513" cy="7462838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3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577800"/>
            <a:ext cx="9633240" cy="91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638360"/>
            <a:ext cx="9633240" cy="316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577800"/>
            <a:ext cx="9633240" cy="91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638360"/>
            <a:ext cx="9633240" cy="316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34960" y="577800"/>
            <a:ext cx="9633240" cy="91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4960" y="1638360"/>
            <a:ext cx="9633240" cy="316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4960" y="577800"/>
            <a:ext cx="9633240" cy="91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34960" y="1638360"/>
            <a:ext cx="9633240" cy="316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34960" y="577800"/>
            <a:ext cx="9633240" cy="91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4960" y="1638360"/>
            <a:ext cx="9633240" cy="316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34960" y="577800"/>
            <a:ext cx="9633240" cy="91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34960" y="1638360"/>
            <a:ext cx="9633240" cy="316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34960" y="577800"/>
            <a:ext cx="9633240" cy="91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34960" y="1638360"/>
            <a:ext cx="9633240" cy="316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34960" y="577800"/>
            <a:ext cx="9633240" cy="91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34960" y="1638360"/>
            <a:ext cx="9633240" cy="316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3.png"/><Relationship Id="rId3" Type="http://schemas.openxmlformats.org/officeDocument/2006/relationships/image" Target="../media/image29.png"/><Relationship Id="rId21" Type="http://schemas.openxmlformats.org/officeDocument/2006/relationships/image" Target="../media/image46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22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4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5.png"/><Relationship Id="rId3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48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53.png"/><Relationship Id="rId5" Type="http://schemas.openxmlformats.org/officeDocument/2006/relationships/image" Target="../media/image50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image" Target="../media/image25.png"/><Relationship Id="rId1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68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23.png"/><Relationship Id="rId2" Type="http://schemas.openxmlformats.org/officeDocument/2006/relationships/image" Target="../media/image60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png"/><Relationship Id="rId11" Type="http://schemas.openxmlformats.org/officeDocument/2006/relationships/image" Target="../media/image22.png"/><Relationship Id="rId5" Type="http://schemas.openxmlformats.org/officeDocument/2006/relationships/image" Target="../media/image63.png"/><Relationship Id="rId15" Type="http://schemas.openxmlformats.org/officeDocument/2006/relationships/image" Target="../media/image26.png"/><Relationship Id="rId10" Type="http://schemas.openxmlformats.org/officeDocument/2006/relationships/image" Target="../media/image16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71.png"/><Relationship Id="rId7" Type="http://schemas.openxmlformats.org/officeDocument/2006/relationships/image" Target="../media/image2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70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png"/><Relationship Id="rId11" Type="http://schemas.openxmlformats.org/officeDocument/2006/relationships/image" Target="../media/image76.png"/><Relationship Id="rId5" Type="http://schemas.openxmlformats.org/officeDocument/2006/relationships/image" Target="../media/image73.png"/><Relationship Id="rId15" Type="http://schemas.openxmlformats.org/officeDocument/2006/relationships/image" Target="../media/image80.png"/><Relationship Id="rId10" Type="http://schemas.openxmlformats.org/officeDocument/2006/relationships/image" Target="../media/image25.png"/><Relationship Id="rId4" Type="http://schemas.openxmlformats.org/officeDocument/2006/relationships/image" Target="../media/image72.png"/><Relationship Id="rId9" Type="http://schemas.openxmlformats.org/officeDocument/2006/relationships/image" Target="../media/image75.png"/><Relationship Id="rId14" Type="http://schemas.openxmlformats.org/officeDocument/2006/relationships/image" Target="../media/image7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26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2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8.png"/><Relationship Id="rId11" Type="http://schemas.openxmlformats.org/officeDocument/2006/relationships/image" Target="../media/image91.png"/><Relationship Id="rId5" Type="http://schemas.openxmlformats.org/officeDocument/2006/relationships/image" Target="../media/image87.png"/><Relationship Id="rId10" Type="http://schemas.openxmlformats.org/officeDocument/2006/relationships/image" Target="../media/image23.png"/><Relationship Id="rId4" Type="http://schemas.openxmlformats.org/officeDocument/2006/relationships/image" Target="../media/image86.png"/><Relationship Id="rId9" Type="http://schemas.openxmlformats.org/officeDocument/2006/relationships/image" Target="../media/image22.png"/><Relationship Id="rId14" Type="http://schemas.openxmlformats.org/officeDocument/2006/relationships/image" Target="../media/image9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23.png"/><Relationship Id="rId17" Type="http://schemas.openxmlformats.org/officeDocument/2006/relationships/image" Target="../media/image104.png"/><Relationship Id="rId2" Type="http://schemas.openxmlformats.org/officeDocument/2006/relationships/image" Target="../media/image93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22.png"/><Relationship Id="rId5" Type="http://schemas.openxmlformats.org/officeDocument/2006/relationships/image" Target="../media/image96.png"/><Relationship Id="rId15" Type="http://schemas.openxmlformats.org/officeDocument/2006/relationships/image" Target="../media/image102.png"/><Relationship Id="rId10" Type="http://schemas.openxmlformats.org/officeDocument/2006/relationships/image" Target="../media/image100.png"/><Relationship Id="rId19" Type="http://schemas.openxmlformats.org/officeDocument/2006/relationships/image" Target="../media/image106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25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01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23.png"/><Relationship Id="rId5" Type="http://schemas.openxmlformats.org/officeDocument/2006/relationships/image" Target="../media/image110.png"/><Relationship Id="rId15" Type="http://schemas.openxmlformats.org/officeDocument/2006/relationships/image" Target="../media/image103.png"/><Relationship Id="rId10" Type="http://schemas.openxmlformats.org/officeDocument/2006/relationships/image" Target="../media/image22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0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4.png"/><Relationship Id="rId18" Type="http://schemas.openxmlformats.org/officeDocument/2006/relationships/image" Target="../media/image128.png"/><Relationship Id="rId3" Type="http://schemas.openxmlformats.org/officeDocument/2006/relationships/image" Target="../media/image116.png"/><Relationship Id="rId7" Type="http://schemas.openxmlformats.org/officeDocument/2006/relationships/image" Target="../media/image119.png"/><Relationship Id="rId12" Type="http://schemas.openxmlformats.org/officeDocument/2006/relationships/image" Target="../media/image123.png"/><Relationship Id="rId17" Type="http://schemas.openxmlformats.org/officeDocument/2006/relationships/image" Target="../media/image127.png"/><Relationship Id="rId2" Type="http://schemas.openxmlformats.org/officeDocument/2006/relationships/image" Target="../media/image115.png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2.png"/><Relationship Id="rId5" Type="http://schemas.openxmlformats.org/officeDocument/2006/relationships/image" Target="../media/image117.png"/><Relationship Id="rId15" Type="http://schemas.openxmlformats.org/officeDocument/2006/relationships/image" Target="../media/image125.png"/><Relationship Id="rId10" Type="http://schemas.openxmlformats.org/officeDocument/2006/relationships/image" Target="../media/image121.png"/><Relationship Id="rId19" Type="http://schemas.openxmlformats.org/officeDocument/2006/relationships/image" Target="../media/image129.png"/><Relationship Id="rId4" Type="http://schemas.openxmlformats.org/officeDocument/2006/relationships/image" Target="../media/image37.png"/><Relationship Id="rId9" Type="http://schemas.openxmlformats.org/officeDocument/2006/relationships/image" Target="../media/image32.pn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6"/>
          <p:cNvPicPr/>
          <p:nvPr/>
        </p:nvPicPr>
        <p:blipFill>
          <a:blip r:embed="rId3"/>
          <a:stretch/>
        </p:blipFill>
        <p:spPr>
          <a:xfrm>
            <a:off x="-1253520" y="-1253520"/>
            <a:ext cx="4178160" cy="417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17"/>
          <p:cNvPicPr/>
          <p:nvPr/>
        </p:nvPicPr>
        <p:blipFill>
          <a:blip r:embed="rId4"/>
          <a:stretch/>
        </p:blipFill>
        <p:spPr>
          <a:xfrm>
            <a:off x="8189640" y="350964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18"/>
          <p:cNvPicPr/>
          <p:nvPr/>
        </p:nvPicPr>
        <p:blipFill>
          <a:blip r:embed="rId5"/>
          <a:stretch/>
        </p:blipFill>
        <p:spPr>
          <a:xfrm>
            <a:off x="417960" y="1671480"/>
            <a:ext cx="668484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19"/>
          <p:cNvPicPr/>
          <p:nvPr/>
        </p:nvPicPr>
        <p:blipFill>
          <a:blip r:embed="rId6"/>
          <a:stretch/>
        </p:blipFill>
        <p:spPr>
          <a:xfrm>
            <a:off x="5264640" y="3902400"/>
            <a:ext cx="5013720" cy="2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20"/>
          <p:cNvPicPr/>
          <p:nvPr/>
        </p:nvPicPr>
        <p:blipFill>
          <a:blip r:embed="rId7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Freeform: Shape 21"/>
          <p:cNvSpPr/>
          <p:nvPr/>
        </p:nvSpPr>
        <p:spPr>
          <a:xfrm>
            <a:off x="4947120" y="2874600"/>
            <a:ext cx="802440" cy="33840"/>
          </a:xfrm>
          <a:custGeom>
            <a:avLst/>
            <a:gdLst/>
            <a:ahLst/>
            <a:cxnLst/>
            <a:rect l="0" t="0" r="r" b="b"/>
            <a:pathLst>
              <a:path w="2229" h="94">
                <a:moveTo>
                  <a:pt x="0" y="0"/>
                </a:moveTo>
                <a:lnTo>
                  <a:pt x="2229" y="0"/>
                </a:lnTo>
                <a:lnTo>
                  <a:pt x="2229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" name="Picture 22"/>
          <p:cNvPicPr/>
          <p:nvPr/>
        </p:nvPicPr>
        <p:blipFill>
          <a:blip r:embed="rId8"/>
          <a:stretch/>
        </p:blipFill>
        <p:spPr>
          <a:xfrm>
            <a:off x="4763160" y="113652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23"/>
          <p:cNvPicPr/>
          <p:nvPr/>
        </p:nvPicPr>
        <p:blipFill>
          <a:blip r:embed="rId9"/>
          <a:stretch/>
        </p:blipFill>
        <p:spPr>
          <a:xfrm>
            <a:off x="5198040" y="113652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24"/>
          <p:cNvPicPr/>
          <p:nvPr/>
        </p:nvPicPr>
        <p:blipFill>
          <a:blip r:embed="rId10"/>
          <a:stretch/>
        </p:blipFill>
        <p:spPr>
          <a:xfrm>
            <a:off x="5632560" y="1136520"/>
            <a:ext cx="30060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1828440" y="1675080"/>
            <a:ext cx="7079040" cy="46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6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Infrastructure Tracking System</a:t>
            </a:r>
            <a:endParaRPr lang="en-US" sz="3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Freeform: Shape 26"/>
          <p:cNvSpPr/>
          <p:nvPr/>
        </p:nvSpPr>
        <p:spPr>
          <a:xfrm>
            <a:off x="1487160" y="3242160"/>
            <a:ext cx="3727440" cy="1103400"/>
          </a:xfrm>
          <a:custGeom>
            <a:avLst/>
            <a:gdLst/>
            <a:ahLst/>
            <a:cxnLst/>
            <a:rect l="0" t="0" r="r" b="b"/>
            <a:pathLst>
              <a:path w="10354" h="3065">
                <a:moveTo>
                  <a:pt x="0" y="288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4"/>
                  <a:pt x="19" y="93"/>
                  <a:pt x="24" y="83"/>
                </a:cubicBezTo>
                <a:cubicBezTo>
                  <a:pt x="29" y="73"/>
                  <a:pt x="35" y="63"/>
                  <a:pt x="41" y="55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4" y="6"/>
                  <a:pt x="113" y="4"/>
                </a:cubicBezTo>
                <a:cubicBezTo>
                  <a:pt x="121" y="1"/>
                  <a:pt x="131" y="0"/>
                  <a:pt x="140" y="0"/>
                </a:cubicBezTo>
                <a:lnTo>
                  <a:pt x="10169" y="0"/>
                </a:lnTo>
                <a:cubicBezTo>
                  <a:pt x="10181" y="0"/>
                  <a:pt x="10193" y="1"/>
                  <a:pt x="10205" y="4"/>
                </a:cubicBezTo>
                <a:cubicBezTo>
                  <a:pt x="10217" y="6"/>
                  <a:pt x="10229" y="10"/>
                  <a:pt x="10240" y="14"/>
                </a:cubicBezTo>
                <a:cubicBezTo>
                  <a:pt x="10251" y="19"/>
                  <a:pt x="10262" y="25"/>
                  <a:pt x="10272" y="31"/>
                </a:cubicBezTo>
                <a:cubicBezTo>
                  <a:pt x="10282" y="38"/>
                  <a:pt x="10291" y="46"/>
                  <a:pt x="10300" y="55"/>
                </a:cubicBezTo>
                <a:cubicBezTo>
                  <a:pt x="10309" y="63"/>
                  <a:pt x="10316" y="73"/>
                  <a:pt x="10323" y="83"/>
                </a:cubicBezTo>
                <a:cubicBezTo>
                  <a:pt x="10330" y="93"/>
                  <a:pt x="10336" y="104"/>
                  <a:pt x="10340" y="115"/>
                </a:cubicBezTo>
                <a:cubicBezTo>
                  <a:pt x="10345" y="126"/>
                  <a:pt x="10348" y="138"/>
                  <a:pt x="10351" y="150"/>
                </a:cubicBezTo>
                <a:cubicBezTo>
                  <a:pt x="10353" y="162"/>
                  <a:pt x="10354" y="174"/>
                  <a:pt x="10354" y="186"/>
                </a:cubicBezTo>
                <a:lnTo>
                  <a:pt x="10354" y="2880"/>
                </a:lnTo>
                <a:cubicBezTo>
                  <a:pt x="10354" y="2892"/>
                  <a:pt x="10353" y="2904"/>
                  <a:pt x="10351" y="2916"/>
                </a:cubicBezTo>
                <a:cubicBezTo>
                  <a:pt x="10348" y="2928"/>
                  <a:pt x="10345" y="2939"/>
                  <a:pt x="10340" y="2951"/>
                </a:cubicBezTo>
                <a:cubicBezTo>
                  <a:pt x="10336" y="2962"/>
                  <a:pt x="10330" y="2973"/>
                  <a:pt x="10323" y="2983"/>
                </a:cubicBezTo>
                <a:cubicBezTo>
                  <a:pt x="10316" y="2993"/>
                  <a:pt x="10309" y="3002"/>
                  <a:pt x="10300" y="3011"/>
                </a:cubicBezTo>
                <a:cubicBezTo>
                  <a:pt x="10291" y="3020"/>
                  <a:pt x="10282" y="3027"/>
                  <a:pt x="10272" y="3034"/>
                </a:cubicBezTo>
                <a:cubicBezTo>
                  <a:pt x="10262" y="3041"/>
                  <a:pt x="10251" y="3046"/>
                  <a:pt x="10240" y="3051"/>
                </a:cubicBezTo>
                <a:cubicBezTo>
                  <a:pt x="10229" y="3056"/>
                  <a:pt x="10217" y="3059"/>
                  <a:pt x="10205" y="3062"/>
                </a:cubicBezTo>
                <a:cubicBezTo>
                  <a:pt x="10193" y="3064"/>
                  <a:pt x="10181" y="3065"/>
                  <a:pt x="10169" y="3065"/>
                </a:cubicBezTo>
                <a:lnTo>
                  <a:pt x="140" y="3065"/>
                </a:lnTo>
                <a:cubicBezTo>
                  <a:pt x="131" y="3065"/>
                  <a:pt x="121" y="3064"/>
                  <a:pt x="113" y="3062"/>
                </a:cubicBezTo>
                <a:cubicBezTo>
                  <a:pt x="104" y="3059"/>
                  <a:pt x="95" y="3056"/>
                  <a:pt x="86" y="3051"/>
                </a:cubicBezTo>
                <a:cubicBezTo>
                  <a:pt x="78" y="3046"/>
                  <a:pt x="70" y="3041"/>
                  <a:pt x="62" y="3034"/>
                </a:cubicBezTo>
                <a:cubicBezTo>
                  <a:pt x="55" y="3027"/>
                  <a:pt x="48" y="3020"/>
                  <a:pt x="41" y="3011"/>
                </a:cubicBezTo>
                <a:cubicBezTo>
                  <a:pt x="35" y="3002"/>
                  <a:pt x="29" y="2993"/>
                  <a:pt x="24" y="2983"/>
                </a:cubicBezTo>
                <a:cubicBezTo>
                  <a:pt x="19" y="2973"/>
                  <a:pt x="15" y="2962"/>
                  <a:pt x="11" y="2951"/>
                </a:cubicBezTo>
                <a:cubicBezTo>
                  <a:pt x="8" y="2939"/>
                  <a:pt x="5" y="2928"/>
                  <a:pt x="3" y="2916"/>
                </a:cubicBezTo>
                <a:cubicBezTo>
                  <a:pt x="1" y="2904"/>
                  <a:pt x="0" y="2892"/>
                  <a:pt x="0" y="2880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Freeform: Shape 27"/>
          <p:cNvSpPr/>
          <p:nvPr/>
        </p:nvSpPr>
        <p:spPr>
          <a:xfrm>
            <a:off x="1470600" y="3242160"/>
            <a:ext cx="67320" cy="1103400"/>
          </a:xfrm>
          <a:custGeom>
            <a:avLst/>
            <a:gdLst/>
            <a:ahLst/>
            <a:cxnLst/>
            <a:rect l="0" t="0" r="r" b="b"/>
            <a:pathLst>
              <a:path w="187" h="3065">
                <a:moveTo>
                  <a:pt x="0" y="0"/>
                </a:moveTo>
                <a:lnTo>
                  <a:pt x="187" y="0"/>
                </a:lnTo>
                <a:lnTo>
                  <a:pt x="187" y="3065"/>
                </a:lnTo>
                <a:lnTo>
                  <a:pt x="0" y="306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" name="Picture 28"/>
          <p:cNvPicPr/>
          <p:nvPr/>
        </p:nvPicPr>
        <p:blipFill>
          <a:blip r:embed="rId11"/>
          <a:stretch/>
        </p:blipFill>
        <p:spPr>
          <a:xfrm>
            <a:off x="1704600" y="34596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Box 29"/>
          <p:cNvSpPr txBox="1"/>
          <p:nvPr/>
        </p:nvSpPr>
        <p:spPr>
          <a:xfrm>
            <a:off x="3202200" y="2241000"/>
            <a:ext cx="4305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0" u="none" strike="noStrike">
                <a:solidFill>
                  <a:srgbClr val="46EDD5"/>
                </a:solidFill>
                <a:effectLst/>
                <a:uFillTx/>
                <a:latin typeface="DejaVuSans"/>
                <a:ea typeface="DejaVuSans"/>
              </a:rPr>
              <a:t>Securing and Optimizing IT Assets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05560" y="3463200"/>
            <a:ext cx="1827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Patch Management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04600" y="3761640"/>
            <a:ext cx="3260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Ensuring all systems are protected against CVEs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Freeform: Shape 32"/>
          <p:cNvSpPr/>
          <p:nvPr/>
        </p:nvSpPr>
        <p:spPr>
          <a:xfrm>
            <a:off x="5498640" y="3242160"/>
            <a:ext cx="3727440" cy="1103400"/>
          </a:xfrm>
          <a:custGeom>
            <a:avLst/>
            <a:gdLst/>
            <a:ahLst/>
            <a:cxnLst/>
            <a:rect l="0" t="0" r="r" b="b"/>
            <a:pathLst>
              <a:path w="10354" h="3065">
                <a:moveTo>
                  <a:pt x="0" y="2880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0" y="55"/>
                </a:cubicBezTo>
                <a:cubicBezTo>
                  <a:pt x="47" y="46"/>
                  <a:pt x="54" y="38"/>
                  <a:pt x="62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0168" y="0"/>
                </a:lnTo>
                <a:cubicBezTo>
                  <a:pt x="10180" y="0"/>
                  <a:pt x="10192" y="1"/>
                  <a:pt x="10204" y="4"/>
                </a:cubicBezTo>
                <a:cubicBezTo>
                  <a:pt x="10216" y="6"/>
                  <a:pt x="10228" y="10"/>
                  <a:pt x="10239" y="14"/>
                </a:cubicBezTo>
                <a:cubicBezTo>
                  <a:pt x="10250" y="19"/>
                  <a:pt x="10261" y="25"/>
                  <a:pt x="10271" y="31"/>
                </a:cubicBezTo>
                <a:cubicBezTo>
                  <a:pt x="10281" y="38"/>
                  <a:pt x="10291" y="46"/>
                  <a:pt x="10299" y="55"/>
                </a:cubicBezTo>
                <a:cubicBezTo>
                  <a:pt x="10308" y="63"/>
                  <a:pt x="10316" y="73"/>
                  <a:pt x="10322" y="83"/>
                </a:cubicBezTo>
                <a:cubicBezTo>
                  <a:pt x="10329" y="93"/>
                  <a:pt x="10335" y="104"/>
                  <a:pt x="10340" y="115"/>
                </a:cubicBezTo>
                <a:cubicBezTo>
                  <a:pt x="10344" y="126"/>
                  <a:pt x="10348" y="138"/>
                  <a:pt x="10350" y="150"/>
                </a:cubicBezTo>
                <a:cubicBezTo>
                  <a:pt x="10353" y="162"/>
                  <a:pt x="10354" y="174"/>
                  <a:pt x="10354" y="186"/>
                </a:cubicBezTo>
                <a:lnTo>
                  <a:pt x="10354" y="2880"/>
                </a:lnTo>
                <a:cubicBezTo>
                  <a:pt x="10354" y="2892"/>
                  <a:pt x="10353" y="2904"/>
                  <a:pt x="10350" y="2916"/>
                </a:cubicBezTo>
                <a:cubicBezTo>
                  <a:pt x="10348" y="2928"/>
                  <a:pt x="10344" y="2939"/>
                  <a:pt x="10340" y="2951"/>
                </a:cubicBezTo>
                <a:cubicBezTo>
                  <a:pt x="10335" y="2962"/>
                  <a:pt x="10329" y="2973"/>
                  <a:pt x="10322" y="2983"/>
                </a:cubicBezTo>
                <a:cubicBezTo>
                  <a:pt x="10316" y="2993"/>
                  <a:pt x="10308" y="3002"/>
                  <a:pt x="10299" y="3011"/>
                </a:cubicBezTo>
                <a:cubicBezTo>
                  <a:pt x="10291" y="3020"/>
                  <a:pt x="10281" y="3027"/>
                  <a:pt x="10271" y="3034"/>
                </a:cubicBezTo>
                <a:cubicBezTo>
                  <a:pt x="10261" y="3041"/>
                  <a:pt x="10250" y="3046"/>
                  <a:pt x="10239" y="3051"/>
                </a:cubicBezTo>
                <a:cubicBezTo>
                  <a:pt x="10228" y="3056"/>
                  <a:pt x="10216" y="3059"/>
                  <a:pt x="10204" y="3062"/>
                </a:cubicBezTo>
                <a:cubicBezTo>
                  <a:pt x="10192" y="3064"/>
                  <a:pt x="10180" y="3065"/>
                  <a:pt x="10168" y="3065"/>
                </a:cubicBezTo>
                <a:lnTo>
                  <a:pt x="139" y="3065"/>
                </a:lnTo>
                <a:cubicBezTo>
                  <a:pt x="130" y="3065"/>
                  <a:pt x="121" y="3064"/>
                  <a:pt x="112" y="3062"/>
                </a:cubicBezTo>
                <a:cubicBezTo>
                  <a:pt x="103" y="3059"/>
                  <a:pt x="94" y="3056"/>
                  <a:pt x="86" y="3051"/>
                </a:cubicBezTo>
                <a:cubicBezTo>
                  <a:pt x="77" y="3046"/>
                  <a:pt x="69" y="3041"/>
                  <a:pt x="62" y="3034"/>
                </a:cubicBezTo>
                <a:cubicBezTo>
                  <a:pt x="54" y="3027"/>
                  <a:pt x="47" y="3020"/>
                  <a:pt x="40" y="3011"/>
                </a:cubicBezTo>
                <a:cubicBezTo>
                  <a:pt x="34" y="3002"/>
                  <a:pt x="28" y="2993"/>
                  <a:pt x="23" y="2983"/>
                </a:cubicBezTo>
                <a:cubicBezTo>
                  <a:pt x="18" y="2973"/>
                  <a:pt x="14" y="2962"/>
                  <a:pt x="10" y="2951"/>
                </a:cubicBezTo>
                <a:cubicBezTo>
                  <a:pt x="7" y="2939"/>
                  <a:pt x="4" y="2928"/>
                  <a:pt x="2" y="2916"/>
                </a:cubicBezTo>
                <a:cubicBezTo>
                  <a:pt x="1" y="2904"/>
                  <a:pt x="0" y="2892"/>
                  <a:pt x="0" y="2880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Freeform: Shape 33"/>
          <p:cNvSpPr/>
          <p:nvPr/>
        </p:nvSpPr>
        <p:spPr>
          <a:xfrm>
            <a:off x="5481720" y="3242160"/>
            <a:ext cx="67320" cy="1103400"/>
          </a:xfrm>
          <a:custGeom>
            <a:avLst/>
            <a:gdLst/>
            <a:ahLst/>
            <a:cxnLst/>
            <a:rect l="0" t="0" r="r" b="b"/>
            <a:pathLst>
              <a:path w="187" h="3065">
                <a:moveTo>
                  <a:pt x="0" y="0"/>
                </a:moveTo>
                <a:lnTo>
                  <a:pt x="187" y="0"/>
                </a:lnTo>
                <a:lnTo>
                  <a:pt x="187" y="3065"/>
                </a:lnTo>
                <a:lnTo>
                  <a:pt x="0" y="306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" name="Picture 34"/>
          <p:cNvPicPr/>
          <p:nvPr/>
        </p:nvPicPr>
        <p:blipFill>
          <a:blip r:embed="rId12"/>
          <a:stretch/>
        </p:blipFill>
        <p:spPr>
          <a:xfrm>
            <a:off x="5716080" y="345960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1704600" y="3962520"/>
            <a:ext cx="2570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through systematic patch deployment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66640" y="3463200"/>
            <a:ext cx="1953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Infrastructure Check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16080" y="3761640"/>
            <a:ext cx="3148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Eliminating EOL/EOSL devices and maintaining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" name="Picture 38"/>
          <p:cNvPicPr/>
          <p:nvPr/>
        </p:nvPicPr>
        <p:blipFill>
          <a:blip r:embed="rId13"/>
          <a:stretch/>
        </p:blipFill>
        <p:spPr>
          <a:xfrm>
            <a:off x="1069560" y="557388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Box 39"/>
          <p:cNvSpPr txBox="1"/>
          <p:nvPr/>
        </p:nvSpPr>
        <p:spPr>
          <a:xfrm>
            <a:off x="5716080" y="3962520"/>
            <a:ext cx="1939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optimal system performance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Picture 40"/>
          <p:cNvPicPr/>
          <p:nvPr/>
        </p:nvPicPr>
        <p:blipFill>
          <a:blip r:embed="rId14"/>
          <a:stretch/>
        </p:blipFill>
        <p:spPr>
          <a:xfrm>
            <a:off x="9668880" y="557388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1253520" y="5566680"/>
            <a:ext cx="92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July 16, 2025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849240" y="5566680"/>
            <a:ext cx="850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Conﬁdential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/>
          <p:nvPr/>
        </p:nvPicPr>
        <p:blipFill>
          <a:blip r:embed="rId2"/>
          <a:stretch/>
        </p:blipFill>
        <p:spPr>
          <a:xfrm>
            <a:off x="0" y="0"/>
            <a:ext cx="10696320" cy="65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Freeform: Shape 44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4960" y="389520"/>
            <a:ext cx="710928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System Overview: Infrastructure Tracking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4960" y="1272600"/>
            <a:ext cx="95252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The Infrastructure Tracking System is a comprehensive, full-stack platform designed for centralized infrastructure, patch, and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4960" y="1514880"/>
            <a:ext cx="8686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vendor management. It provides a uniﬁed solution to monitor and maintain the health and security of the entire IT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reeform: Shape 48"/>
          <p:cNvSpPr/>
          <p:nvPr/>
        </p:nvSpPr>
        <p:spPr>
          <a:xfrm>
            <a:off x="551520" y="2239560"/>
            <a:ext cx="3058920" cy="1771920"/>
          </a:xfrm>
          <a:custGeom>
            <a:avLst/>
            <a:gdLst/>
            <a:ahLst/>
            <a:cxnLst/>
            <a:rect l="0" t="0" r="r" b="b"/>
            <a:pathLst>
              <a:path w="8497" h="4922">
                <a:moveTo>
                  <a:pt x="0" y="4736"/>
                </a:moveTo>
                <a:lnTo>
                  <a:pt x="0" y="185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5"/>
                  <a:pt x="54" y="38"/>
                  <a:pt x="61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6"/>
                  <a:pt x="8371" y="9"/>
                  <a:pt x="8382" y="14"/>
                </a:cubicBezTo>
                <a:cubicBezTo>
                  <a:pt x="8393" y="18"/>
                  <a:pt x="8404" y="24"/>
                  <a:pt x="8414" y="31"/>
                </a:cubicBezTo>
                <a:cubicBezTo>
                  <a:pt x="8424" y="38"/>
                  <a:pt x="8434" y="45"/>
                  <a:pt x="8442" y="54"/>
                </a:cubicBezTo>
                <a:cubicBezTo>
                  <a:pt x="8451" y="63"/>
                  <a:pt x="8458" y="72"/>
                  <a:pt x="8465" y="82"/>
                </a:cubicBezTo>
                <a:cubicBezTo>
                  <a:pt x="8472" y="92"/>
                  <a:pt x="8478" y="103"/>
                  <a:pt x="8482" y="114"/>
                </a:cubicBezTo>
                <a:cubicBezTo>
                  <a:pt x="8487" y="126"/>
                  <a:pt x="8491" y="137"/>
                  <a:pt x="8493" y="149"/>
                </a:cubicBezTo>
                <a:cubicBezTo>
                  <a:pt x="8495" y="161"/>
                  <a:pt x="8497" y="173"/>
                  <a:pt x="8497" y="185"/>
                </a:cubicBezTo>
                <a:lnTo>
                  <a:pt x="8497" y="4736"/>
                </a:lnTo>
                <a:cubicBezTo>
                  <a:pt x="8497" y="4748"/>
                  <a:pt x="8495" y="4760"/>
                  <a:pt x="8493" y="4772"/>
                </a:cubicBezTo>
                <a:cubicBezTo>
                  <a:pt x="8491" y="4784"/>
                  <a:pt x="8487" y="4796"/>
                  <a:pt x="8482" y="4807"/>
                </a:cubicBezTo>
                <a:cubicBezTo>
                  <a:pt x="8478" y="4818"/>
                  <a:pt x="8472" y="4829"/>
                  <a:pt x="8465" y="4839"/>
                </a:cubicBezTo>
                <a:cubicBezTo>
                  <a:pt x="8458" y="4849"/>
                  <a:pt x="8451" y="4859"/>
                  <a:pt x="8442" y="4867"/>
                </a:cubicBezTo>
                <a:cubicBezTo>
                  <a:pt x="8434" y="4876"/>
                  <a:pt x="8424" y="4884"/>
                  <a:pt x="8414" y="4890"/>
                </a:cubicBezTo>
                <a:cubicBezTo>
                  <a:pt x="8404" y="4897"/>
                  <a:pt x="8393" y="4903"/>
                  <a:pt x="8382" y="4908"/>
                </a:cubicBezTo>
                <a:cubicBezTo>
                  <a:pt x="8371" y="4912"/>
                  <a:pt x="8359" y="4916"/>
                  <a:pt x="8347" y="4918"/>
                </a:cubicBezTo>
                <a:cubicBezTo>
                  <a:pt x="8335" y="4921"/>
                  <a:pt x="8323" y="4922"/>
                  <a:pt x="8311" y="4922"/>
                </a:cubicBezTo>
                <a:lnTo>
                  <a:pt x="139" y="4922"/>
                </a:lnTo>
                <a:cubicBezTo>
                  <a:pt x="130" y="4922"/>
                  <a:pt x="121" y="4921"/>
                  <a:pt x="112" y="4918"/>
                </a:cubicBezTo>
                <a:cubicBezTo>
                  <a:pt x="103" y="4916"/>
                  <a:pt x="94" y="4912"/>
                  <a:pt x="86" y="4908"/>
                </a:cubicBezTo>
                <a:cubicBezTo>
                  <a:pt x="77" y="4903"/>
                  <a:pt x="69" y="4897"/>
                  <a:pt x="61" y="4890"/>
                </a:cubicBezTo>
                <a:cubicBezTo>
                  <a:pt x="54" y="4884"/>
                  <a:pt x="47" y="4876"/>
                  <a:pt x="40" y="4867"/>
                </a:cubicBezTo>
                <a:cubicBezTo>
                  <a:pt x="34" y="4859"/>
                  <a:pt x="28" y="4849"/>
                  <a:pt x="23" y="4839"/>
                </a:cubicBezTo>
                <a:cubicBezTo>
                  <a:pt x="18" y="4829"/>
                  <a:pt x="14" y="4818"/>
                  <a:pt x="10" y="4807"/>
                </a:cubicBezTo>
                <a:cubicBezTo>
                  <a:pt x="7" y="4796"/>
                  <a:pt x="4" y="4784"/>
                  <a:pt x="2" y="4772"/>
                </a:cubicBezTo>
                <a:cubicBezTo>
                  <a:pt x="0" y="4760"/>
                  <a:pt x="0" y="4748"/>
                  <a:pt x="0" y="4736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Freeform: Shape 49"/>
          <p:cNvSpPr/>
          <p:nvPr/>
        </p:nvSpPr>
        <p:spPr>
          <a:xfrm>
            <a:off x="534600" y="2239560"/>
            <a:ext cx="67320" cy="1771920"/>
          </a:xfrm>
          <a:custGeom>
            <a:avLst/>
            <a:gdLst/>
            <a:ahLst/>
            <a:cxnLst/>
            <a:rect l="0" t="0" r="r" b="b"/>
            <a:pathLst>
              <a:path w="187" h="4922">
                <a:moveTo>
                  <a:pt x="0" y="0"/>
                </a:moveTo>
                <a:lnTo>
                  <a:pt x="187" y="0"/>
                </a:lnTo>
                <a:lnTo>
                  <a:pt x="187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" name="Picture 50"/>
          <p:cNvPicPr/>
          <p:nvPr/>
        </p:nvPicPr>
        <p:blipFill>
          <a:blip r:embed="rId3"/>
          <a:stretch/>
        </p:blipFill>
        <p:spPr>
          <a:xfrm>
            <a:off x="768960" y="257400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Box 51"/>
          <p:cNvSpPr txBox="1"/>
          <p:nvPr/>
        </p:nvSpPr>
        <p:spPr>
          <a:xfrm>
            <a:off x="534960" y="1765800"/>
            <a:ext cx="1013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environment.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94760" y="2460600"/>
            <a:ext cx="2013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Application &amp; Vendor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94760" y="2694600"/>
            <a:ext cx="12348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Management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68960" y="3026520"/>
            <a:ext cx="1938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Central portals for managing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68960" y="3227040"/>
            <a:ext cx="2056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applications and vendors, with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8960" y="3427560"/>
            <a:ext cx="2526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capabilities for bulk data uploads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reeform: Shape 57"/>
          <p:cNvSpPr/>
          <p:nvPr/>
        </p:nvSpPr>
        <p:spPr>
          <a:xfrm>
            <a:off x="3827160" y="2239560"/>
            <a:ext cx="3058920" cy="1771920"/>
          </a:xfrm>
          <a:custGeom>
            <a:avLst/>
            <a:gdLst/>
            <a:ahLst/>
            <a:cxnLst/>
            <a:rect l="0" t="0" r="r" b="b"/>
            <a:pathLst>
              <a:path w="8497" h="4922">
                <a:moveTo>
                  <a:pt x="0" y="473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4"/>
                </a:cubicBezTo>
                <a:cubicBezTo>
                  <a:pt x="14" y="103"/>
                  <a:pt x="18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6"/>
                  <a:pt x="8371" y="9"/>
                  <a:pt x="8382" y="14"/>
                </a:cubicBezTo>
                <a:cubicBezTo>
                  <a:pt x="8394" y="18"/>
                  <a:pt x="8404" y="24"/>
                  <a:pt x="8415" y="31"/>
                </a:cubicBezTo>
                <a:cubicBezTo>
                  <a:pt x="8425" y="38"/>
                  <a:pt x="8434" y="45"/>
                  <a:pt x="8443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3" y="92"/>
                  <a:pt x="8478" y="103"/>
                  <a:pt x="8483" y="114"/>
                </a:cubicBezTo>
                <a:cubicBezTo>
                  <a:pt x="8488" y="126"/>
                  <a:pt x="8491" y="137"/>
                  <a:pt x="8493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4736"/>
                </a:lnTo>
                <a:cubicBezTo>
                  <a:pt x="8497" y="4748"/>
                  <a:pt x="8496" y="4760"/>
                  <a:pt x="8493" y="4772"/>
                </a:cubicBezTo>
                <a:cubicBezTo>
                  <a:pt x="8491" y="4784"/>
                  <a:pt x="8488" y="4796"/>
                  <a:pt x="8483" y="4807"/>
                </a:cubicBezTo>
                <a:cubicBezTo>
                  <a:pt x="8478" y="4818"/>
                  <a:pt x="8473" y="4829"/>
                  <a:pt x="8466" y="4839"/>
                </a:cubicBezTo>
                <a:cubicBezTo>
                  <a:pt x="8459" y="4849"/>
                  <a:pt x="8451" y="4859"/>
                  <a:pt x="8443" y="4867"/>
                </a:cubicBezTo>
                <a:cubicBezTo>
                  <a:pt x="8434" y="4876"/>
                  <a:pt x="8425" y="4884"/>
                  <a:pt x="8415" y="4890"/>
                </a:cubicBezTo>
                <a:cubicBezTo>
                  <a:pt x="8404" y="4897"/>
                  <a:pt x="8394" y="4903"/>
                  <a:pt x="8382" y="4908"/>
                </a:cubicBezTo>
                <a:cubicBezTo>
                  <a:pt x="8371" y="4912"/>
                  <a:pt x="8360" y="4916"/>
                  <a:pt x="8348" y="4918"/>
                </a:cubicBezTo>
                <a:cubicBezTo>
                  <a:pt x="8336" y="4921"/>
                  <a:pt x="8324" y="4922"/>
                  <a:pt x="8311" y="4922"/>
                </a:cubicBezTo>
                <a:lnTo>
                  <a:pt x="139" y="4922"/>
                </a:lnTo>
                <a:cubicBezTo>
                  <a:pt x="130" y="4922"/>
                  <a:pt x="121" y="4921"/>
                  <a:pt x="112" y="4918"/>
                </a:cubicBezTo>
                <a:cubicBezTo>
                  <a:pt x="103" y="4916"/>
                  <a:pt x="95" y="4912"/>
                  <a:pt x="86" y="4908"/>
                </a:cubicBezTo>
                <a:cubicBezTo>
                  <a:pt x="78" y="4903"/>
                  <a:pt x="70" y="4897"/>
                  <a:pt x="62" y="4890"/>
                </a:cubicBezTo>
                <a:cubicBezTo>
                  <a:pt x="54" y="4884"/>
                  <a:pt x="47" y="4876"/>
                  <a:pt x="41" y="4867"/>
                </a:cubicBezTo>
                <a:cubicBezTo>
                  <a:pt x="34" y="4859"/>
                  <a:pt x="29" y="4849"/>
                  <a:pt x="24" y="4839"/>
                </a:cubicBezTo>
                <a:cubicBezTo>
                  <a:pt x="18" y="4829"/>
                  <a:pt x="14" y="4818"/>
                  <a:pt x="11" y="4807"/>
                </a:cubicBezTo>
                <a:cubicBezTo>
                  <a:pt x="7" y="4796"/>
                  <a:pt x="5" y="4784"/>
                  <a:pt x="3" y="4772"/>
                </a:cubicBezTo>
                <a:cubicBezTo>
                  <a:pt x="1" y="4760"/>
                  <a:pt x="0" y="4748"/>
                  <a:pt x="0" y="4736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reeform: Shape 58"/>
          <p:cNvSpPr/>
          <p:nvPr/>
        </p:nvSpPr>
        <p:spPr>
          <a:xfrm>
            <a:off x="3810600" y="2239560"/>
            <a:ext cx="66960" cy="1771920"/>
          </a:xfrm>
          <a:custGeom>
            <a:avLst/>
            <a:gdLst/>
            <a:ahLst/>
            <a:cxnLst/>
            <a:rect l="0" t="0" r="r" b="b"/>
            <a:pathLst>
              <a:path w="186" h="4922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1"/>
                  <a:pt x="105" y="91"/>
                  <a:pt x="101" y="114"/>
                </a:cubicBezTo>
                <a:cubicBezTo>
                  <a:pt x="96" y="137"/>
                  <a:pt x="94" y="161"/>
                  <a:pt x="94" y="185"/>
                </a:cubicBezTo>
                <a:lnTo>
                  <a:pt x="94" y="4736"/>
                </a:lnTo>
                <a:cubicBezTo>
                  <a:pt x="94" y="4761"/>
                  <a:pt x="96" y="4784"/>
                  <a:pt x="101" y="4807"/>
                </a:cubicBezTo>
                <a:cubicBezTo>
                  <a:pt x="105" y="4830"/>
                  <a:pt x="112" y="4850"/>
                  <a:pt x="121" y="4867"/>
                </a:cubicBezTo>
                <a:cubicBezTo>
                  <a:pt x="129" y="4885"/>
                  <a:pt x="139" y="4898"/>
                  <a:pt x="151" y="4908"/>
                </a:cubicBezTo>
                <a:cubicBezTo>
                  <a:pt x="162" y="4917"/>
                  <a:pt x="174" y="4922"/>
                  <a:pt x="186" y="4922"/>
                </a:cubicBezTo>
                <a:cubicBezTo>
                  <a:pt x="162" y="4922"/>
                  <a:pt x="138" y="4917"/>
                  <a:pt x="115" y="4908"/>
                </a:cubicBezTo>
                <a:cubicBezTo>
                  <a:pt x="93" y="4898"/>
                  <a:pt x="72" y="4885"/>
                  <a:pt x="55" y="4867"/>
                </a:cubicBezTo>
                <a:cubicBezTo>
                  <a:pt x="37" y="4850"/>
                  <a:pt x="23" y="4830"/>
                  <a:pt x="14" y="4807"/>
                </a:cubicBezTo>
                <a:cubicBezTo>
                  <a:pt x="4" y="4784"/>
                  <a:pt x="0" y="4761"/>
                  <a:pt x="0" y="4736"/>
                </a:cubicBezTo>
                <a:lnTo>
                  <a:pt x="0" y="185"/>
                </a:lnTo>
                <a:cubicBezTo>
                  <a:pt x="0" y="161"/>
                  <a:pt x="4" y="137"/>
                  <a:pt x="14" y="114"/>
                </a:cubicBezTo>
                <a:cubicBezTo>
                  <a:pt x="23" y="91"/>
                  <a:pt x="37" y="71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4"/>
                  <a:pt x="162" y="0"/>
                  <a:pt x="186" y="0"/>
                </a:cubicBezTo>
                <a:cubicBezTo>
                  <a:pt x="174" y="0"/>
                  <a:pt x="162" y="4"/>
                  <a:pt x="151" y="14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4"/>
          <a:stretch/>
        </p:blipFill>
        <p:spPr>
          <a:xfrm>
            <a:off x="4044600" y="24570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Box 60"/>
          <p:cNvSpPr txBox="1"/>
          <p:nvPr/>
        </p:nvSpPr>
        <p:spPr>
          <a:xfrm>
            <a:off x="768960" y="3628080"/>
            <a:ext cx="950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ﬁle validation.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345560" y="2460600"/>
            <a:ext cx="2115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Security Risk Tracking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44600" y="2792520"/>
            <a:ext cx="2653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Proactively tracks critical security data,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044600" y="2993040"/>
            <a:ext cx="2634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including CVEs and EOL/EOSL dates for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7103160" y="2239560"/>
            <a:ext cx="3058920" cy="1771920"/>
          </a:xfrm>
          <a:custGeom>
            <a:avLst/>
            <a:gdLst/>
            <a:ahLst/>
            <a:cxnLst/>
            <a:rect l="0" t="0" r="r" b="b"/>
            <a:pathLst>
              <a:path w="8497" h="4922">
                <a:moveTo>
                  <a:pt x="0" y="4736"/>
                </a:moveTo>
                <a:lnTo>
                  <a:pt x="0" y="185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5"/>
                  <a:pt x="54" y="38"/>
                  <a:pt x="61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6"/>
                  <a:pt x="8371" y="9"/>
                  <a:pt x="8382" y="14"/>
                </a:cubicBezTo>
                <a:cubicBezTo>
                  <a:pt x="8393" y="18"/>
                  <a:pt x="8404" y="24"/>
                  <a:pt x="8414" y="31"/>
                </a:cubicBezTo>
                <a:cubicBezTo>
                  <a:pt x="8424" y="38"/>
                  <a:pt x="8434" y="45"/>
                  <a:pt x="8442" y="54"/>
                </a:cubicBezTo>
                <a:cubicBezTo>
                  <a:pt x="8451" y="63"/>
                  <a:pt x="8458" y="72"/>
                  <a:pt x="8465" y="82"/>
                </a:cubicBezTo>
                <a:cubicBezTo>
                  <a:pt x="8472" y="92"/>
                  <a:pt x="8478" y="103"/>
                  <a:pt x="8482" y="114"/>
                </a:cubicBezTo>
                <a:cubicBezTo>
                  <a:pt x="8487" y="126"/>
                  <a:pt x="8491" y="137"/>
                  <a:pt x="8493" y="149"/>
                </a:cubicBezTo>
                <a:cubicBezTo>
                  <a:pt x="8495" y="161"/>
                  <a:pt x="8497" y="173"/>
                  <a:pt x="8497" y="185"/>
                </a:cubicBezTo>
                <a:lnTo>
                  <a:pt x="8497" y="4736"/>
                </a:lnTo>
                <a:cubicBezTo>
                  <a:pt x="8497" y="4748"/>
                  <a:pt x="8495" y="4760"/>
                  <a:pt x="8493" y="4772"/>
                </a:cubicBezTo>
                <a:cubicBezTo>
                  <a:pt x="8491" y="4784"/>
                  <a:pt x="8487" y="4796"/>
                  <a:pt x="8482" y="4807"/>
                </a:cubicBezTo>
                <a:cubicBezTo>
                  <a:pt x="8478" y="4818"/>
                  <a:pt x="8472" y="4829"/>
                  <a:pt x="8465" y="4839"/>
                </a:cubicBezTo>
                <a:cubicBezTo>
                  <a:pt x="8458" y="4849"/>
                  <a:pt x="8451" y="4859"/>
                  <a:pt x="8442" y="4867"/>
                </a:cubicBezTo>
                <a:cubicBezTo>
                  <a:pt x="8434" y="4876"/>
                  <a:pt x="8424" y="4884"/>
                  <a:pt x="8414" y="4890"/>
                </a:cubicBezTo>
                <a:cubicBezTo>
                  <a:pt x="8404" y="4897"/>
                  <a:pt x="8393" y="4903"/>
                  <a:pt x="8382" y="4908"/>
                </a:cubicBezTo>
                <a:cubicBezTo>
                  <a:pt x="8371" y="4912"/>
                  <a:pt x="8359" y="4916"/>
                  <a:pt x="8347" y="4918"/>
                </a:cubicBezTo>
                <a:cubicBezTo>
                  <a:pt x="8335" y="4921"/>
                  <a:pt x="8323" y="4922"/>
                  <a:pt x="8311" y="4922"/>
                </a:cubicBezTo>
                <a:lnTo>
                  <a:pt x="139" y="4922"/>
                </a:lnTo>
                <a:cubicBezTo>
                  <a:pt x="130" y="4922"/>
                  <a:pt x="121" y="4921"/>
                  <a:pt x="112" y="4918"/>
                </a:cubicBezTo>
                <a:cubicBezTo>
                  <a:pt x="103" y="4916"/>
                  <a:pt x="94" y="4912"/>
                  <a:pt x="86" y="4908"/>
                </a:cubicBezTo>
                <a:cubicBezTo>
                  <a:pt x="77" y="4903"/>
                  <a:pt x="69" y="4897"/>
                  <a:pt x="61" y="4890"/>
                </a:cubicBezTo>
                <a:cubicBezTo>
                  <a:pt x="54" y="4884"/>
                  <a:pt x="47" y="4876"/>
                  <a:pt x="40" y="4867"/>
                </a:cubicBezTo>
                <a:cubicBezTo>
                  <a:pt x="34" y="4859"/>
                  <a:pt x="28" y="4849"/>
                  <a:pt x="23" y="4839"/>
                </a:cubicBezTo>
                <a:cubicBezTo>
                  <a:pt x="18" y="4829"/>
                  <a:pt x="14" y="4818"/>
                  <a:pt x="10" y="4807"/>
                </a:cubicBezTo>
                <a:cubicBezTo>
                  <a:pt x="7" y="4796"/>
                  <a:pt x="4" y="4784"/>
                  <a:pt x="2" y="4772"/>
                </a:cubicBezTo>
                <a:cubicBezTo>
                  <a:pt x="0" y="4760"/>
                  <a:pt x="0" y="4748"/>
                  <a:pt x="0" y="4736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: Shape 65"/>
          <p:cNvSpPr/>
          <p:nvPr/>
        </p:nvSpPr>
        <p:spPr>
          <a:xfrm>
            <a:off x="7086240" y="2239560"/>
            <a:ext cx="67320" cy="1771920"/>
          </a:xfrm>
          <a:custGeom>
            <a:avLst/>
            <a:gdLst/>
            <a:ahLst/>
            <a:cxnLst/>
            <a:rect l="0" t="0" r="r" b="b"/>
            <a:pathLst>
              <a:path w="187" h="4922">
                <a:moveTo>
                  <a:pt x="0" y="0"/>
                </a:moveTo>
                <a:lnTo>
                  <a:pt x="187" y="0"/>
                </a:lnTo>
                <a:lnTo>
                  <a:pt x="187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5"/>
          <a:stretch/>
        </p:blipFill>
        <p:spPr>
          <a:xfrm>
            <a:off x="7320600" y="24570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67"/>
          <p:cNvSpPr txBox="1"/>
          <p:nvPr/>
        </p:nvSpPr>
        <p:spPr>
          <a:xfrm>
            <a:off x="4044600" y="3193560"/>
            <a:ext cx="1599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hardware and software.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21200" y="2460600"/>
            <a:ext cx="20667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Reporting &amp; Analytics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320600" y="2792520"/>
            <a:ext cx="2318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Generates customizable reports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320600" y="2993040"/>
            <a:ext cx="2401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various formats and provides visual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reeform: Shape 71"/>
          <p:cNvSpPr/>
          <p:nvPr/>
        </p:nvSpPr>
        <p:spPr>
          <a:xfrm>
            <a:off x="551520" y="4211640"/>
            <a:ext cx="3058920" cy="1771920"/>
          </a:xfrm>
          <a:custGeom>
            <a:avLst/>
            <a:gdLst/>
            <a:ahLst/>
            <a:cxnLst/>
            <a:rect l="0" t="0" r="r" b="b"/>
            <a:pathLst>
              <a:path w="8497" h="4922">
                <a:moveTo>
                  <a:pt x="0" y="4736"/>
                </a:moveTo>
                <a:lnTo>
                  <a:pt x="0" y="186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6"/>
                  <a:pt x="54" y="38"/>
                  <a:pt x="61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6"/>
                  <a:pt x="8371" y="9"/>
                  <a:pt x="8382" y="14"/>
                </a:cubicBezTo>
                <a:cubicBezTo>
                  <a:pt x="8393" y="19"/>
                  <a:pt x="8404" y="24"/>
                  <a:pt x="8414" y="31"/>
                </a:cubicBezTo>
                <a:cubicBezTo>
                  <a:pt x="8424" y="38"/>
                  <a:pt x="8434" y="46"/>
                  <a:pt x="8442" y="54"/>
                </a:cubicBezTo>
                <a:cubicBezTo>
                  <a:pt x="8451" y="63"/>
                  <a:pt x="8458" y="72"/>
                  <a:pt x="8465" y="82"/>
                </a:cubicBezTo>
                <a:cubicBezTo>
                  <a:pt x="8472" y="93"/>
                  <a:pt x="8478" y="103"/>
                  <a:pt x="8482" y="115"/>
                </a:cubicBezTo>
                <a:cubicBezTo>
                  <a:pt x="8487" y="126"/>
                  <a:pt x="8491" y="137"/>
                  <a:pt x="8493" y="149"/>
                </a:cubicBezTo>
                <a:cubicBezTo>
                  <a:pt x="8495" y="161"/>
                  <a:pt x="8497" y="173"/>
                  <a:pt x="8497" y="186"/>
                </a:cubicBezTo>
                <a:lnTo>
                  <a:pt x="8497" y="4736"/>
                </a:lnTo>
                <a:cubicBezTo>
                  <a:pt x="8497" y="4749"/>
                  <a:pt x="8495" y="4761"/>
                  <a:pt x="8493" y="4773"/>
                </a:cubicBezTo>
                <a:cubicBezTo>
                  <a:pt x="8491" y="4785"/>
                  <a:pt x="8487" y="4796"/>
                  <a:pt x="8482" y="4807"/>
                </a:cubicBezTo>
                <a:cubicBezTo>
                  <a:pt x="8478" y="4819"/>
                  <a:pt x="8472" y="4829"/>
                  <a:pt x="8465" y="4840"/>
                </a:cubicBezTo>
                <a:cubicBezTo>
                  <a:pt x="8458" y="4850"/>
                  <a:pt x="8451" y="4859"/>
                  <a:pt x="8442" y="4868"/>
                </a:cubicBezTo>
                <a:cubicBezTo>
                  <a:pt x="8434" y="4876"/>
                  <a:pt x="8424" y="4884"/>
                  <a:pt x="8414" y="4891"/>
                </a:cubicBezTo>
                <a:cubicBezTo>
                  <a:pt x="8404" y="4898"/>
                  <a:pt x="8393" y="4903"/>
                  <a:pt x="8382" y="4908"/>
                </a:cubicBezTo>
                <a:cubicBezTo>
                  <a:pt x="8371" y="4913"/>
                  <a:pt x="8359" y="4916"/>
                  <a:pt x="8347" y="4918"/>
                </a:cubicBezTo>
                <a:cubicBezTo>
                  <a:pt x="8335" y="4921"/>
                  <a:pt x="8323" y="4922"/>
                  <a:pt x="8311" y="4922"/>
                </a:cubicBezTo>
                <a:lnTo>
                  <a:pt x="139" y="4922"/>
                </a:lnTo>
                <a:cubicBezTo>
                  <a:pt x="130" y="4922"/>
                  <a:pt x="121" y="4921"/>
                  <a:pt x="112" y="4918"/>
                </a:cubicBezTo>
                <a:cubicBezTo>
                  <a:pt x="103" y="4916"/>
                  <a:pt x="94" y="4913"/>
                  <a:pt x="86" y="4908"/>
                </a:cubicBezTo>
                <a:cubicBezTo>
                  <a:pt x="77" y="4903"/>
                  <a:pt x="69" y="4898"/>
                  <a:pt x="61" y="4891"/>
                </a:cubicBezTo>
                <a:cubicBezTo>
                  <a:pt x="54" y="4884"/>
                  <a:pt x="47" y="4876"/>
                  <a:pt x="40" y="4868"/>
                </a:cubicBezTo>
                <a:cubicBezTo>
                  <a:pt x="34" y="4859"/>
                  <a:pt x="28" y="4850"/>
                  <a:pt x="23" y="4840"/>
                </a:cubicBezTo>
                <a:cubicBezTo>
                  <a:pt x="18" y="4829"/>
                  <a:pt x="14" y="4819"/>
                  <a:pt x="10" y="4807"/>
                </a:cubicBezTo>
                <a:cubicBezTo>
                  <a:pt x="7" y="4796"/>
                  <a:pt x="4" y="4785"/>
                  <a:pt x="2" y="4773"/>
                </a:cubicBezTo>
                <a:cubicBezTo>
                  <a:pt x="0" y="4761"/>
                  <a:pt x="0" y="4749"/>
                  <a:pt x="0" y="4736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reeform: Shape 72"/>
          <p:cNvSpPr/>
          <p:nvPr/>
        </p:nvSpPr>
        <p:spPr>
          <a:xfrm>
            <a:off x="534600" y="4211640"/>
            <a:ext cx="67320" cy="1771920"/>
          </a:xfrm>
          <a:custGeom>
            <a:avLst/>
            <a:gdLst/>
            <a:ahLst/>
            <a:cxnLst/>
            <a:rect l="0" t="0" r="r" b="b"/>
            <a:pathLst>
              <a:path w="187" h="4922">
                <a:moveTo>
                  <a:pt x="0" y="0"/>
                </a:moveTo>
                <a:lnTo>
                  <a:pt x="187" y="0"/>
                </a:lnTo>
                <a:lnTo>
                  <a:pt x="187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6"/>
          <a:stretch/>
        </p:blipFill>
        <p:spPr>
          <a:xfrm>
            <a:off x="768960" y="454608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7320600" y="3193560"/>
            <a:ext cx="2557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dashboards for management insights.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19960" y="4432680"/>
            <a:ext cx="13377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User &amp; Access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119960" y="4666680"/>
            <a:ext cx="12348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Management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68960" y="4998600"/>
            <a:ext cx="2640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Implements secure user authentication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68960" y="5199120"/>
            <a:ext cx="2188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and role-based access control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68960" y="5399640"/>
            <a:ext cx="228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ensure users only access relevant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reeform: Shape 80"/>
          <p:cNvSpPr/>
          <p:nvPr/>
        </p:nvSpPr>
        <p:spPr>
          <a:xfrm>
            <a:off x="3827160" y="4211640"/>
            <a:ext cx="3058920" cy="1771920"/>
          </a:xfrm>
          <a:custGeom>
            <a:avLst/>
            <a:gdLst/>
            <a:ahLst/>
            <a:cxnLst/>
            <a:rect l="0" t="0" r="r" b="b"/>
            <a:pathLst>
              <a:path w="8497" h="4922">
                <a:moveTo>
                  <a:pt x="0" y="473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5"/>
                </a:cubicBezTo>
                <a:cubicBezTo>
                  <a:pt x="14" y="103"/>
                  <a:pt x="18" y="93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6"/>
                  <a:pt x="54" y="38"/>
                  <a:pt x="62" y="31"/>
                </a:cubicBezTo>
                <a:cubicBezTo>
                  <a:pt x="70" y="24"/>
                  <a:pt x="78" y="19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6"/>
                  <a:pt x="8371" y="9"/>
                  <a:pt x="8382" y="14"/>
                </a:cubicBezTo>
                <a:cubicBezTo>
                  <a:pt x="8394" y="19"/>
                  <a:pt x="8404" y="24"/>
                  <a:pt x="8415" y="31"/>
                </a:cubicBezTo>
                <a:cubicBezTo>
                  <a:pt x="8425" y="38"/>
                  <a:pt x="8434" y="46"/>
                  <a:pt x="8443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3" y="93"/>
                  <a:pt x="8478" y="103"/>
                  <a:pt x="8483" y="115"/>
                </a:cubicBezTo>
                <a:cubicBezTo>
                  <a:pt x="8488" y="126"/>
                  <a:pt x="8491" y="137"/>
                  <a:pt x="8493" y="149"/>
                </a:cubicBezTo>
                <a:cubicBezTo>
                  <a:pt x="8496" y="161"/>
                  <a:pt x="8497" y="173"/>
                  <a:pt x="8497" y="186"/>
                </a:cubicBezTo>
                <a:lnTo>
                  <a:pt x="8497" y="4736"/>
                </a:lnTo>
                <a:cubicBezTo>
                  <a:pt x="8497" y="4749"/>
                  <a:pt x="8496" y="4761"/>
                  <a:pt x="8493" y="4773"/>
                </a:cubicBezTo>
                <a:cubicBezTo>
                  <a:pt x="8491" y="4785"/>
                  <a:pt x="8488" y="4796"/>
                  <a:pt x="8483" y="4807"/>
                </a:cubicBezTo>
                <a:cubicBezTo>
                  <a:pt x="8478" y="4819"/>
                  <a:pt x="8473" y="4829"/>
                  <a:pt x="8466" y="4840"/>
                </a:cubicBezTo>
                <a:cubicBezTo>
                  <a:pt x="8459" y="4850"/>
                  <a:pt x="8451" y="4859"/>
                  <a:pt x="8443" y="4868"/>
                </a:cubicBezTo>
                <a:cubicBezTo>
                  <a:pt x="8434" y="4876"/>
                  <a:pt x="8425" y="4884"/>
                  <a:pt x="8415" y="4891"/>
                </a:cubicBezTo>
                <a:cubicBezTo>
                  <a:pt x="8404" y="4898"/>
                  <a:pt x="8394" y="4903"/>
                  <a:pt x="8382" y="4908"/>
                </a:cubicBezTo>
                <a:cubicBezTo>
                  <a:pt x="8371" y="4913"/>
                  <a:pt x="8360" y="4916"/>
                  <a:pt x="8348" y="4918"/>
                </a:cubicBezTo>
                <a:cubicBezTo>
                  <a:pt x="8336" y="4921"/>
                  <a:pt x="8324" y="4922"/>
                  <a:pt x="8311" y="4922"/>
                </a:cubicBezTo>
                <a:lnTo>
                  <a:pt x="139" y="4922"/>
                </a:lnTo>
                <a:cubicBezTo>
                  <a:pt x="130" y="4922"/>
                  <a:pt x="121" y="4921"/>
                  <a:pt x="112" y="4918"/>
                </a:cubicBezTo>
                <a:cubicBezTo>
                  <a:pt x="103" y="4916"/>
                  <a:pt x="95" y="4913"/>
                  <a:pt x="86" y="4908"/>
                </a:cubicBezTo>
                <a:cubicBezTo>
                  <a:pt x="78" y="4903"/>
                  <a:pt x="70" y="4898"/>
                  <a:pt x="62" y="4891"/>
                </a:cubicBezTo>
                <a:cubicBezTo>
                  <a:pt x="54" y="4884"/>
                  <a:pt x="47" y="4876"/>
                  <a:pt x="41" y="4868"/>
                </a:cubicBezTo>
                <a:cubicBezTo>
                  <a:pt x="34" y="4859"/>
                  <a:pt x="29" y="4850"/>
                  <a:pt x="24" y="4840"/>
                </a:cubicBezTo>
                <a:cubicBezTo>
                  <a:pt x="18" y="4829"/>
                  <a:pt x="14" y="4819"/>
                  <a:pt x="11" y="4807"/>
                </a:cubicBezTo>
                <a:cubicBezTo>
                  <a:pt x="7" y="4796"/>
                  <a:pt x="5" y="4785"/>
                  <a:pt x="3" y="4773"/>
                </a:cubicBezTo>
                <a:cubicBezTo>
                  <a:pt x="1" y="4761"/>
                  <a:pt x="0" y="4749"/>
                  <a:pt x="0" y="4736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reeform: Shape 81"/>
          <p:cNvSpPr/>
          <p:nvPr/>
        </p:nvSpPr>
        <p:spPr>
          <a:xfrm>
            <a:off x="3810600" y="4211640"/>
            <a:ext cx="66960" cy="1771920"/>
          </a:xfrm>
          <a:custGeom>
            <a:avLst/>
            <a:gdLst/>
            <a:ahLst/>
            <a:cxnLst/>
            <a:rect l="0" t="0" r="r" b="b"/>
            <a:pathLst>
              <a:path w="186" h="4922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2"/>
                  <a:pt x="105" y="92"/>
                  <a:pt x="101" y="115"/>
                </a:cubicBezTo>
                <a:cubicBezTo>
                  <a:pt x="96" y="137"/>
                  <a:pt x="94" y="161"/>
                  <a:pt x="94" y="186"/>
                </a:cubicBezTo>
                <a:lnTo>
                  <a:pt x="94" y="4736"/>
                </a:lnTo>
                <a:cubicBezTo>
                  <a:pt x="94" y="4761"/>
                  <a:pt x="96" y="4785"/>
                  <a:pt x="101" y="4807"/>
                </a:cubicBezTo>
                <a:cubicBezTo>
                  <a:pt x="105" y="4830"/>
                  <a:pt x="112" y="4850"/>
                  <a:pt x="121" y="4868"/>
                </a:cubicBezTo>
                <a:cubicBezTo>
                  <a:pt x="129" y="4885"/>
                  <a:pt x="139" y="4898"/>
                  <a:pt x="151" y="4908"/>
                </a:cubicBezTo>
                <a:cubicBezTo>
                  <a:pt x="162" y="4917"/>
                  <a:pt x="174" y="4922"/>
                  <a:pt x="186" y="4922"/>
                </a:cubicBezTo>
                <a:cubicBezTo>
                  <a:pt x="162" y="4922"/>
                  <a:pt x="138" y="4917"/>
                  <a:pt x="115" y="4908"/>
                </a:cubicBezTo>
                <a:cubicBezTo>
                  <a:pt x="93" y="4898"/>
                  <a:pt x="72" y="4885"/>
                  <a:pt x="55" y="4868"/>
                </a:cubicBezTo>
                <a:cubicBezTo>
                  <a:pt x="37" y="4850"/>
                  <a:pt x="23" y="4830"/>
                  <a:pt x="14" y="4807"/>
                </a:cubicBezTo>
                <a:cubicBezTo>
                  <a:pt x="4" y="4785"/>
                  <a:pt x="0" y="4761"/>
                  <a:pt x="0" y="4736"/>
                </a:cubicBezTo>
                <a:lnTo>
                  <a:pt x="0" y="186"/>
                </a:lnTo>
                <a:cubicBezTo>
                  <a:pt x="0" y="161"/>
                  <a:pt x="4" y="137"/>
                  <a:pt x="14" y="115"/>
                </a:cubicBezTo>
                <a:cubicBezTo>
                  <a:pt x="23" y="92"/>
                  <a:pt x="37" y="72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74" y="0"/>
                  <a:pt x="162" y="5"/>
                  <a:pt x="151" y="14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3" name="Picture 82"/>
          <p:cNvPicPr/>
          <p:nvPr/>
        </p:nvPicPr>
        <p:blipFill>
          <a:blip r:embed="rId7"/>
          <a:stretch/>
        </p:blipFill>
        <p:spPr>
          <a:xfrm>
            <a:off x="4044600" y="454608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83"/>
          <p:cNvSpPr txBox="1"/>
          <p:nvPr/>
        </p:nvSpPr>
        <p:spPr>
          <a:xfrm>
            <a:off x="768960" y="5600160"/>
            <a:ext cx="819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information.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395600" y="4432680"/>
            <a:ext cx="1309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Automation &amp;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395600" y="4666680"/>
            <a:ext cx="1047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Scheduling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044600" y="4998600"/>
            <a:ext cx="2630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Automates data collection from vendor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44600" y="5199120"/>
            <a:ext cx="2597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portals and allows for scheduled patch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044600" y="5399640"/>
            <a:ext cx="2033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management tasks with email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0" name="Picture 89"/>
          <p:cNvPicPr/>
          <p:nvPr/>
        </p:nvPicPr>
        <p:blipFill>
          <a:blip r:embed="rId8"/>
          <a:stretch/>
        </p:blipFill>
        <p:spPr>
          <a:xfrm>
            <a:off x="7120080" y="4211640"/>
            <a:ext cx="3041640" cy="177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Freeform: Shape 90"/>
          <p:cNvSpPr/>
          <p:nvPr/>
        </p:nvSpPr>
        <p:spPr>
          <a:xfrm>
            <a:off x="7086240" y="4211640"/>
            <a:ext cx="33840" cy="1771920"/>
          </a:xfrm>
          <a:custGeom>
            <a:avLst/>
            <a:gdLst/>
            <a:ahLst/>
            <a:cxnLst/>
            <a:rect l="0" t="0" r="r" b="b"/>
            <a:pathLst>
              <a:path w="94" h="4922">
                <a:moveTo>
                  <a:pt x="0" y="0"/>
                </a:moveTo>
                <a:lnTo>
                  <a:pt x="94" y="0"/>
                </a:lnTo>
                <a:lnTo>
                  <a:pt x="94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2" name="Picture 91"/>
          <p:cNvPicPr/>
          <p:nvPr/>
        </p:nvPicPr>
        <p:blipFill>
          <a:blip r:embed="rId9"/>
          <a:stretch/>
        </p:blipFill>
        <p:spPr>
          <a:xfrm>
            <a:off x="7320600" y="4429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92"/>
          <p:cNvSpPr txBox="1"/>
          <p:nvPr/>
        </p:nvSpPr>
        <p:spPr>
          <a:xfrm>
            <a:off x="4044600" y="5600160"/>
            <a:ext cx="867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notiﬁcations.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621200" y="4432680"/>
            <a:ext cx="1549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Uniﬁed Platform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320600" y="4764600"/>
            <a:ext cx="238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Integrates multiple IT management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320600" y="4965120"/>
            <a:ext cx="2160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functions into a single, cohesive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320600" y="5165640"/>
            <a:ext cx="2282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system for improved visibility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" name="Picture 97"/>
          <p:cNvPicPr/>
          <p:nvPr/>
        </p:nvPicPr>
        <p:blipFill>
          <a:blip r:embed="rId10"/>
          <a:stretch/>
        </p:blipFill>
        <p:spPr>
          <a:xfrm>
            <a:off x="534960" y="620892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7320600" y="5366160"/>
            <a:ext cx="511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control.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18560" y="620064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" name="Picture 100"/>
          <p:cNvPicPr/>
          <p:nvPr/>
        </p:nvPicPr>
        <p:blipFill>
          <a:blip r:embed="rId11"/>
          <a:stretch/>
        </p:blipFill>
        <p:spPr>
          <a:xfrm>
            <a:off x="-835560" y="-83556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101"/>
          <p:cNvPicPr/>
          <p:nvPr/>
        </p:nvPicPr>
        <p:blipFill>
          <a:blip r:embed="rId12"/>
          <a:stretch/>
        </p:blipFill>
        <p:spPr>
          <a:xfrm>
            <a:off x="8607240" y="446256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102"/>
          <p:cNvPicPr/>
          <p:nvPr/>
        </p:nvPicPr>
        <p:blipFill>
          <a:blip r:embed="rId13"/>
          <a:stretch/>
        </p:blipFill>
        <p:spPr>
          <a:xfrm>
            <a:off x="417960" y="125352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03"/>
          <p:cNvPicPr/>
          <p:nvPr/>
        </p:nvPicPr>
        <p:blipFill>
          <a:blip r:embed="rId14"/>
          <a:stretch/>
        </p:blipFill>
        <p:spPr>
          <a:xfrm>
            <a:off x="6936120" y="528156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104"/>
          <p:cNvPicPr/>
          <p:nvPr/>
        </p:nvPicPr>
        <p:blipFill>
          <a:blip r:embed="rId15"/>
          <a:stretch/>
        </p:blipFill>
        <p:spPr>
          <a:xfrm>
            <a:off x="0" y="0"/>
            <a:ext cx="10696320" cy="65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105"/>
          <p:cNvSpPr txBox="1"/>
          <p:nvPr/>
        </p:nvSpPr>
        <p:spPr>
          <a:xfrm>
            <a:off x="9898920" y="6200640"/>
            <a:ext cx="26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2/10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6"/>
          <p:cNvPicPr/>
          <p:nvPr/>
        </p:nvPicPr>
        <p:blipFill>
          <a:blip r:embed="rId2"/>
          <a:stretch/>
        </p:blipFill>
        <p:spPr>
          <a:xfrm>
            <a:off x="0" y="0"/>
            <a:ext cx="10696320" cy="618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Freeform: Shape 107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reeform: Shape 108"/>
          <p:cNvSpPr/>
          <p:nvPr/>
        </p:nvSpPr>
        <p:spPr>
          <a:xfrm>
            <a:off x="551520" y="2239560"/>
            <a:ext cx="4596480" cy="702000"/>
          </a:xfrm>
          <a:custGeom>
            <a:avLst/>
            <a:gdLst/>
            <a:ahLst/>
            <a:cxnLst/>
            <a:rect l="0" t="0" r="r" b="b"/>
            <a:pathLst>
              <a:path w="12768" h="1950">
                <a:moveTo>
                  <a:pt x="0" y="1765"/>
                </a:moveTo>
                <a:lnTo>
                  <a:pt x="0" y="185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5"/>
                  <a:pt x="54" y="38"/>
                  <a:pt x="61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2582" y="0"/>
                </a:lnTo>
                <a:cubicBezTo>
                  <a:pt x="12594" y="0"/>
                  <a:pt x="12606" y="1"/>
                  <a:pt x="12618" y="3"/>
                </a:cubicBezTo>
                <a:cubicBezTo>
                  <a:pt x="12630" y="6"/>
                  <a:pt x="12642" y="9"/>
                  <a:pt x="12653" y="14"/>
                </a:cubicBezTo>
                <a:cubicBezTo>
                  <a:pt x="12664" y="18"/>
                  <a:pt x="12675" y="24"/>
                  <a:pt x="12685" y="31"/>
                </a:cubicBezTo>
                <a:cubicBezTo>
                  <a:pt x="12695" y="38"/>
                  <a:pt x="12705" y="45"/>
                  <a:pt x="12713" y="54"/>
                </a:cubicBezTo>
                <a:cubicBezTo>
                  <a:pt x="12722" y="63"/>
                  <a:pt x="12730" y="72"/>
                  <a:pt x="12736" y="82"/>
                </a:cubicBezTo>
                <a:cubicBezTo>
                  <a:pt x="12743" y="92"/>
                  <a:pt x="12749" y="103"/>
                  <a:pt x="12754" y="114"/>
                </a:cubicBezTo>
                <a:cubicBezTo>
                  <a:pt x="12758" y="126"/>
                  <a:pt x="12762" y="137"/>
                  <a:pt x="12764" y="149"/>
                </a:cubicBezTo>
                <a:cubicBezTo>
                  <a:pt x="12767" y="161"/>
                  <a:pt x="12768" y="173"/>
                  <a:pt x="12768" y="185"/>
                </a:cubicBezTo>
                <a:lnTo>
                  <a:pt x="12768" y="1765"/>
                </a:lnTo>
                <a:cubicBezTo>
                  <a:pt x="12768" y="1777"/>
                  <a:pt x="12767" y="1789"/>
                  <a:pt x="12764" y="1801"/>
                </a:cubicBezTo>
                <a:cubicBezTo>
                  <a:pt x="12762" y="1813"/>
                  <a:pt x="12758" y="1825"/>
                  <a:pt x="12754" y="1836"/>
                </a:cubicBezTo>
                <a:cubicBezTo>
                  <a:pt x="12749" y="1847"/>
                  <a:pt x="12743" y="1858"/>
                  <a:pt x="12736" y="1868"/>
                </a:cubicBezTo>
                <a:cubicBezTo>
                  <a:pt x="12730" y="1878"/>
                  <a:pt x="12722" y="1887"/>
                  <a:pt x="12713" y="1896"/>
                </a:cubicBezTo>
                <a:cubicBezTo>
                  <a:pt x="12705" y="1905"/>
                  <a:pt x="12695" y="1912"/>
                  <a:pt x="12685" y="1919"/>
                </a:cubicBezTo>
                <a:cubicBezTo>
                  <a:pt x="12675" y="1926"/>
                  <a:pt x="12664" y="1932"/>
                  <a:pt x="12653" y="1936"/>
                </a:cubicBezTo>
                <a:cubicBezTo>
                  <a:pt x="12642" y="1941"/>
                  <a:pt x="12630" y="1945"/>
                  <a:pt x="12618" y="1947"/>
                </a:cubicBezTo>
                <a:cubicBezTo>
                  <a:pt x="12606" y="1949"/>
                  <a:pt x="12594" y="1950"/>
                  <a:pt x="12582" y="1950"/>
                </a:cubicBezTo>
                <a:lnTo>
                  <a:pt x="139" y="1950"/>
                </a:lnTo>
                <a:cubicBezTo>
                  <a:pt x="130" y="1950"/>
                  <a:pt x="121" y="1949"/>
                  <a:pt x="112" y="1947"/>
                </a:cubicBezTo>
                <a:cubicBezTo>
                  <a:pt x="103" y="1945"/>
                  <a:pt x="94" y="1941"/>
                  <a:pt x="86" y="1936"/>
                </a:cubicBezTo>
                <a:cubicBezTo>
                  <a:pt x="77" y="1932"/>
                  <a:pt x="69" y="1926"/>
                  <a:pt x="61" y="1919"/>
                </a:cubicBezTo>
                <a:cubicBezTo>
                  <a:pt x="54" y="1912"/>
                  <a:pt x="47" y="1905"/>
                  <a:pt x="40" y="1896"/>
                </a:cubicBezTo>
                <a:cubicBezTo>
                  <a:pt x="34" y="1887"/>
                  <a:pt x="28" y="1878"/>
                  <a:pt x="23" y="1868"/>
                </a:cubicBezTo>
                <a:cubicBezTo>
                  <a:pt x="18" y="1858"/>
                  <a:pt x="14" y="1847"/>
                  <a:pt x="10" y="1836"/>
                </a:cubicBezTo>
                <a:cubicBezTo>
                  <a:pt x="7" y="1825"/>
                  <a:pt x="4" y="1813"/>
                  <a:pt x="2" y="1801"/>
                </a:cubicBezTo>
                <a:cubicBezTo>
                  <a:pt x="0" y="1789"/>
                  <a:pt x="0" y="1777"/>
                  <a:pt x="0" y="1765"/>
                </a:cubicBezTo>
                <a:close/>
              </a:path>
            </a:pathLst>
          </a:custGeom>
          <a:solidFill>
            <a:srgbClr val="1E3A8A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reeform: Shape 109"/>
          <p:cNvSpPr/>
          <p:nvPr/>
        </p:nvSpPr>
        <p:spPr>
          <a:xfrm>
            <a:off x="534600" y="2239560"/>
            <a:ext cx="67320" cy="702000"/>
          </a:xfrm>
          <a:custGeom>
            <a:avLst/>
            <a:gdLst/>
            <a:ahLst/>
            <a:cxnLst/>
            <a:rect l="0" t="0" r="r" b="b"/>
            <a:pathLst>
              <a:path w="187" h="1950">
                <a:moveTo>
                  <a:pt x="0" y="0"/>
                </a:moveTo>
                <a:lnTo>
                  <a:pt x="187" y="0"/>
                </a:lnTo>
                <a:lnTo>
                  <a:pt x="187" y="1950"/>
                </a:lnTo>
                <a:lnTo>
                  <a:pt x="0" y="195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reeform: Shape 110"/>
          <p:cNvSpPr/>
          <p:nvPr/>
        </p:nvSpPr>
        <p:spPr>
          <a:xfrm>
            <a:off x="551520" y="3075120"/>
            <a:ext cx="4596480" cy="702360"/>
          </a:xfrm>
          <a:custGeom>
            <a:avLst/>
            <a:gdLst/>
            <a:ahLst/>
            <a:cxnLst/>
            <a:rect l="0" t="0" r="r" b="b"/>
            <a:pathLst>
              <a:path w="12768" h="1951">
                <a:moveTo>
                  <a:pt x="0" y="1765"/>
                </a:moveTo>
                <a:lnTo>
                  <a:pt x="0" y="186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6"/>
                  <a:pt x="10" y="115"/>
                </a:cubicBezTo>
                <a:cubicBezTo>
                  <a:pt x="14" y="103"/>
                  <a:pt x="18" y="93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6"/>
                  <a:pt x="54" y="38"/>
                  <a:pt x="61" y="31"/>
                </a:cubicBezTo>
                <a:cubicBezTo>
                  <a:pt x="69" y="24"/>
                  <a:pt x="77" y="19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12582" y="0"/>
                </a:lnTo>
                <a:cubicBezTo>
                  <a:pt x="12594" y="0"/>
                  <a:pt x="12606" y="1"/>
                  <a:pt x="12618" y="3"/>
                </a:cubicBezTo>
                <a:cubicBezTo>
                  <a:pt x="12630" y="6"/>
                  <a:pt x="12642" y="9"/>
                  <a:pt x="12653" y="14"/>
                </a:cubicBezTo>
                <a:cubicBezTo>
                  <a:pt x="12664" y="19"/>
                  <a:pt x="12675" y="24"/>
                  <a:pt x="12685" y="31"/>
                </a:cubicBezTo>
                <a:cubicBezTo>
                  <a:pt x="12695" y="38"/>
                  <a:pt x="12705" y="46"/>
                  <a:pt x="12713" y="54"/>
                </a:cubicBezTo>
                <a:cubicBezTo>
                  <a:pt x="12722" y="63"/>
                  <a:pt x="12730" y="72"/>
                  <a:pt x="12736" y="82"/>
                </a:cubicBezTo>
                <a:cubicBezTo>
                  <a:pt x="12743" y="93"/>
                  <a:pt x="12749" y="103"/>
                  <a:pt x="12754" y="115"/>
                </a:cubicBezTo>
                <a:cubicBezTo>
                  <a:pt x="12758" y="126"/>
                  <a:pt x="12762" y="137"/>
                  <a:pt x="12764" y="149"/>
                </a:cubicBezTo>
                <a:cubicBezTo>
                  <a:pt x="12767" y="161"/>
                  <a:pt x="12768" y="173"/>
                  <a:pt x="12768" y="186"/>
                </a:cubicBezTo>
                <a:lnTo>
                  <a:pt x="12768" y="1765"/>
                </a:lnTo>
                <a:cubicBezTo>
                  <a:pt x="12768" y="1777"/>
                  <a:pt x="12767" y="1789"/>
                  <a:pt x="12764" y="1801"/>
                </a:cubicBezTo>
                <a:cubicBezTo>
                  <a:pt x="12762" y="1813"/>
                  <a:pt x="12758" y="1825"/>
                  <a:pt x="12754" y="1836"/>
                </a:cubicBezTo>
                <a:cubicBezTo>
                  <a:pt x="12749" y="1847"/>
                  <a:pt x="12743" y="1858"/>
                  <a:pt x="12736" y="1868"/>
                </a:cubicBezTo>
                <a:cubicBezTo>
                  <a:pt x="12730" y="1878"/>
                  <a:pt x="12722" y="1888"/>
                  <a:pt x="12713" y="1896"/>
                </a:cubicBezTo>
                <a:cubicBezTo>
                  <a:pt x="12705" y="1905"/>
                  <a:pt x="12695" y="1913"/>
                  <a:pt x="12685" y="1920"/>
                </a:cubicBezTo>
                <a:cubicBezTo>
                  <a:pt x="12675" y="1926"/>
                  <a:pt x="12664" y="1932"/>
                  <a:pt x="12653" y="1937"/>
                </a:cubicBezTo>
                <a:cubicBezTo>
                  <a:pt x="12642" y="1941"/>
                  <a:pt x="12630" y="1945"/>
                  <a:pt x="12618" y="1947"/>
                </a:cubicBezTo>
                <a:cubicBezTo>
                  <a:pt x="12606" y="1950"/>
                  <a:pt x="12594" y="1951"/>
                  <a:pt x="12582" y="1951"/>
                </a:cubicBezTo>
                <a:lnTo>
                  <a:pt x="139" y="1951"/>
                </a:lnTo>
                <a:cubicBezTo>
                  <a:pt x="130" y="1951"/>
                  <a:pt x="121" y="1950"/>
                  <a:pt x="112" y="1947"/>
                </a:cubicBezTo>
                <a:cubicBezTo>
                  <a:pt x="103" y="1945"/>
                  <a:pt x="94" y="1941"/>
                  <a:pt x="86" y="1937"/>
                </a:cubicBezTo>
                <a:cubicBezTo>
                  <a:pt x="77" y="1932"/>
                  <a:pt x="69" y="1926"/>
                  <a:pt x="61" y="1920"/>
                </a:cubicBezTo>
                <a:cubicBezTo>
                  <a:pt x="54" y="1913"/>
                  <a:pt x="47" y="1905"/>
                  <a:pt x="40" y="1896"/>
                </a:cubicBezTo>
                <a:cubicBezTo>
                  <a:pt x="34" y="1888"/>
                  <a:pt x="28" y="1878"/>
                  <a:pt x="23" y="1868"/>
                </a:cubicBezTo>
                <a:cubicBezTo>
                  <a:pt x="18" y="1858"/>
                  <a:pt x="14" y="1847"/>
                  <a:pt x="10" y="1836"/>
                </a:cubicBezTo>
                <a:cubicBezTo>
                  <a:pt x="7" y="1825"/>
                  <a:pt x="4" y="1813"/>
                  <a:pt x="2" y="1801"/>
                </a:cubicBezTo>
                <a:cubicBezTo>
                  <a:pt x="0" y="1789"/>
                  <a:pt x="0" y="1777"/>
                  <a:pt x="0" y="1765"/>
                </a:cubicBezTo>
                <a:close/>
              </a:path>
            </a:pathLst>
          </a:custGeom>
          <a:solidFill>
            <a:srgbClr val="1E3A8A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reeform: Shape 111"/>
          <p:cNvSpPr/>
          <p:nvPr/>
        </p:nvSpPr>
        <p:spPr>
          <a:xfrm>
            <a:off x="534600" y="3075120"/>
            <a:ext cx="67320" cy="702360"/>
          </a:xfrm>
          <a:custGeom>
            <a:avLst/>
            <a:gdLst/>
            <a:ahLst/>
            <a:cxnLst/>
            <a:rect l="0" t="0" r="r" b="b"/>
            <a:pathLst>
              <a:path w="187" h="1951">
                <a:moveTo>
                  <a:pt x="0" y="0"/>
                </a:moveTo>
                <a:lnTo>
                  <a:pt x="187" y="0"/>
                </a:lnTo>
                <a:lnTo>
                  <a:pt x="187" y="1951"/>
                </a:lnTo>
                <a:lnTo>
                  <a:pt x="0" y="195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reeform: Shape 112"/>
          <p:cNvSpPr/>
          <p:nvPr/>
        </p:nvSpPr>
        <p:spPr>
          <a:xfrm>
            <a:off x="551520" y="3910680"/>
            <a:ext cx="4596480" cy="702360"/>
          </a:xfrm>
          <a:custGeom>
            <a:avLst/>
            <a:gdLst/>
            <a:ahLst/>
            <a:cxnLst/>
            <a:rect l="0" t="0" r="r" b="b"/>
            <a:pathLst>
              <a:path w="12768" h="1951">
                <a:moveTo>
                  <a:pt x="0" y="1764"/>
                </a:moveTo>
                <a:lnTo>
                  <a:pt x="0" y="186"/>
                </a:lnTo>
                <a:cubicBezTo>
                  <a:pt x="0" y="174"/>
                  <a:pt x="0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0" y="55"/>
                </a:cubicBezTo>
                <a:cubicBezTo>
                  <a:pt x="47" y="46"/>
                  <a:pt x="54" y="38"/>
                  <a:pt x="61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2582" y="0"/>
                </a:lnTo>
                <a:cubicBezTo>
                  <a:pt x="12594" y="0"/>
                  <a:pt x="12606" y="1"/>
                  <a:pt x="12618" y="4"/>
                </a:cubicBezTo>
                <a:cubicBezTo>
                  <a:pt x="12630" y="6"/>
                  <a:pt x="12642" y="10"/>
                  <a:pt x="12653" y="14"/>
                </a:cubicBezTo>
                <a:cubicBezTo>
                  <a:pt x="12664" y="19"/>
                  <a:pt x="12675" y="25"/>
                  <a:pt x="12685" y="32"/>
                </a:cubicBezTo>
                <a:cubicBezTo>
                  <a:pt x="12695" y="38"/>
                  <a:pt x="12705" y="46"/>
                  <a:pt x="12713" y="55"/>
                </a:cubicBezTo>
                <a:cubicBezTo>
                  <a:pt x="12722" y="63"/>
                  <a:pt x="12730" y="73"/>
                  <a:pt x="12736" y="83"/>
                </a:cubicBezTo>
                <a:cubicBezTo>
                  <a:pt x="12743" y="93"/>
                  <a:pt x="12749" y="104"/>
                  <a:pt x="12754" y="115"/>
                </a:cubicBezTo>
                <a:cubicBezTo>
                  <a:pt x="12758" y="126"/>
                  <a:pt x="12762" y="138"/>
                  <a:pt x="12764" y="150"/>
                </a:cubicBezTo>
                <a:cubicBezTo>
                  <a:pt x="12767" y="162"/>
                  <a:pt x="12768" y="174"/>
                  <a:pt x="12768" y="186"/>
                </a:cubicBezTo>
                <a:lnTo>
                  <a:pt x="12768" y="1764"/>
                </a:lnTo>
                <a:cubicBezTo>
                  <a:pt x="12768" y="1777"/>
                  <a:pt x="12767" y="1789"/>
                  <a:pt x="12764" y="1801"/>
                </a:cubicBezTo>
                <a:cubicBezTo>
                  <a:pt x="12762" y="1814"/>
                  <a:pt x="12758" y="1825"/>
                  <a:pt x="12754" y="1836"/>
                </a:cubicBezTo>
                <a:cubicBezTo>
                  <a:pt x="12749" y="1848"/>
                  <a:pt x="12743" y="1858"/>
                  <a:pt x="12736" y="1869"/>
                </a:cubicBezTo>
                <a:cubicBezTo>
                  <a:pt x="12730" y="1879"/>
                  <a:pt x="12722" y="1888"/>
                  <a:pt x="12713" y="1897"/>
                </a:cubicBezTo>
                <a:cubicBezTo>
                  <a:pt x="12705" y="1905"/>
                  <a:pt x="12695" y="1913"/>
                  <a:pt x="12685" y="1920"/>
                </a:cubicBezTo>
                <a:cubicBezTo>
                  <a:pt x="12675" y="1927"/>
                  <a:pt x="12664" y="1932"/>
                  <a:pt x="12653" y="1937"/>
                </a:cubicBezTo>
                <a:cubicBezTo>
                  <a:pt x="12642" y="1942"/>
                  <a:pt x="12630" y="1945"/>
                  <a:pt x="12618" y="1948"/>
                </a:cubicBezTo>
                <a:cubicBezTo>
                  <a:pt x="12606" y="1950"/>
                  <a:pt x="12594" y="1951"/>
                  <a:pt x="12582" y="1951"/>
                </a:cubicBezTo>
                <a:lnTo>
                  <a:pt x="139" y="1951"/>
                </a:lnTo>
                <a:cubicBezTo>
                  <a:pt x="130" y="1951"/>
                  <a:pt x="121" y="1950"/>
                  <a:pt x="112" y="1948"/>
                </a:cubicBezTo>
                <a:cubicBezTo>
                  <a:pt x="103" y="1945"/>
                  <a:pt x="94" y="1942"/>
                  <a:pt x="86" y="1937"/>
                </a:cubicBezTo>
                <a:cubicBezTo>
                  <a:pt x="77" y="1932"/>
                  <a:pt x="69" y="1927"/>
                  <a:pt x="61" y="1920"/>
                </a:cubicBezTo>
                <a:cubicBezTo>
                  <a:pt x="54" y="1913"/>
                  <a:pt x="47" y="1905"/>
                  <a:pt x="40" y="1897"/>
                </a:cubicBezTo>
                <a:cubicBezTo>
                  <a:pt x="34" y="1888"/>
                  <a:pt x="28" y="1879"/>
                  <a:pt x="23" y="1869"/>
                </a:cubicBezTo>
                <a:cubicBezTo>
                  <a:pt x="18" y="1858"/>
                  <a:pt x="14" y="1848"/>
                  <a:pt x="10" y="1836"/>
                </a:cubicBezTo>
                <a:cubicBezTo>
                  <a:pt x="7" y="1825"/>
                  <a:pt x="4" y="1814"/>
                  <a:pt x="2" y="1801"/>
                </a:cubicBezTo>
                <a:cubicBezTo>
                  <a:pt x="0" y="1789"/>
                  <a:pt x="0" y="1777"/>
                  <a:pt x="0" y="1764"/>
                </a:cubicBezTo>
                <a:close/>
              </a:path>
            </a:pathLst>
          </a:custGeom>
          <a:solidFill>
            <a:srgbClr val="1E3A8A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reeform: Shape 113"/>
          <p:cNvSpPr/>
          <p:nvPr/>
        </p:nvSpPr>
        <p:spPr>
          <a:xfrm>
            <a:off x="534600" y="3910680"/>
            <a:ext cx="67320" cy="702360"/>
          </a:xfrm>
          <a:custGeom>
            <a:avLst/>
            <a:gdLst/>
            <a:ahLst/>
            <a:cxnLst/>
            <a:rect l="0" t="0" r="r" b="b"/>
            <a:pathLst>
              <a:path w="187" h="1951">
                <a:moveTo>
                  <a:pt x="0" y="0"/>
                </a:moveTo>
                <a:lnTo>
                  <a:pt x="187" y="0"/>
                </a:lnTo>
                <a:lnTo>
                  <a:pt x="187" y="1951"/>
                </a:lnTo>
                <a:lnTo>
                  <a:pt x="0" y="195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5" name="Picture 114"/>
          <p:cNvPicPr/>
          <p:nvPr/>
        </p:nvPicPr>
        <p:blipFill>
          <a:blip r:embed="rId3"/>
          <a:stretch/>
        </p:blipFill>
        <p:spPr>
          <a:xfrm>
            <a:off x="534960" y="126180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115"/>
          <p:cNvSpPr txBox="1"/>
          <p:nvPr/>
        </p:nvSpPr>
        <p:spPr>
          <a:xfrm>
            <a:off x="534960" y="389520"/>
            <a:ext cx="66816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System Architecture &amp; User Experience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802080" y="1251360"/>
            <a:ext cx="2345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46EDD5"/>
                </a:solidFill>
                <a:effectLst/>
                <a:uFillTx/>
                <a:latin typeface="DejaVuSans"/>
                <a:ea typeface="DejaVuSans"/>
              </a:rPr>
              <a:t>Modern Architecture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34960" y="1656000"/>
            <a:ext cx="4290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Built on a modular, scalable architecture that's cloud-ready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9" name="Picture 118"/>
          <p:cNvPicPr/>
          <p:nvPr/>
        </p:nvPicPr>
        <p:blipFill>
          <a:blip r:embed="rId4"/>
          <a:stretch/>
        </p:blipFill>
        <p:spPr>
          <a:xfrm>
            <a:off x="702000" y="242352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119"/>
          <p:cNvSpPr txBox="1"/>
          <p:nvPr/>
        </p:nvSpPr>
        <p:spPr>
          <a:xfrm>
            <a:off x="534960" y="1856520"/>
            <a:ext cx="1953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adaptable to evolving needs.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952560" y="2393640"/>
            <a:ext cx="865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Frontend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2" name="Picture 121"/>
          <p:cNvPicPr/>
          <p:nvPr/>
        </p:nvPicPr>
        <p:blipFill>
          <a:blip r:embed="rId5"/>
          <a:stretch/>
        </p:blipFill>
        <p:spPr>
          <a:xfrm>
            <a:off x="702000" y="32590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969480" y="2657520"/>
            <a:ext cx="2900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React, TypeScript, Tailwind CSS for responsive UI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936000" y="3229200"/>
            <a:ext cx="805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Backend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5" name="Picture 124"/>
          <p:cNvPicPr/>
          <p:nvPr/>
        </p:nvPicPr>
        <p:blipFill>
          <a:blip r:embed="rId6"/>
          <a:stretch/>
        </p:blipFill>
        <p:spPr>
          <a:xfrm>
            <a:off x="702000" y="409464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Box 125"/>
          <p:cNvSpPr txBox="1"/>
          <p:nvPr/>
        </p:nvSpPr>
        <p:spPr>
          <a:xfrm>
            <a:off x="969480" y="3493080"/>
            <a:ext cx="3112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Node.js, Express framework with MongoDB database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902520" y="4065120"/>
            <a:ext cx="1163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Integrations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Picture 127"/>
          <p:cNvPicPr/>
          <p:nvPr/>
        </p:nvPicPr>
        <p:blipFill>
          <a:blip r:embed="rId7"/>
          <a:stretch/>
        </p:blipFill>
        <p:spPr>
          <a:xfrm>
            <a:off x="5548680" y="126180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969480" y="4329000"/>
            <a:ext cx="2703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Vendor APIs and security advisories (Red Hat)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5866560" y="1251360"/>
            <a:ext cx="2869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46EDD5"/>
                </a:solidFill>
                <a:effectLst/>
                <a:uFillTx/>
                <a:latin typeface="DejaVuSans"/>
                <a:ea typeface="DejaVuSans"/>
              </a:rPr>
              <a:t>Intuitive User Experience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548680" y="1656000"/>
            <a:ext cx="4485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Designed to be intuitive for all stakeholders with clean, responsive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reeform: Shape 131"/>
          <p:cNvSpPr/>
          <p:nvPr/>
        </p:nvSpPr>
        <p:spPr>
          <a:xfrm>
            <a:off x="5548680" y="2272680"/>
            <a:ext cx="234360" cy="334800"/>
          </a:xfrm>
          <a:custGeom>
            <a:avLst/>
            <a:gdLst/>
            <a:ahLst/>
            <a:cxnLst/>
            <a:rect l="0" t="0" r="r" b="b"/>
            <a:pathLst>
              <a:path w="651" h="930">
                <a:moveTo>
                  <a:pt x="0" y="604"/>
                </a:moveTo>
                <a:lnTo>
                  <a:pt x="0" y="325"/>
                </a:lnTo>
                <a:cubicBezTo>
                  <a:pt x="0" y="304"/>
                  <a:pt x="2" y="283"/>
                  <a:pt x="6" y="262"/>
                </a:cubicBezTo>
                <a:cubicBezTo>
                  <a:pt x="10" y="241"/>
                  <a:pt x="17" y="221"/>
                  <a:pt x="25" y="201"/>
                </a:cubicBezTo>
                <a:cubicBezTo>
                  <a:pt x="33" y="181"/>
                  <a:pt x="43" y="163"/>
                  <a:pt x="55" y="145"/>
                </a:cubicBezTo>
                <a:cubicBezTo>
                  <a:pt x="67" y="127"/>
                  <a:pt x="80" y="111"/>
                  <a:pt x="95" y="96"/>
                </a:cubicBezTo>
                <a:cubicBezTo>
                  <a:pt x="110" y="81"/>
                  <a:pt x="127" y="67"/>
                  <a:pt x="144" y="55"/>
                </a:cubicBezTo>
                <a:cubicBezTo>
                  <a:pt x="162" y="43"/>
                  <a:pt x="181" y="33"/>
                  <a:pt x="201" y="25"/>
                </a:cubicBezTo>
                <a:cubicBezTo>
                  <a:pt x="220" y="17"/>
                  <a:pt x="241" y="11"/>
                  <a:pt x="262" y="7"/>
                </a:cubicBezTo>
                <a:cubicBezTo>
                  <a:pt x="282" y="3"/>
                  <a:pt x="304" y="0"/>
                  <a:pt x="325" y="0"/>
                </a:cubicBezTo>
                <a:cubicBezTo>
                  <a:pt x="346" y="0"/>
                  <a:pt x="367" y="3"/>
                  <a:pt x="388" y="7"/>
                </a:cubicBezTo>
                <a:cubicBezTo>
                  <a:pt x="409" y="11"/>
                  <a:pt x="430" y="17"/>
                  <a:pt x="449" y="25"/>
                </a:cubicBezTo>
                <a:cubicBezTo>
                  <a:pt x="469" y="33"/>
                  <a:pt x="489" y="43"/>
                  <a:pt x="506" y="55"/>
                </a:cubicBezTo>
                <a:cubicBezTo>
                  <a:pt x="524" y="67"/>
                  <a:pt x="541" y="81"/>
                  <a:pt x="556" y="96"/>
                </a:cubicBezTo>
                <a:cubicBezTo>
                  <a:pt x="571" y="111"/>
                  <a:pt x="584" y="127"/>
                  <a:pt x="596" y="145"/>
                </a:cubicBezTo>
                <a:cubicBezTo>
                  <a:pt x="608" y="163"/>
                  <a:pt x="618" y="181"/>
                  <a:pt x="626" y="201"/>
                </a:cubicBezTo>
                <a:cubicBezTo>
                  <a:pt x="634" y="221"/>
                  <a:pt x="641" y="241"/>
                  <a:pt x="645" y="262"/>
                </a:cubicBezTo>
                <a:cubicBezTo>
                  <a:pt x="649" y="283"/>
                  <a:pt x="651" y="304"/>
                  <a:pt x="651" y="325"/>
                </a:cubicBezTo>
                <a:lnTo>
                  <a:pt x="651" y="604"/>
                </a:lnTo>
                <a:cubicBezTo>
                  <a:pt x="651" y="625"/>
                  <a:pt x="649" y="646"/>
                  <a:pt x="645" y="668"/>
                </a:cubicBezTo>
                <a:cubicBezTo>
                  <a:pt x="641" y="689"/>
                  <a:pt x="634" y="710"/>
                  <a:pt x="626" y="729"/>
                </a:cubicBezTo>
                <a:cubicBezTo>
                  <a:pt x="618" y="749"/>
                  <a:pt x="608" y="768"/>
                  <a:pt x="596" y="786"/>
                </a:cubicBezTo>
                <a:cubicBezTo>
                  <a:pt x="584" y="803"/>
                  <a:pt x="571" y="820"/>
                  <a:pt x="556" y="835"/>
                </a:cubicBezTo>
                <a:cubicBezTo>
                  <a:pt x="541" y="850"/>
                  <a:pt x="524" y="863"/>
                  <a:pt x="506" y="875"/>
                </a:cubicBezTo>
                <a:cubicBezTo>
                  <a:pt x="489" y="887"/>
                  <a:pt x="469" y="897"/>
                  <a:pt x="449" y="905"/>
                </a:cubicBezTo>
                <a:cubicBezTo>
                  <a:pt x="430" y="913"/>
                  <a:pt x="409" y="920"/>
                  <a:pt x="388" y="924"/>
                </a:cubicBezTo>
                <a:cubicBezTo>
                  <a:pt x="367" y="928"/>
                  <a:pt x="346" y="930"/>
                  <a:pt x="325" y="930"/>
                </a:cubicBezTo>
                <a:cubicBezTo>
                  <a:pt x="304" y="930"/>
                  <a:pt x="282" y="928"/>
                  <a:pt x="262" y="924"/>
                </a:cubicBezTo>
                <a:cubicBezTo>
                  <a:pt x="241" y="920"/>
                  <a:pt x="220" y="913"/>
                  <a:pt x="201" y="905"/>
                </a:cubicBezTo>
                <a:cubicBezTo>
                  <a:pt x="181" y="897"/>
                  <a:pt x="162" y="887"/>
                  <a:pt x="144" y="875"/>
                </a:cubicBezTo>
                <a:cubicBezTo>
                  <a:pt x="127" y="863"/>
                  <a:pt x="110" y="850"/>
                  <a:pt x="95" y="835"/>
                </a:cubicBezTo>
                <a:cubicBezTo>
                  <a:pt x="80" y="820"/>
                  <a:pt x="67" y="803"/>
                  <a:pt x="55" y="786"/>
                </a:cubicBezTo>
                <a:cubicBezTo>
                  <a:pt x="43" y="768"/>
                  <a:pt x="33" y="749"/>
                  <a:pt x="25" y="729"/>
                </a:cubicBezTo>
                <a:cubicBezTo>
                  <a:pt x="17" y="710"/>
                  <a:pt x="10" y="689"/>
                  <a:pt x="6" y="668"/>
                </a:cubicBezTo>
                <a:cubicBezTo>
                  <a:pt x="2" y="646"/>
                  <a:pt x="0" y="625"/>
                  <a:pt x="0" y="604"/>
                </a:cubicBezTo>
                <a:close/>
              </a:path>
            </a:pathLst>
          </a:custGeom>
          <a:solidFill>
            <a:srgbClr val="1E40AF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" name="Picture 132"/>
          <p:cNvPicPr/>
          <p:nvPr/>
        </p:nvPicPr>
        <p:blipFill>
          <a:blip r:embed="rId8"/>
          <a:stretch/>
        </p:blipFill>
        <p:spPr>
          <a:xfrm>
            <a:off x="5615640" y="236484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133"/>
          <p:cNvSpPr txBox="1"/>
          <p:nvPr/>
        </p:nvSpPr>
        <p:spPr>
          <a:xfrm>
            <a:off x="5548680" y="1856520"/>
            <a:ext cx="71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interfaces.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5916600" y="2257560"/>
            <a:ext cx="1027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Mobile-Friendly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reeform: Shape 135"/>
          <p:cNvSpPr/>
          <p:nvPr/>
        </p:nvSpPr>
        <p:spPr>
          <a:xfrm>
            <a:off x="5548680" y="2740680"/>
            <a:ext cx="267840" cy="334800"/>
          </a:xfrm>
          <a:custGeom>
            <a:avLst/>
            <a:gdLst/>
            <a:ahLst/>
            <a:cxnLst/>
            <a:rect l="0" t="0" r="r" b="b"/>
            <a:pathLst>
              <a:path w="744" h="930">
                <a:moveTo>
                  <a:pt x="0" y="558"/>
                </a:moveTo>
                <a:lnTo>
                  <a:pt x="0" y="373"/>
                </a:lnTo>
                <a:cubicBezTo>
                  <a:pt x="0" y="348"/>
                  <a:pt x="2" y="324"/>
                  <a:pt x="7" y="300"/>
                </a:cubicBezTo>
                <a:cubicBezTo>
                  <a:pt x="12" y="276"/>
                  <a:pt x="19" y="252"/>
                  <a:pt x="28" y="230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5"/>
                  <a:pt x="92" y="126"/>
                  <a:pt x="109" y="109"/>
                </a:cubicBezTo>
                <a:cubicBezTo>
                  <a:pt x="126" y="92"/>
                  <a:pt x="145" y="77"/>
                  <a:pt x="165" y="63"/>
                </a:cubicBezTo>
                <a:cubicBezTo>
                  <a:pt x="185" y="49"/>
                  <a:pt x="207" y="38"/>
                  <a:pt x="229" y="29"/>
                </a:cubicBezTo>
                <a:cubicBezTo>
                  <a:pt x="252" y="19"/>
                  <a:pt x="275" y="12"/>
                  <a:pt x="299" y="8"/>
                </a:cubicBezTo>
                <a:cubicBezTo>
                  <a:pt x="323" y="3"/>
                  <a:pt x="347" y="0"/>
                  <a:pt x="371" y="0"/>
                </a:cubicBezTo>
                <a:cubicBezTo>
                  <a:pt x="396" y="0"/>
                  <a:pt x="420" y="3"/>
                  <a:pt x="444" y="8"/>
                </a:cubicBezTo>
                <a:cubicBezTo>
                  <a:pt x="468" y="12"/>
                  <a:pt x="491" y="19"/>
                  <a:pt x="514" y="29"/>
                </a:cubicBezTo>
                <a:cubicBezTo>
                  <a:pt x="536" y="38"/>
                  <a:pt x="558" y="49"/>
                  <a:pt x="579" y="63"/>
                </a:cubicBezTo>
                <a:cubicBezTo>
                  <a:pt x="599" y="77"/>
                  <a:pt x="618" y="92"/>
                  <a:pt x="635" y="109"/>
                </a:cubicBezTo>
                <a:cubicBezTo>
                  <a:pt x="652" y="126"/>
                  <a:pt x="668" y="145"/>
                  <a:pt x="681" y="165"/>
                </a:cubicBezTo>
                <a:cubicBezTo>
                  <a:pt x="695" y="186"/>
                  <a:pt x="706" y="207"/>
                  <a:pt x="716" y="230"/>
                </a:cubicBezTo>
                <a:cubicBezTo>
                  <a:pt x="725" y="252"/>
                  <a:pt x="732" y="276"/>
                  <a:pt x="737" y="300"/>
                </a:cubicBezTo>
                <a:cubicBezTo>
                  <a:pt x="741" y="324"/>
                  <a:pt x="744" y="348"/>
                  <a:pt x="744" y="373"/>
                </a:cubicBezTo>
                <a:lnTo>
                  <a:pt x="744" y="558"/>
                </a:lnTo>
                <a:cubicBezTo>
                  <a:pt x="744" y="583"/>
                  <a:pt x="741" y="607"/>
                  <a:pt x="737" y="631"/>
                </a:cubicBezTo>
                <a:cubicBezTo>
                  <a:pt x="732" y="655"/>
                  <a:pt x="725" y="678"/>
                  <a:pt x="716" y="701"/>
                </a:cubicBezTo>
                <a:cubicBezTo>
                  <a:pt x="706" y="723"/>
                  <a:pt x="695" y="745"/>
                  <a:pt x="681" y="765"/>
                </a:cubicBezTo>
                <a:cubicBezTo>
                  <a:pt x="668" y="785"/>
                  <a:pt x="652" y="804"/>
                  <a:pt x="635" y="821"/>
                </a:cubicBezTo>
                <a:cubicBezTo>
                  <a:pt x="618" y="838"/>
                  <a:pt x="599" y="854"/>
                  <a:pt x="579" y="867"/>
                </a:cubicBezTo>
                <a:cubicBezTo>
                  <a:pt x="558" y="881"/>
                  <a:pt x="536" y="892"/>
                  <a:pt x="514" y="902"/>
                </a:cubicBezTo>
                <a:cubicBezTo>
                  <a:pt x="491" y="911"/>
                  <a:pt x="468" y="918"/>
                  <a:pt x="444" y="923"/>
                </a:cubicBezTo>
                <a:cubicBezTo>
                  <a:pt x="420" y="928"/>
                  <a:pt x="396" y="930"/>
                  <a:pt x="371" y="930"/>
                </a:cubicBezTo>
                <a:cubicBezTo>
                  <a:pt x="347" y="930"/>
                  <a:pt x="323" y="928"/>
                  <a:pt x="299" y="923"/>
                </a:cubicBezTo>
                <a:cubicBezTo>
                  <a:pt x="275" y="918"/>
                  <a:pt x="252" y="911"/>
                  <a:pt x="229" y="902"/>
                </a:cubicBezTo>
                <a:cubicBezTo>
                  <a:pt x="207" y="892"/>
                  <a:pt x="185" y="881"/>
                  <a:pt x="165" y="867"/>
                </a:cubicBezTo>
                <a:cubicBezTo>
                  <a:pt x="145" y="854"/>
                  <a:pt x="126" y="838"/>
                  <a:pt x="109" y="821"/>
                </a:cubicBezTo>
                <a:cubicBezTo>
                  <a:pt x="92" y="804"/>
                  <a:pt x="76" y="785"/>
                  <a:pt x="63" y="765"/>
                </a:cubicBezTo>
                <a:cubicBezTo>
                  <a:pt x="49" y="745"/>
                  <a:pt x="38" y="723"/>
                  <a:pt x="28" y="701"/>
                </a:cubicBezTo>
                <a:cubicBezTo>
                  <a:pt x="19" y="678"/>
                  <a:pt x="12" y="655"/>
                  <a:pt x="7" y="631"/>
                </a:cubicBezTo>
                <a:cubicBezTo>
                  <a:pt x="2" y="607"/>
                  <a:pt x="0" y="583"/>
                  <a:pt x="0" y="558"/>
                </a:cubicBezTo>
                <a:close/>
              </a:path>
            </a:pathLst>
          </a:custGeom>
          <a:solidFill>
            <a:srgbClr val="1E40AF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" name="Picture 136"/>
          <p:cNvPicPr/>
          <p:nvPr/>
        </p:nvPicPr>
        <p:blipFill>
          <a:blip r:embed="rId9"/>
          <a:stretch/>
        </p:blipFill>
        <p:spPr>
          <a:xfrm>
            <a:off x="5615640" y="2832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Box 137"/>
          <p:cNvSpPr txBox="1"/>
          <p:nvPr/>
        </p:nvSpPr>
        <p:spPr>
          <a:xfrm>
            <a:off x="5916600" y="2457000"/>
            <a:ext cx="2675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Responsive design working across all devices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5950080" y="2725560"/>
            <a:ext cx="156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Interactive Dashboards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reeform: Shape 139"/>
          <p:cNvSpPr/>
          <p:nvPr/>
        </p:nvSpPr>
        <p:spPr>
          <a:xfrm>
            <a:off x="5548680" y="3208680"/>
            <a:ext cx="267840" cy="334800"/>
          </a:xfrm>
          <a:custGeom>
            <a:avLst/>
            <a:gdLst/>
            <a:ahLst/>
            <a:cxnLst/>
            <a:rect l="0" t="0" r="r" b="b"/>
            <a:pathLst>
              <a:path w="744" h="930">
                <a:moveTo>
                  <a:pt x="0" y="557"/>
                </a:moveTo>
                <a:lnTo>
                  <a:pt x="0" y="372"/>
                </a:lnTo>
                <a:cubicBezTo>
                  <a:pt x="0" y="347"/>
                  <a:pt x="2" y="323"/>
                  <a:pt x="7" y="299"/>
                </a:cubicBezTo>
                <a:cubicBezTo>
                  <a:pt x="12" y="275"/>
                  <a:pt x="19" y="252"/>
                  <a:pt x="28" y="230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5"/>
                  <a:pt x="92" y="126"/>
                  <a:pt x="109" y="109"/>
                </a:cubicBezTo>
                <a:cubicBezTo>
                  <a:pt x="126" y="92"/>
                  <a:pt x="145" y="76"/>
                  <a:pt x="165" y="63"/>
                </a:cubicBezTo>
                <a:cubicBezTo>
                  <a:pt x="185" y="49"/>
                  <a:pt x="207" y="38"/>
                  <a:pt x="229" y="29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1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8" y="12"/>
                  <a:pt x="491" y="19"/>
                  <a:pt x="514" y="29"/>
                </a:cubicBezTo>
                <a:cubicBezTo>
                  <a:pt x="536" y="38"/>
                  <a:pt x="558" y="49"/>
                  <a:pt x="579" y="63"/>
                </a:cubicBezTo>
                <a:cubicBezTo>
                  <a:pt x="599" y="76"/>
                  <a:pt x="618" y="92"/>
                  <a:pt x="635" y="109"/>
                </a:cubicBezTo>
                <a:cubicBezTo>
                  <a:pt x="652" y="126"/>
                  <a:pt x="668" y="145"/>
                  <a:pt x="681" y="165"/>
                </a:cubicBezTo>
                <a:cubicBezTo>
                  <a:pt x="695" y="186"/>
                  <a:pt x="706" y="207"/>
                  <a:pt x="716" y="230"/>
                </a:cubicBezTo>
                <a:cubicBezTo>
                  <a:pt x="725" y="252"/>
                  <a:pt x="732" y="275"/>
                  <a:pt x="737" y="299"/>
                </a:cubicBezTo>
                <a:cubicBezTo>
                  <a:pt x="741" y="323"/>
                  <a:pt x="744" y="347"/>
                  <a:pt x="744" y="372"/>
                </a:cubicBezTo>
                <a:lnTo>
                  <a:pt x="744" y="557"/>
                </a:lnTo>
                <a:cubicBezTo>
                  <a:pt x="744" y="582"/>
                  <a:pt x="741" y="606"/>
                  <a:pt x="737" y="630"/>
                </a:cubicBezTo>
                <a:cubicBezTo>
                  <a:pt x="732" y="654"/>
                  <a:pt x="725" y="677"/>
                  <a:pt x="716" y="700"/>
                </a:cubicBezTo>
                <a:cubicBezTo>
                  <a:pt x="706" y="722"/>
                  <a:pt x="695" y="743"/>
                  <a:pt x="681" y="764"/>
                </a:cubicBezTo>
                <a:cubicBezTo>
                  <a:pt x="668" y="784"/>
                  <a:pt x="652" y="803"/>
                  <a:pt x="635" y="820"/>
                </a:cubicBezTo>
                <a:cubicBezTo>
                  <a:pt x="618" y="838"/>
                  <a:pt x="599" y="854"/>
                  <a:pt x="579" y="867"/>
                </a:cubicBezTo>
                <a:cubicBezTo>
                  <a:pt x="558" y="881"/>
                  <a:pt x="536" y="892"/>
                  <a:pt x="514" y="902"/>
                </a:cubicBezTo>
                <a:cubicBezTo>
                  <a:pt x="491" y="911"/>
                  <a:pt x="468" y="918"/>
                  <a:pt x="444" y="923"/>
                </a:cubicBezTo>
                <a:cubicBezTo>
                  <a:pt x="420" y="927"/>
                  <a:pt x="396" y="930"/>
                  <a:pt x="371" y="930"/>
                </a:cubicBezTo>
                <a:cubicBezTo>
                  <a:pt x="347" y="930"/>
                  <a:pt x="323" y="927"/>
                  <a:pt x="299" y="923"/>
                </a:cubicBezTo>
                <a:cubicBezTo>
                  <a:pt x="275" y="918"/>
                  <a:pt x="252" y="911"/>
                  <a:pt x="229" y="902"/>
                </a:cubicBezTo>
                <a:cubicBezTo>
                  <a:pt x="207" y="892"/>
                  <a:pt x="185" y="881"/>
                  <a:pt x="165" y="867"/>
                </a:cubicBezTo>
                <a:cubicBezTo>
                  <a:pt x="145" y="854"/>
                  <a:pt x="126" y="838"/>
                  <a:pt x="109" y="820"/>
                </a:cubicBezTo>
                <a:cubicBezTo>
                  <a:pt x="92" y="803"/>
                  <a:pt x="76" y="784"/>
                  <a:pt x="63" y="764"/>
                </a:cubicBezTo>
                <a:cubicBezTo>
                  <a:pt x="49" y="743"/>
                  <a:pt x="38" y="722"/>
                  <a:pt x="28" y="700"/>
                </a:cubicBezTo>
                <a:cubicBezTo>
                  <a:pt x="19" y="677"/>
                  <a:pt x="12" y="654"/>
                  <a:pt x="7" y="630"/>
                </a:cubicBezTo>
                <a:cubicBezTo>
                  <a:pt x="2" y="606"/>
                  <a:pt x="0" y="582"/>
                  <a:pt x="0" y="557"/>
                </a:cubicBezTo>
                <a:close/>
              </a:path>
            </a:pathLst>
          </a:custGeom>
          <a:solidFill>
            <a:srgbClr val="1E40AF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" name="Picture 140"/>
          <p:cNvPicPr/>
          <p:nvPr/>
        </p:nvPicPr>
        <p:blipFill>
          <a:blip r:embed="rId10"/>
          <a:stretch/>
        </p:blipFill>
        <p:spPr>
          <a:xfrm>
            <a:off x="5615640" y="3300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141"/>
          <p:cNvSpPr txBox="1"/>
          <p:nvPr/>
        </p:nvSpPr>
        <p:spPr>
          <a:xfrm>
            <a:off x="5950080" y="2925000"/>
            <a:ext cx="2451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Visual insights for management decisions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5950080" y="3193560"/>
            <a:ext cx="1321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Light &amp; Dark Modes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reeform: Shape 143"/>
          <p:cNvSpPr/>
          <p:nvPr/>
        </p:nvSpPr>
        <p:spPr>
          <a:xfrm>
            <a:off x="5548680" y="3676680"/>
            <a:ext cx="267840" cy="334800"/>
          </a:xfrm>
          <a:custGeom>
            <a:avLst/>
            <a:gdLst/>
            <a:ahLst/>
            <a:cxnLst/>
            <a:rect l="0" t="0" r="r" b="b"/>
            <a:pathLst>
              <a:path w="744" h="930">
                <a:moveTo>
                  <a:pt x="0" y="558"/>
                </a:moveTo>
                <a:lnTo>
                  <a:pt x="0" y="372"/>
                </a:lnTo>
                <a:cubicBezTo>
                  <a:pt x="0" y="347"/>
                  <a:pt x="2" y="323"/>
                  <a:pt x="7" y="299"/>
                </a:cubicBezTo>
                <a:cubicBezTo>
                  <a:pt x="12" y="275"/>
                  <a:pt x="19" y="252"/>
                  <a:pt x="28" y="230"/>
                </a:cubicBezTo>
                <a:cubicBezTo>
                  <a:pt x="38" y="207"/>
                  <a:pt x="49" y="186"/>
                  <a:pt x="63" y="165"/>
                </a:cubicBezTo>
                <a:cubicBezTo>
                  <a:pt x="76" y="145"/>
                  <a:pt x="92" y="126"/>
                  <a:pt x="109" y="109"/>
                </a:cubicBezTo>
                <a:cubicBezTo>
                  <a:pt x="126" y="92"/>
                  <a:pt x="145" y="76"/>
                  <a:pt x="165" y="63"/>
                </a:cubicBezTo>
                <a:cubicBezTo>
                  <a:pt x="185" y="49"/>
                  <a:pt x="207" y="38"/>
                  <a:pt x="229" y="29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1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8" y="12"/>
                  <a:pt x="491" y="19"/>
                  <a:pt x="514" y="29"/>
                </a:cubicBezTo>
                <a:cubicBezTo>
                  <a:pt x="536" y="38"/>
                  <a:pt x="558" y="49"/>
                  <a:pt x="579" y="63"/>
                </a:cubicBezTo>
                <a:cubicBezTo>
                  <a:pt x="599" y="76"/>
                  <a:pt x="618" y="92"/>
                  <a:pt x="635" y="109"/>
                </a:cubicBezTo>
                <a:cubicBezTo>
                  <a:pt x="652" y="126"/>
                  <a:pt x="668" y="145"/>
                  <a:pt x="681" y="165"/>
                </a:cubicBezTo>
                <a:cubicBezTo>
                  <a:pt x="695" y="186"/>
                  <a:pt x="706" y="207"/>
                  <a:pt x="716" y="230"/>
                </a:cubicBezTo>
                <a:cubicBezTo>
                  <a:pt x="725" y="252"/>
                  <a:pt x="732" y="275"/>
                  <a:pt x="737" y="299"/>
                </a:cubicBezTo>
                <a:cubicBezTo>
                  <a:pt x="741" y="323"/>
                  <a:pt x="744" y="347"/>
                  <a:pt x="744" y="372"/>
                </a:cubicBezTo>
                <a:lnTo>
                  <a:pt x="744" y="558"/>
                </a:lnTo>
                <a:cubicBezTo>
                  <a:pt x="744" y="583"/>
                  <a:pt x="741" y="607"/>
                  <a:pt x="737" y="631"/>
                </a:cubicBezTo>
                <a:cubicBezTo>
                  <a:pt x="732" y="655"/>
                  <a:pt x="725" y="678"/>
                  <a:pt x="716" y="700"/>
                </a:cubicBezTo>
                <a:cubicBezTo>
                  <a:pt x="706" y="723"/>
                  <a:pt x="695" y="744"/>
                  <a:pt x="681" y="765"/>
                </a:cubicBezTo>
                <a:cubicBezTo>
                  <a:pt x="668" y="785"/>
                  <a:pt x="652" y="804"/>
                  <a:pt x="635" y="821"/>
                </a:cubicBezTo>
                <a:cubicBezTo>
                  <a:pt x="618" y="838"/>
                  <a:pt x="599" y="854"/>
                  <a:pt x="579" y="867"/>
                </a:cubicBezTo>
                <a:cubicBezTo>
                  <a:pt x="558" y="881"/>
                  <a:pt x="536" y="892"/>
                  <a:pt x="514" y="901"/>
                </a:cubicBezTo>
                <a:cubicBezTo>
                  <a:pt x="491" y="911"/>
                  <a:pt x="468" y="918"/>
                  <a:pt x="444" y="923"/>
                </a:cubicBezTo>
                <a:cubicBezTo>
                  <a:pt x="420" y="927"/>
                  <a:pt x="396" y="930"/>
                  <a:pt x="371" y="930"/>
                </a:cubicBezTo>
                <a:cubicBezTo>
                  <a:pt x="347" y="930"/>
                  <a:pt x="323" y="927"/>
                  <a:pt x="299" y="923"/>
                </a:cubicBezTo>
                <a:cubicBezTo>
                  <a:pt x="275" y="918"/>
                  <a:pt x="252" y="911"/>
                  <a:pt x="229" y="901"/>
                </a:cubicBezTo>
                <a:cubicBezTo>
                  <a:pt x="207" y="892"/>
                  <a:pt x="185" y="881"/>
                  <a:pt x="165" y="867"/>
                </a:cubicBezTo>
                <a:cubicBezTo>
                  <a:pt x="145" y="854"/>
                  <a:pt x="126" y="838"/>
                  <a:pt x="109" y="821"/>
                </a:cubicBezTo>
                <a:cubicBezTo>
                  <a:pt x="92" y="804"/>
                  <a:pt x="76" y="785"/>
                  <a:pt x="63" y="765"/>
                </a:cubicBezTo>
                <a:cubicBezTo>
                  <a:pt x="49" y="744"/>
                  <a:pt x="38" y="723"/>
                  <a:pt x="28" y="700"/>
                </a:cubicBezTo>
                <a:cubicBezTo>
                  <a:pt x="19" y="678"/>
                  <a:pt x="12" y="655"/>
                  <a:pt x="7" y="631"/>
                </a:cubicBezTo>
                <a:cubicBezTo>
                  <a:pt x="2" y="607"/>
                  <a:pt x="0" y="583"/>
                  <a:pt x="0" y="558"/>
                </a:cubicBezTo>
                <a:close/>
              </a:path>
            </a:pathLst>
          </a:custGeom>
          <a:solidFill>
            <a:srgbClr val="1E40AF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" name="Picture 144"/>
          <p:cNvPicPr/>
          <p:nvPr/>
        </p:nvPicPr>
        <p:blipFill>
          <a:blip r:embed="rId11"/>
          <a:stretch/>
        </p:blipFill>
        <p:spPr>
          <a:xfrm>
            <a:off x="5615640" y="3768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Box 145"/>
          <p:cNvSpPr txBox="1"/>
          <p:nvPr/>
        </p:nvSpPr>
        <p:spPr>
          <a:xfrm>
            <a:off x="5950080" y="3393000"/>
            <a:ext cx="2745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Adaptable interface for diﬀerent environments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5950080" y="3661560"/>
            <a:ext cx="1260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Role-Based Access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reeform: Shape 147"/>
          <p:cNvSpPr/>
          <p:nvPr/>
        </p:nvSpPr>
        <p:spPr>
          <a:xfrm>
            <a:off x="1738080" y="4947120"/>
            <a:ext cx="7220520" cy="668880"/>
          </a:xfrm>
          <a:custGeom>
            <a:avLst/>
            <a:gdLst/>
            <a:ahLst/>
            <a:cxnLst/>
            <a:rect l="0" t="0" r="r" b="b"/>
            <a:pathLst>
              <a:path w="20057" h="1858">
                <a:moveTo>
                  <a:pt x="0" y="167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9871" y="0"/>
                </a:lnTo>
                <a:cubicBezTo>
                  <a:pt x="19883" y="0"/>
                  <a:pt x="19895" y="1"/>
                  <a:pt x="19907" y="3"/>
                </a:cubicBezTo>
                <a:cubicBezTo>
                  <a:pt x="19919" y="6"/>
                  <a:pt x="19931" y="9"/>
                  <a:pt x="19942" y="14"/>
                </a:cubicBezTo>
                <a:cubicBezTo>
                  <a:pt x="19954" y="18"/>
                  <a:pt x="19964" y="24"/>
                  <a:pt x="19974" y="31"/>
                </a:cubicBezTo>
                <a:cubicBezTo>
                  <a:pt x="19984" y="38"/>
                  <a:pt x="19994" y="45"/>
                  <a:pt x="20003" y="54"/>
                </a:cubicBezTo>
                <a:cubicBezTo>
                  <a:pt x="20011" y="63"/>
                  <a:pt x="20019" y="72"/>
                  <a:pt x="20026" y="82"/>
                </a:cubicBezTo>
                <a:cubicBezTo>
                  <a:pt x="20032" y="92"/>
                  <a:pt x="20038" y="103"/>
                  <a:pt x="20043" y="114"/>
                </a:cubicBezTo>
                <a:cubicBezTo>
                  <a:pt x="20047" y="126"/>
                  <a:pt x="20051" y="137"/>
                  <a:pt x="20053" y="149"/>
                </a:cubicBezTo>
                <a:cubicBezTo>
                  <a:pt x="20056" y="161"/>
                  <a:pt x="20057" y="173"/>
                  <a:pt x="20057" y="185"/>
                </a:cubicBezTo>
                <a:lnTo>
                  <a:pt x="20057" y="1672"/>
                </a:lnTo>
                <a:cubicBezTo>
                  <a:pt x="20057" y="1684"/>
                  <a:pt x="20056" y="1696"/>
                  <a:pt x="20053" y="1708"/>
                </a:cubicBezTo>
                <a:cubicBezTo>
                  <a:pt x="20051" y="1720"/>
                  <a:pt x="20047" y="1732"/>
                  <a:pt x="20043" y="1743"/>
                </a:cubicBezTo>
                <a:cubicBezTo>
                  <a:pt x="20038" y="1754"/>
                  <a:pt x="20032" y="1765"/>
                  <a:pt x="20026" y="1775"/>
                </a:cubicBezTo>
                <a:cubicBezTo>
                  <a:pt x="20019" y="1785"/>
                  <a:pt x="20011" y="1795"/>
                  <a:pt x="20003" y="1803"/>
                </a:cubicBezTo>
                <a:cubicBezTo>
                  <a:pt x="19994" y="1812"/>
                  <a:pt x="19984" y="1820"/>
                  <a:pt x="19974" y="1826"/>
                </a:cubicBezTo>
                <a:cubicBezTo>
                  <a:pt x="19964" y="1833"/>
                  <a:pt x="19954" y="1839"/>
                  <a:pt x="19942" y="1844"/>
                </a:cubicBezTo>
                <a:cubicBezTo>
                  <a:pt x="19931" y="1848"/>
                  <a:pt x="19919" y="1852"/>
                  <a:pt x="19907" y="1854"/>
                </a:cubicBezTo>
                <a:cubicBezTo>
                  <a:pt x="19895" y="1856"/>
                  <a:pt x="19883" y="1858"/>
                  <a:pt x="19871" y="1858"/>
                </a:cubicBezTo>
                <a:lnTo>
                  <a:pt x="186" y="1858"/>
                </a:lnTo>
                <a:cubicBezTo>
                  <a:pt x="173" y="1858"/>
                  <a:pt x="161" y="1856"/>
                  <a:pt x="149" y="1854"/>
                </a:cubicBezTo>
                <a:cubicBezTo>
                  <a:pt x="137" y="1852"/>
                  <a:pt x="126" y="1848"/>
                  <a:pt x="114" y="1844"/>
                </a:cubicBezTo>
                <a:cubicBezTo>
                  <a:pt x="103" y="1839"/>
                  <a:pt x="92" y="1833"/>
                  <a:pt x="82" y="1826"/>
                </a:cubicBezTo>
                <a:cubicBezTo>
                  <a:pt x="72" y="1820"/>
                  <a:pt x="63" y="1812"/>
                  <a:pt x="54" y="1803"/>
                </a:cubicBezTo>
                <a:cubicBezTo>
                  <a:pt x="46" y="1795"/>
                  <a:pt x="38" y="1785"/>
                  <a:pt x="31" y="1775"/>
                </a:cubicBezTo>
                <a:cubicBezTo>
                  <a:pt x="24" y="1765"/>
                  <a:pt x="19" y="1754"/>
                  <a:pt x="14" y="1743"/>
                </a:cubicBezTo>
                <a:cubicBezTo>
                  <a:pt x="9" y="1732"/>
                  <a:pt x="6" y="1720"/>
                  <a:pt x="3" y="1708"/>
                </a:cubicBezTo>
                <a:cubicBezTo>
                  <a:pt x="1" y="1696"/>
                  <a:pt x="0" y="1684"/>
                  <a:pt x="0" y="1672"/>
                </a:cubicBezTo>
                <a:close/>
              </a:path>
            </a:pathLst>
          </a:custGeom>
          <a:solidFill>
            <a:srgbClr val="1E3A8A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9" name="Picture 148"/>
          <p:cNvPicPr/>
          <p:nvPr/>
        </p:nvPicPr>
        <p:blipFill>
          <a:blip r:embed="rId12"/>
          <a:stretch/>
        </p:blipFill>
        <p:spPr>
          <a:xfrm>
            <a:off x="2189520" y="504756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149"/>
          <p:cNvSpPr txBox="1"/>
          <p:nvPr/>
        </p:nvSpPr>
        <p:spPr>
          <a:xfrm>
            <a:off x="5950080" y="3861000"/>
            <a:ext cx="1945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Secure authentication with RBAC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reeform: Shape 150"/>
          <p:cNvSpPr/>
          <p:nvPr/>
        </p:nvSpPr>
        <p:spPr>
          <a:xfrm>
            <a:off x="2899440" y="5281200"/>
            <a:ext cx="535320" cy="8640"/>
          </a:xfrm>
          <a:custGeom>
            <a:avLst/>
            <a:gdLst/>
            <a:ahLst/>
            <a:cxnLst/>
            <a:rect l="0" t="0" r="r" b="b"/>
            <a:pathLst>
              <a:path w="1487" h="24">
                <a:moveTo>
                  <a:pt x="0" y="0"/>
                </a:moveTo>
                <a:lnTo>
                  <a:pt x="1487" y="0"/>
                </a:lnTo>
                <a:lnTo>
                  <a:pt x="1487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" name="Picture 151"/>
          <p:cNvPicPr/>
          <p:nvPr/>
        </p:nvPicPr>
        <p:blipFill>
          <a:blip r:embed="rId13"/>
          <a:stretch/>
        </p:blipFill>
        <p:spPr>
          <a:xfrm>
            <a:off x="3852360" y="504756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1972080" y="5332680"/>
            <a:ext cx="690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Developer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reeform: Shape 153"/>
          <p:cNvSpPr/>
          <p:nvPr/>
        </p:nvSpPr>
        <p:spPr>
          <a:xfrm>
            <a:off x="4503960" y="5281200"/>
            <a:ext cx="535320" cy="8640"/>
          </a:xfrm>
          <a:custGeom>
            <a:avLst/>
            <a:gdLst/>
            <a:ahLst/>
            <a:cxnLst/>
            <a:rect l="0" t="0" r="r" b="b"/>
            <a:pathLst>
              <a:path w="1487" h="24">
                <a:moveTo>
                  <a:pt x="0" y="0"/>
                </a:moveTo>
                <a:lnTo>
                  <a:pt x="1487" y="0"/>
                </a:lnTo>
                <a:lnTo>
                  <a:pt x="1487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Picture 154"/>
          <p:cNvPicPr/>
          <p:nvPr/>
        </p:nvPicPr>
        <p:blipFill>
          <a:blip r:embed="rId14"/>
          <a:stretch/>
        </p:blipFill>
        <p:spPr>
          <a:xfrm>
            <a:off x="5281560" y="5047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Box 155"/>
          <p:cNvSpPr txBox="1"/>
          <p:nvPr/>
        </p:nvSpPr>
        <p:spPr>
          <a:xfrm>
            <a:off x="3672000" y="5332680"/>
            <a:ext cx="605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Frontend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reeform: Shape 156"/>
          <p:cNvSpPr/>
          <p:nvPr/>
        </p:nvSpPr>
        <p:spPr>
          <a:xfrm>
            <a:off x="5724000" y="5281200"/>
            <a:ext cx="535320" cy="8640"/>
          </a:xfrm>
          <a:custGeom>
            <a:avLst/>
            <a:gdLst/>
            <a:ahLst/>
            <a:cxnLst/>
            <a:rect l="0" t="0" r="r" b="b"/>
            <a:pathLst>
              <a:path w="1487" h="24">
                <a:moveTo>
                  <a:pt x="0" y="0"/>
                </a:moveTo>
                <a:lnTo>
                  <a:pt x="1487" y="0"/>
                </a:lnTo>
                <a:lnTo>
                  <a:pt x="1487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" name="Picture 157"/>
          <p:cNvPicPr/>
          <p:nvPr/>
        </p:nvPicPr>
        <p:blipFill>
          <a:blip r:embed="rId15"/>
          <a:stretch/>
        </p:blipFill>
        <p:spPr>
          <a:xfrm>
            <a:off x="6685200" y="5047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5274000" y="5332680"/>
            <a:ext cx="212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API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reeform: Shape 159"/>
          <p:cNvSpPr/>
          <p:nvPr/>
        </p:nvSpPr>
        <p:spPr>
          <a:xfrm>
            <a:off x="7303680" y="5281200"/>
            <a:ext cx="534960" cy="8640"/>
          </a:xfrm>
          <a:custGeom>
            <a:avLst/>
            <a:gdLst/>
            <a:ahLst/>
            <a:cxnLst/>
            <a:rect l="0" t="0" r="r" b="b"/>
            <a:pathLst>
              <a:path w="1486" h="24">
                <a:moveTo>
                  <a:pt x="0" y="0"/>
                </a:moveTo>
                <a:lnTo>
                  <a:pt x="1486" y="0"/>
                </a:lnTo>
                <a:lnTo>
                  <a:pt x="1486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Picture 160"/>
          <p:cNvPicPr/>
          <p:nvPr/>
        </p:nvPicPr>
        <p:blipFill>
          <a:blip r:embed="rId16"/>
          <a:stretch/>
        </p:blipFill>
        <p:spPr>
          <a:xfrm>
            <a:off x="8314920" y="504756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161"/>
          <p:cNvSpPr txBox="1"/>
          <p:nvPr/>
        </p:nvSpPr>
        <p:spPr>
          <a:xfrm>
            <a:off x="6497280" y="5332680"/>
            <a:ext cx="578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Backend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3" name="Picture 162"/>
          <p:cNvPicPr/>
          <p:nvPr/>
        </p:nvPicPr>
        <p:blipFill>
          <a:blip r:embed="rId17"/>
          <a:stretch/>
        </p:blipFill>
        <p:spPr>
          <a:xfrm>
            <a:off x="534960" y="58413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Box 163"/>
          <p:cNvSpPr txBox="1"/>
          <p:nvPr/>
        </p:nvSpPr>
        <p:spPr>
          <a:xfrm>
            <a:off x="8080920" y="5332680"/>
            <a:ext cx="645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MongoDB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718560" y="583308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6" name="Picture 165"/>
          <p:cNvPicPr/>
          <p:nvPr/>
        </p:nvPicPr>
        <p:blipFill>
          <a:blip r:embed="rId18"/>
          <a:stretch/>
        </p:blipFill>
        <p:spPr>
          <a:xfrm>
            <a:off x="-835560" y="409464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166"/>
          <p:cNvPicPr/>
          <p:nvPr/>
        </p:nvPicPr>
        <p:blipFill>
          <a:blip r:embed="rId19"/>
          <a:stretch/>
        </p:blipFill>
        <p:spPr>
          <a:xfrm>
            <a:off x="8607240" y="-83556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Picture 167"/>
          <p:cNvPicPr/>
          <p:nvPr/>
        </p:nvPicPr>
        <p:blipFill>
          <a:blip r:embed="rId20"/>
          <a:stretch/>
        </p:blipFill>
        <p:spPr>
          <a:xfrm>
            <a:off x="5264640" y="208908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168"/>
          <p:cNvPicPr/>
          <p:nvPr/>
        </p:nvPicPr>
        <p:blipFill>
          <a:blip r:embed="rId21"/>
          <a:stretch/>
        </p:blipFill>
        <p:spPr>
          <a:xfrm>
            <a:off x="417960" y="449604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169"/>
          <p:cNvPicPr/>
          <p:nvPr/>
        </p:nvPicPr>
        <p:blipFill>
          <a:blip r:embed="rId22"/>
          <a:stretch/>
        </p:blipFill>
        <p:spPr>
          <a:xfrm>
            <a:off x="0" y="0"/>
            <a:ext cx="10696320" cy="618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Box 170"/>
          <p:cNvSpPr txBox="1"/>
          <p:nvPr/>
        </p:nvSpPr>
        <p:spPr>
          <a:xfrm>
            <a:off x="9898920" y="5833080"/>
            <a:ext cx="26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3/10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1"/>
          <p:cNvPicPr/>
          <p:nvPr/>
        </p:nvPicPr>
        <p:blipFill>
          <a:blip r:embed="rId2"/>
          <a:stretch/>
        </p:blipFill>
        <p:spPr>
          <a:xfrm>
            <a:off x="0" y="0"/>
            <a:ext cx="10696320" cy="66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Freeform: Shape 172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534960" y="389520"/>
            <a:ext cx="923940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Patch Management: Protecting Against Vulnerabilities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534960" y="1272600"/>
            <a:ext cx="86277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Eﬀective patch management is a critical defense mechanism, ensuring that systems are protected against known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34960" y="1514880"/>
            <a:ext cx="95292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vulnerabilities. This process involves identifying, acquiring, testing, and deploying software patches in a timely and organized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34960" y="1765800"/>
            <a:ext cx="93070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manner. Our Infra Tracking system streamlines this entire workﬂow, from identifying threats to deploying and reporting on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reeform: Shape 177"/>
          <p:cNvSpPr/>
          <p:nvPr/>
        </p:nvSpPr>
        <p:spPr>
          <a:xfrm>
            <a:off x="542880" y="4888440"/>
            <a:ext cx="3067560" cy="1170360"/>
          </a:xfrm>
          <a:custGeom>
            <a:avLst/>
            <a:gdLst/>
            <a:ahLst/>
            <a:cxnLst/>
            <a:rect l="0" t="0" r="r" b="b"/>
            <a:pathLst>
              <a:path w="8521" h="3251">
                <a:moveTo>
                  <a:pt x="0" y="3065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3" y="115"/>
                </a:cubicBezTo>
                <a:cubicBezTo>
                  <a:pt x="17" y="104"/>
                  <a:pt x="22" y="93"/>
                  <a:pt x="28" y="83"/>
                </a:cubicBezTo>
                <a:cubicBezTo>
                  <a:pt x="34" y="73"/>
                  <a:pt x="40" y="63"/>
                  <a:pt x="48" y="55"/>
                </a:cubicBezTo>
                <a:cubicBezTo>
                  <a:pt x="55" y="46"/>
                  <a:pt x="64" y="38"/>
                  <a:pt x="73" y="31"/>
                </a:cubicBezTo>
                <a:cubicBezTo>
                  <a:pt x="81" y="25"/>
                  <a:pt x="91" y="19"/>
                  <a:pt x="101" y="14"/>
                </a:cubicBezTo>
                <a:cubicBezTo>
                  <a:pt x="111" y="10"/>
                  <a:pt x="121" y="6"/>
                  <a:pt x="131" y="4"/>
                </a:cubicBezTo>
                <a:cubicBezTo>
                  <a:pt x="142" y="1"/>
                  <a:pt x="152" y="0"/>
                  <a:pt x="163" y="0"/>
                </a:cubicBezTo>
                <a:lnTo>
                  <a:pt x="8335" y="0"/>
                </a:lnTo>
                <a:cubicBezTo>
                  <a:pt x="8347" y="0"/>
                  <a:pt x="8359" y="1"/>
                  <a:pt x="8371" y="4"/>
                </a:cubicBezTo>
                <a:cubicBezTo>
                  <a:pt x="8383" y="6"/>
                  <a:pt x="8395" y="10"/>
                  <a:pt x="8406" y="14"/>
                </a:cubicBezTo>
                <a:cubicBezTo>
                  <a:pt x="8417" y="19"/>
                  <a:pt x="8428" y="25"/>
                  <a:pt x="8438" y="31"/>
                </a:cubicBezTo>
                <a:cubicBezTo>
                  <a:pt x="8448" y="38"/>
                  <a:pt x="8458" y="46"/>
                  <a:pt x="8466" y="55"/>
                </a:cubicBezTo>
                <a:cubicBezTo>
                  <a:pt x="8475" y="63"/>
                  <a:pt x="8482" y="73"/>
                  <a:pt x="8489" y="83"/>
                </a:cubicBezTo>
                <a:cubicBezTo>
                  <a:pt x="8496" y="93"/>
                  <a:pt x="8502" y="104"/>
                  <a:pt x="8506" y="115"/>
                </a:cubicBezTo>
                <a:cubicBezTo>
                  <a:pt x="8511" y="126"/>
                  <a:pt x="8515" y="138"/>
                  <a:pt x="8517" y="150"/>
                </a:cubicBezTo>
                <a:cubicBezTo>
                  <a:pt x="8519" y="162"/>
                  <a:pt x="8521" y="174"/>
                  <a:pt x="8521" y="186"/>
                </a:cubicBezTo>
                <a:lnTo>
                  <a:pt x="8521" y="3065"/>
                </a:lnTo>
                <a:cubicBezTo>
                  <a:pt x="8521" y="3077"/>
                  <a:pt x="8519" y="3090"/>
                  <a:pt x="8517" y="3101"/>
                </a:cubicBezTo>
                <a:cubicBezTo>
                  <a:pt x="8515" y="3113"/>
                  <a:pt x="8511" y="3125"/>
                  <a:pt x="8506" y="3136"/>
                </a:cubicBezTo>
                <a:cubicBezTo>
                  <a:pt x="8502" y="3148"/>
                  <a:pt x="8496" y="3158"/>
                  <a:pt x="8489" y="3168"/>
                </a:cubicBezTo>
                <a:cubicBezTo>
                  <a:pt x="8482" y="3179"/>
                  <a:pt x="8475" y="3188"/>
                  <a:pt x="8466" y="3197"/>
                </a:cubicBezTo>
                <a:cubicBezTo>
                  <a:pt x="8458" y="3205"/>
                  <a:pt x="8448" y="3213"/>
                  <a:pt x="8438" y="3220"/>
                </a:cubicBezTo>
                <a:cubicBezTo>
                  <a:pt x="8428" y="3226"/>
                  <a:pt x="8417" y="3232"/>
                  <a:pt x="8406" y="3237"/>
                </a:cubicBezTo>
                <a:cubicBezTo>
                  <a:pt x="8395" y="3241"/>
                  <a:pt x="8383" y="3245"/>
                  <a:pt x="8371" y="3247"/>
                </a:cubicBezTo>
                <a:cubicBezTo>
                  <a:pt x="8359" y="3250"/>
                  <a:pt x="8347" y="3251"/>
                  <a:pt x="8335" y="3251"/>
                </a:cubicBezTo>
                <a:lnTo>
                  <a:pt x="163" y="3251"/>
                </a:lnTo>
                <a:cubicBezTo>
                  <a:pt x="152" y="3251"/>
                  <a:pt x="142" y="3250"/>
                  <a:pt x="131" y="3247"/>
                </a:cubicBezTo>
                <a:cubicBezTo>
                  <a:pt x="121" y="3245"/>
                  <a:pt x="111" y="3241"/>
                  <a:pt x="101" y="3237"/>
                </a:cubicBezTo>
                <a:cubicBezTo>
                  <a:pt x="91" y="3232"/>
                  <a:pt x="81" y="3226"/>
                  <a:pt x="73" y="3220"/>
                </a:cubicBezTo>
                <a:cubicBezTo>
                  <a:pt x="64" y="3213"/>
                  <a:pt x="55" y="3205"/>
                  <a:pt x="48" y="3197"/>
                </a:cubicBezTo>
                <a:cubicBezTo>
                  <a:pt x="40" y="3188"/>
                  <a:pt x="34" y="3179"/>
                  <a:pt x="28" y="3168"/>
                </a:cubicBezTo>
                <a:cubicBezTo>
                  <a:pt x="22" y="3158"/>
                  <a:pt x="17" y="3148"/>
                  <a:pt x="13" y="3136"/>
                </a:cubicBezTo>
                <a:cubicBezTo>
                  <a:pt x="9" y="3125"/>
                  <a:pt x="6" y="3113"/>
                  <a:pt x="3" y="3101"/>
                </a:cubicBezTo>
                <a:cubicBezTo>
                  <a:pt x="1" y="3090"/>
                  <a:pt x="0" y="3077"/>
                  <a:pt x="0" y="3065"/>
                </a:cubicBezTo>
                <a:close/>
              </a:path>
            </a:pathLst>
          </a:custGeom>
          <a:solidFill>
            <a:srgbClr val="1E3A8A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reeform: Shape 178"/>
          <p:cNvSpPr/>
          <p:nvPr/>
        </p:nvSpPr>
        <p:spPr>
          <a:xfrm>
            <a:off x="534600" y="4888440"/>
            <a:ext cx="67320" cy="1170360"/>
          </a:xfrm>
          <a:custGeom>
            <a:avLst/>
            <a:gdLst/>
            <a:ahLst/>
            <a:cxnLst/>
            <a:rect l="0" t="0" r="r" b="b"/>
            <a:pathLst>
              <a:path w="187" h="3251">
                <a:moveTo>
                  <a:pt x="0" y="0"/>
                </a:moveTo>
                <a:lnTo>
                  <a:pt x="187" y="0"/>
                </a:lnTo>
                <a:lnTo>
                  <a:pt x="187" y="3251"/>
                </a:lnTo>
                <a:lnTo>
                  <a:pt x="0" y="325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0" name="Picture 179"/>
          <p:cNvPicPr/>
          <p:nvPr/>
        </p:nvPicPr>
        <p:blipFill>
          <a:blip r:embed="rId3"/>
          <a:stretch/>
        </p:blipFill>
        <p:spPr>
          <a:xfrm>
            <a:off x="718560" y="51058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Box 180"/>
          <p:cNvSpPr txBox="1"/>
          <p:nvPr/>
        </p:nvSpPr>
        <p:spPr>
          <a:xfrm>
            <a:off x="534960" y="2008080"/>
            <a:ext cx="986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patch status.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952560" y="5083200"/>
            <a:ext cx="1584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Enhanced Security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718560" y="5406840"/>
            <a:ext cx="2566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Proactively addresses vulnerabilities before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reeform: Shape 183"/>
          <p:cNvSpPr/>
          <p:nvPr/>
        </p:nvSpPr>
        <p:spPr>
          <a:xfrm>
            <a:off x="3818880" y="4888440"/>
            <a:ext cx="3067200" cy="1170360"/>
          </a:xfrm>
          <a:custGeom>
            <a:avLst/>
            <a:gdLst/>
            <a:ahLst/>
            <a:cxnLst/>
            <a:rect l="0" t="0" r="r" b="b"/>
            <a:pathLst>
              <a:path w="8520" h="3251">
                <a:moveTo>
                  <a:pt x="0" y="3065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2" y="115"/>
                </a:cubicBezTo>
                <a:cubicBezTo>
                  <a:pt x="16" y="104"/>
                  <a:pt x="21" y="93"/>
                  <a:pt x="27" y="83"/>
                </a:cubicBezTo>
                <a:cubicBezTo>
                  <a:pt x="33" y="73"/>
                  <a:pt x="40" y="63"/>
                  <a:pt x="47" y="55"/>
                </a:cubicBezTo>
                <a:cubicBezTo>
                  <a:pt x="55" y="46"/>
                  <a:pt x="63" y="38"/>
                  <a:pt x="72" y="31"/>
                </a:cubicBezTo>
                <a:cubicBezTo>
                  <a:pt x="81" y="25"/>
                  <a:pt x="90" y="19"/>
                  <a:pt x="100" y="14"/>
                </a:cubicBezTo>
                <a:cubicBezTo>
                  <a:pt x="110" y="10"/>
                  <a:pt x="120" y="6"/>
                  <a:pt x="131" y="4"/>
                </a:cubicBezTo>
                <a:cubicBezTo>
                  <a:pt x="141" y="1"/>
                  <a:pt x="152" y="0"/>
                  <a:pt x="162" y="0"/>
                </a:cubicBezTo>
                <a:lnTo>
                  <a:pt x="8334" y="0"/>
                </a:lnTo>
                <a:cubicBezTo>
                  <a:pt x="8347" y="0"/>
                  <a:pt x="8359" y="1"/>
                  <a:pt x="8371" y="4"/>
                </a:cubicBezTo>
                <a:cubicBezTo>
                  <a:pt x="8383" y="6"/>
                  <a:pt x="8394" y="10"/>
                  <a:pt x="8405" y="14"/>
                </a:cubicBezTo>
                <a:cubicBezTo>
                  <a:pt x="8417" y="19"/>
                  <a:pt x="8427" y="25"/>
                  <a:pt x="8438" y="31"/>
                </a:cubicBezTo>
                <a:cubicBezTo>
                  <a:pt x="8448" y="38"/>
                  <a:pt x="8457" y="46"/>
                  <a:pt x="8466" y="55"/>
                </a:cubicBezTo>
                <a:cubicBezTo>
                  <a:pt x="8474" y="63"/>
                  <a:pt x="8482" y="73"/>
                  <a:pt x="8489" y="83"/>
                </a:cubicBezTo>
                <a:cubicBezTo>
                  <a:pt x="8496" y="93"/>
                  <a:pt x="8501" y="104"/>
                  <a:pt x="8506" y="115"/>
                </a:cubicBezTo>
                <a:cubicBezTo>
                  <a:pt x="8511" y="126"/>
                  <a:pt x="8514" y="138"/>
                  <a:pt x="8516" y="150"/>
                </a:cubicBezTo>
                <a:cubicBezTo>
                  <a:pt x="8519" y="162"/>
                  <a:pt x="8520" y="174"/>
                  <a:pt x="8520" y="186"/>
                </a:cubicBezTo>
                <a:lnTo>
                  <a:pt x="8520" y="3065"/>
                </a:lnTo>
                <a:cubicBezTo>
                  <a:pt x="8520" y="3077"/>
                  <a:pt x="8519" y="3090"/>
                  <a:pt x="8516" y="3101"/>
                </a:cubicBezTo>
                <a:cubicBezTo>
                  <a:pt x="8514" y="3113"/>
                  <a:pt x="8511" y="3125"/>
                  <a:pt x="8506" y="3136"/>
                </a:cubicBezTo>
                <a:cubicBezTo>
                  <a:pt x="8501" y="3148"/>
                  <a:pt x="8496" y="3158"/>
                  <a:pt x="8489" y="3168"/>
                </a:cubicBezTo>
                <a:cubicBezTo>
                  <a:pt x="8482" y="3179"/>
                  <a:pt x="8474" y="3188"/>
                  <a:pt x="8466" y="3197"/>
                </a:cubicBezTo>
                <a:cubicBezTo>
                  <a:pt x="8457" y="3205"/>
                  <a:pt x="8448" y="3213"/>
                  <a:pt x="8438" y="3220"/>
                </a:cubicBezTo>
                <a:cubicBezTo>
                  <a:pt x="8427" y="3226"/>
                  <a:pt x="8417" y="3232"/>
                  <a:pt x="8405" y="3237"/>
                </a:cubicBezTo>
                <a:cubicBezTo>
                  <a:pt x="8394" y="3241"/>
                  <a:pt x="8383" y="3245"/>
                  <a:pt x="8371" y="3247"/>
                </a:cubicBezTo>
                <a:cubicBezTo>
                  <a:pt x="8359" y="3250"/>
                  <a:pt x="8347" y="3251"/>
                  <a:pt x="8334" y="3251"/>
                </a:cubicBezTo>
                <a:lnTo>
                  <a:pt x="162" y="3251"/>
                </a:lnTo>
                <a:cubicBezTo>
                  <a:pt x="152" y="3251"/>
                  <a:pt x="141" y="3250"/>
                  <a:pt x="131" y="3247"/>
                </a:cubicBezTo>
                <a:cubicBezTo>
                  <a:pt x="120" y="3245"/>
                  <a:pt x="110" y="3241"/>
                  <a:pt x="100" y="3237"/>
                </a:cubicBezTo>
                <a:cubicBezTo>
                  <a:pt x="90" y="3232"/>
                  <a:pt x="81" y="3226"/>
                  <a:pt x="72" y="3220"/>
                </a:cubicBezTo>
                <a:cubicBezTo>
                  <a:pt x="63" y="3213"/>
                  <a:pt x="55" y="3205"/>
                  <a:pt x="47" y="3197"/>
                </a:cubicBezTo>
                <a:cubicBezTo>
                  <a:pt x="40" y="3188"/>
                  <a:pt x="33" y="3179"/>
                  <a:pt x="27" y="3168"/>
                </a:cubicBezTo>
                <a:cubicBezTo>
                  <a:pt x="21" y="3158"/>
                  <a:pt x="16" y="3148"/>
                  <a:pt x="12" y="3136"/>
                </a:cubicBezTo>
                <a:cubicBezTo>
                  <a:pt x="8" y="3125"/>
                  <a:pt x="5" y="3113"/>
                  <a:pt x="3" y="3101"/>
                </a:cubicBezTo>
                <a:cubicBezTo>
                  <a:pt x="1" y="3090"/>
                  <a:pt x="0" y="3077"/>
                  <a:pt x="0" y="3065"/>
                </a:cubicBezTo>
                <a:close/>
              </a:path>
            </a:pathLst>
          </a:custGeom>
          <a:solidFill>
            <a:srgbClr val="1E3A8A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reeform: Shape 184"/>
          <p:cNvSpPr/>
          <p:nvPr/>
        </p:nvSpPr>
        <p:spPr>
          <a:xfrm>
            <a:off x="3810600" y="4888440"/>
            <a:ext cx="66960" cy="1170360"/>
          </a:xfrm>
          <a:custGeom>
            <a:avLst/>
            <a:gdLst/>
            <a:ahLst/>
            <a:cxnLst/>
            <a:rect l="0" t="0" r="r" b="b"/>
            <a:pathLst>
              <a:path w="186" h="3251">
                <a:moveTo>
                  <a:pt x="133" y="14"/>
                </a:moveTo>
                <a:cubicBezTo>
                  <a:pt x="116" y="24"/>
                  <a:pt x="101" y="37"/>
                  <a:pt x="88" y="55"/>
                </a:cubicBezTo>
                <a:cubicBezTo>
                  <a:pt x="75" y="72"/>
                  <a:pt x="65" y="92"/>
                  <a:pt x="58" y="115"/>
                </a:cubicBezTo>
                <a:cubicBezTo>
                  <a:pt x="50" y="138"/>
                  <a:pt x="46" y="161"/>
                  <a:pt x="46" y="186"/>
                </a:cubicBezTo>
                <a:lnTo>
                  <a:pt x="46" y="3065"/>
                </a:lnTo>
                <a:cubicBezTo>
                  <a:pt x="46" y="3090"/>
                  <a:pt x="50" y="3114"/>
                  <a:pt x="58" y="3136"/>
                </a:cubicBezTo>
                <a:cubicBezTo>
                  <a:pt x="65" y="3159"/>
                  <a:pt x="75" y="3179"/>
                  <a:pt x="88" y="3197"/>
                </a:cubicBezTo>
                <a:cubicBezTo>
                  <a:pt x="101" y="3214"/>
                  <a:pt x="116" y="3227"/>
                  <a:pt x="133" y="3237"/>
                </a:cubicBezTo>
                <a:cubicBezTo>
                  <a:pt x="150" y="3246"/>
                  <a:pt x="168" y="3251"/>
                  <a:pt x="186" y="3251"/>
                </a:cubicBezTo>
                <a:cubicBezTo>
                  <a:pt x="162" y="3251"/>
                  <a:pt x="138" y="3246"/>
                  <a:pt x="115" y="3237"/>
                </a:cubicBezTo>
                <a:cubicBezTo>
                  <a:pt x="93" y="3227"/>
                  <a:pt x="72" y="3214"/>
                  <a:pt x="55" y="3197"/>
                </a:cubicBezTo>
                <a:cubicBezTo>
                  <a:pt x="37" y="3179"/>
                  <a:pt x="23" y="3159"/>
                  <a:pt x="14" y="3136"/>
                </a:cubicBezTo>
                <a:cubicBezTo>
                  <a:pt x="4" y="3114"/>
                  <a:pt x="0" y="3090"/>
                  <a:pt x="0" y="3065"/>
                </a:cubicBezTo>
                <a:lnTo>
                  <a:pt x="0" y="186"/>
                </a:lnTo>
                <a:cubicBezTo>
                  <a:pt x="0" y="161"/>
                  <a:pt x="4" y="138"/>
                  <a:pt x="14" y="115"/>
                </a:cubicBezTo>
                <a:cubicBezTo>
                  <a:pt x="23" y="92"/>
                  <a:pt x="37" y="72"/>
                  <a:pt x="55" y="55"/>
                </a:cubicBezTo>
                <a:cubicBezTo>
                  <a:pt x="72" y="37"/>
                  <a:pt x="93" y="24"/>
                  <a:pt x="115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68" y="0"/>
                  <a:pt x="150" y="5"/>
                  <a:pt x="133" y="14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Picture 185"/>
          <p:cNvPicPr/>
          <p:nvPr/>
        </p:nvPicPr>
        <p:blipFill>
          <a:blip r:embed="rId4"/>
          <a:stretch/>
        </p:blipFill>
        <p:spPr>
          <a:xfrm>
            <a:off x="3994560" y="51058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Box 186"/>
          <p:cNvSpPr txBox="1"/>
          <p:nvPr/>
        </p:nvSpPr>
        <p:spPr>
          <a:xfrm>
            <a:off x="718560" y="5573880"/>
            <a:ext cx="2595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they can be exploited, reducing breach risk.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4228560" y="5083200"/>
            <a:ext cx="2030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Streamlined Operations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3994560" y="5406840"/>
            <a:ext cx="2297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System automates patch management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3994560" y="5573880"/>
            <a:ext cx="2207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workﬂow, reducing manual eﬀort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reeform: Shape 190"/>
          <p:cNvSpPr/>
          <p:nvPr/>
        </p:nvSpPr>
        <p:spPr>
          <a:xfrm>
            <a:off x="7094520" y="4888440"/>
            <a:ext cx="3067560" cy="1170360"/>
          </a:xfrm>
          <a:custGeom>
            <a:avLst/>
            <a:gdLst/>
            <a:ahLst/>
            <a:cxnLst/>
            <a:rect l="0" t="0" r="r" b="b"/>
            <a:pathLst>
              <a:path w="8521" h="3251">
                <a:moveTo>
                  <a:pt x="0" y="3065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3" y="115"/>
                </a:cubicBezTo>
                <a:cubicBezTo>
                  <a:pt x="17" y="104"/>
                  <a:pt x="22" y="93"/>
                  <a:pt x="28" y="83"/>
                </a:cubicBezTo>
                <a:cubicBezTo>
                  <a:pt x="34" y="73"/>
                  <a:pt x="40" y="63"/>
                  <a:pt x="48" y="55"/>
                </a:cubicBezTo>
                <a:cubicBezTo>
                  <a:pt x="56" y="46"/>
                  <a:pt x="64" y="38"/>
                  <a:pt x="73" y="31"/>
                </a:cubicBezTo>
                <a:cubicBezTo>
                  <a:pt x="81" y="25"/>
                  <a:pt x="91" y="19"/>
                  <a:pt x="101" y="14"/>
                </a:cubicBezTo>
                <a:cubicBezTo>
                  <a:pt x="111" y="10"/>
                  <a:pt x="121" y="6"/>
                  <a:pt x="131" y="4"/>
                </a:cubicBezTo>
                <a:cubicBezTo>
                  <a:pt x="142" y="1"/>
                  <a:pt x="152" y="0"/>
                  <a:pt x="163" y="0"/>
                </a:cubicBezTo>
                <a:lnTo>
                  <a:pt x="8335" y="0"/>
                </a:lnTo>
                <a:cubicBezTo>
                  <a:pt x="8347" y="0"/>
                  <a:pt x="8359" y="1"/>
                  <a:pt x="8371" y="4"/>
                </a:cubicBezTo>
                <a:cubicBezTo>
                  <a:pt x="8383" y="6"/>
                  <a:pt x="8395" y="10"/>
                  <a:pt x="8406" y="14"/>
                </a:cubicBezTo>
                <a:cubicBezTo>
                  <a:pt x="8417" y="19"/>
                  <a:pt x="8428" y="25"/>
                  <a:pt x="8438" y="31"/>
                </a:cubicBezTo>
                <a:cubicBezTo>
                  <a:pt x="8448" y="38"/>
                  <a:pt x="8458" y="46"/>
                  <a:pt x="8466" y="55"/>
                </a:cubicBezTo>
                <a:cubicBezTo>
                  <a:pt x="8475" y="63"/>
                  <a:pt x="8482" y="73"/>
                  <a:pt x="8489" y="83"/>
                </a:cubicBezTo>
                <a:cubicBezTo>
                  <a:pt x="8496" y="93"/>
                  <a:pt x="8502" y="104"/>
                  <a:pt x="8506" y="115"/>
                </a:cubicBezTo>
                <a:cubicBezTo>
                  <a:pt x="8511" y="126"/>
                  <a:pt x="8515" y="138"/>
                  <a:pt x="8517" y="150"/>
                </a:cubicBezTo>
                <a:cubicBezTo>
                  <a:pt x="8519" y="162"/>
                  <a:pt x="8521" y="174"/>
                  <a:pt x="8521" y="186"/>
                </a:cubicBezTo>
                <a:lnTo>
                  <a:pt x="8521" y="3065"/>
                </a:lnTo>
                <a:cubicBezTo>
                  <a:pt x="8521" y="3077"/>
                  <a:pt x="8519" y="3090"/>
                  <a:pt x="8517" y="3101"/>
                </a:cubicBezTo>
                <a:cubicBezTo>
                  <a:pt x="8515" y="3113"/>
                  <a:pt x="8511" y="3125"/>
                  <a:pt x="8506" y="3136"/>
                </a:cubicBezTo>
                <a:cubicBezTo>
                  <a:pt x="8502" y="3148"/>
                  <a:pt x="8496" y="3158"/>
                  <a:pt x="8489" y="3168"/>
                </a:cubicBezTo>
                <a:cubicBezTo>
                  <a:pt x="8482" y="3179"/>
                  <a:pt x="8475" y="3188"/>
                  <a:pt x="8466" y="3197"/>
                </a:cubicBezTo>
                <a:cubicBezTo>
                  <a:pt x="8458" y="3205"/>
                  <a:pt x="8448" y="3213"/>
                  <a:pt x="8438" y="3220"/>
                </a:cubicBezTo>
                <a:cubicBezTo>
                  <a:pt x="8428" y="3226"/>
                  <a:pt x="8417" y="3232"/>
                  <a:pt x="8406" y="3237"/>
                </a:cubicBezTo>
                <a:cubicBezTo>
                  <a:pt x="8395" y="3241"/>
                  <a:pt x="8383" y="3245"/>
                  <a:pt x="8371" y="3247"/>
                </a:cubicBezTo>
                <a:cubicBezTo>
                  <a:pt x="8359" y="3250"/>
                  <a:pt x="8347" y="3251"/>
                  <a:pt x="8335" y="3251"/>
                </a:cubicBezTo>
                <a:lnTo>
                  <a:pt x="163" y="3251"/>
                </a:lnTo>
                <a:cubicBezTo>
                  <a:pt x="152" y="3251"/>
                  <a:pt x="142" y="3250"/>
                  <a:pt x="131" y="3247"/>
                </a:cubicBezTo>
                <a:cubicBezTo>
                  <a:pt x="121" y="3245"/>
                  <a:pt x="111" y="3241"/>
                  <a:pt x="101" y="3237"/>
                </a:cubicBezTo>
                <a:cubicBezTo>
                  <a:pt x="91" y="3232"/>
                  <a:pt x="81" y="3226"/>
                  <a:pt x="73" y="3220"/>
                </a:cubicBezTo>
                <a:cubicBezTo>
                  <a:pt x="64" y="3213"/>
                  <a:pt x="56" y="3205"/>
                  <a:pt x="48" y="3197"/>
                </a:cubicBezTo>
                <a:cubicBezTo>
                  <a:pt x="40" y="3188"/>
                  <a:pt x="34" y="3179"/>
                  <a:pt x="28" y="3168"/>
                </a:cubicBezTo>
                <a:cubicBezTo>
                  <a:pt x="22" y="3158"/>
                  <a:pt x="17" y="3148"/>
                  <a:pt x="13" y="3136"/>
                </a:cubicBezTo>
                <a:cubicBezTo>
                  <a:pt x="9" y="3125"/>
                  <a:pt x="6" y="3113"/>
                  <a:pt x="4" y="3101"/>
                </a:cubicBezTo>
                <a:cubicBezTo>
                  <a:pt x="1" y="3090"/>
                  <a:pt x="0" y="3077"/>
                  <a:pt x="0" y="3065"/>
                </a:cubicBezTo>
                <a:close/>
              </a:path>
            </a:pathLst>
          </a:custGeom>
          <a:solidFill>
            <a:srgbClr val="1E3A8A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reeform: Shape 191"/>
          <p:cNvSpPr/>
          <p:nvPr/>
        </p:nvSpPr>
        <p:spPr>
          <a:xfrm>
            <a:off x="7086240" y="4888440"/>
            <a:ext cx="67320" cy="1170360"/>
          </a:xfrm>
          <a:custGeom>
            <a:avLst/>
            <a:gdLst/>
            <a:ahLst/>
            <a:cxnLst/>
            <a:rect l="0" t="0" r="r" b="b"/>
            <a:pathLst>
              <a:path w="187" h="3251">
                <a:moveTo>
                  <a:pt x="0" y="0"/>
                </a:moveTo>
                <a:lnTo>
                  <a:pt x="187" y="0"/>
                </a:lnTo>
                <a:lnTo>
                  <a:pt x="187" y="3251"/>
                </a:lnTo>
                <a:lnTo>
                  <a:pt x="0" y="325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3" name="Picture 192"/>
          <p:cNvPicPr/>
          <p:nvPr/>
        </p:nvPicPr>
        <p:blipFill>
          <a:blip r:embed="rId5"/>
          <a:stretch/>
        </p:blipFill>
        <p:spPr>
          <a:xfrm>
            <a:off x="7270200" y="51058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193"/>
          <p:cNvSpPr txBox="1"/>
          <p:nvPr/>
        </p:nvSpPr>
        <p:spPr>
          <a:xfrm>
            <a:off x="3994560" y="5741280"/>
            <a:ext cx="1359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improving consistency.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7504200" y="5083200"/>
            <a:ext cx="1604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Improved Visibility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7270200" y="5406840"/>
            <a:ext cx="2593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Provides real-time insights into patch status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7" name="Picture 196"/>
          <p:cNvPicPr/>
          <p:nvPr/>
        </p:nvPicPr>
        <p:blipFill>
          <a:blip r:embed="rId6"/>
          <a:stretch/>
        </p:blipFill>
        <p:spPr>
          <a:xfrm>
            <a:off x="534960" y="62841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Box 197"/>
          <p:cNvSpPr txBox="1"/>
          <p:nvPr/>
        </p:nvSpPr>
        <p:spPr>
          <a:xfrm>
            <a:off x="7270200" y="5573880"/>
            <a:ext cx="2324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and vulnerability remediation progress.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718560" y="627588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0" name="Picture 199"/>
          <p:cNvPicPr/>
          <p:nvPr/>
        </p:nvPicPr>
        <p:blipFill>
          <a:blip r:embed="rId7"/>
          <a:stretch/>
        </p:blipFill>
        <p:spPr>
          <a:xfrm>
            <a:off x="-835560" y="-83556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200"/>
          <p:cNvPicPr/>
          <p:nvPr/>
        </p:nvPicPr>
        <p:blipFill>
          <a:blip r:embed="rId8"/>
          <a:stretch/>
        </p:blipFill>
        <p:spPr>
          <a:xfrm>
            <a:off x="8607240" y="453780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201"/>
          <p:cNvPicPr/>
          <p:nvPr/>
        </p:nvPicPr>
        <p:blipFill>
          <a:blip r:embed="rId9"/>
          <a:stretch/>
        </p:blipFill>
        <p:spPr>
          <a:xfrm>
            <a:off x="417960" y="125352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202"/>
          <p:cNvPicPr/>
          <p:nvPr/>
        </p:nvPicPr>
        <p:blipFill>
          <a:blip r:embed="rId10"/>
          <a:stretch/>
        </p:blipFill>
        <p:spPr>
          <a:xfrm>
            <a:off x="6936120" y="535680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203"/>
          <p:cNvPicPr/>
          <p:nvPr/>
        </p:nvPicPr>
        <p:blipFill>
          <a:blip r:embed="rId11"/>
          <a:stretch/>
        </p:blipFill>
        <p:spPr>
          <a:xfrm>
            <a:off x="0" y="0"/>
            <a:ext cx="10696320" cy="662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Picture 204"/>
          <p:cNvPicPr/>
          <p:nvPr/>
        </p:nvPicPr>
        <p:blipFill>
          <a:blip r:embed="rId12"/>
          <a:stretch/>
        </p:blipFill>
        <p:spPr>
          <a:xfrm>
            <a:off x="534960" y="2481840"/>
            <a:ext cx="9626400" cy="213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Picture 205"/>
          <p:cNvPicPr/>
          <p:nvPr/>
        </p:nvPicPr>
        <p:blipFill>
          <a:blip r:embed="rId13"/>
          <a:stretch/>
        </p:blipFill>
        <p:spPr>
          <a:xfrm>
            <a:off x="8607240" y="4784040"/>
            <a:ext cx="1002600" cy="99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Box 206"/>
          <p:cNvSpPr txBox="1"/>
          <p:nvPr/>
        </p:nvSpPr>
        <p:spPr>
          <a:xfrm>
            <a:off x="9898920" y="6275880"/>
            <a:ext cx="26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4/10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reeform: Shape 207"/>
          <p:cNvSpPr/>
          <p:nvPr/>
        </p:nvSpPr>
        <p:spPr>
          <a:xfrm>
            <a:off x="1086120" y="2740680"/>
            <a:ext cx="1721880" cy="1621800"/>
          </a:xfrm>
          <a:custGeom>
            <a:avLst/>
            <a:gdLst/>
            <a:ahLst/>
            <a:cxnLst/>
            <a:rect l="0" t="0" r="r" b="b"/>
            <a:pathLst>
              <a:path w="4783" h="4505">
                <a:moveTo>
                  <a:pt x="0" y="4319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7" y="126"/>
                  <a:pt x="11" y="115"/>
                </a:cubicBezTo>
                <a:cubicBezTo>
                  <a:pt x="14" y="104"/>
                  <a:pt x="19" y="93"/>
                  <a:pt x="24" y="83"/>
                </a:cubicBezTo>
                <a:cubicBezTo>
                  <a:pt x="29" y="73"/>
                  <a:pt x="35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70" y="25"/>
                  <a:pt x="78" y="19"/>
                  <a:pt x="86" y="15"/>
                </a:cubicBezTo>
                <a:cubicBezTo>
                  <a:pt x="95" y="10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4597" y="0"/>
                </a:lnTo>
                <a:cubicBezTo>
                  <a:pt x="4610" y="0"/>
                  <a:pt x="4622" y="2"/>
                  <a:pt x="4634" y="4"/>
                </a:cubicBezTo>
                <a:cubicBezTo>
                  <a:pt x="4646" y="6"/>
                  <a:pt x="4657" y="10"/>
                  <a:pt x="4668" y="15"/>
                </a:cubicBezTo>
                <a:cubicBezTo>
                  <a:pt x="4680" y="19"/>
                  <a:pt x="4690" y="25"/>
                  <a:pt x="4701" y="32"/>
                </a:cubicBezTo>
                <a:cubicBezTo>
                  <a:pt x="4711" y="38"/>
                  <a:pt x="4720" y="46"/>
                  <a:pt x="4729" y="55"/>
                </a:cubicBezTo>
                <a:cubicBezTo>
                  <a:pt x="4737" y="63"/>
                  <a:pt x="4745" y="73"/>
                  <a:pt x="4752" y="83"/>
                </a:cubicBezTo>
                <a:cubicBezTo>
                  <a:pt x="4759" y="93"/>
                  <a:pt x="4764" y="104"/>
                  <a:pt x="4769" y="115"/>
                </a:cubicBezTo>
                <a:cubicBezTo>
                  <a:pt x="4774" y="126"/>
                  <a:pt x="4777" y="138"/>
                  <a:pt x="4780" y="150"/>
                </a:cubicBezTo>
                <a:cubicBezTo>
                  <a:pt x="4782" y="162"/>
                  <a:pt x="4783" y="174"/>
                  <a:pt x="4783" y="186"/>
                </a:cubicBezTo>
                <a:lnTo>
                  <a:pt x="4783" y="4319"/>
                </a:lnTo>
                <a:cubicBezTo>
                  <a:pt x="4783" y="4331"/>
                  <a:pt x="4782" y="4343"/>
                  <a:pt x="4780" y="4355"/>
                </a:cubicBezTo>
                <a:cubicBezTo>
                  <a:pt x="4777" y="4367"/>
                  <a:pt x="4774" y="4379"/>
                  <a:pt x="4769" y="4390"/>
                </a:cubicBezTo>
                <a:cubicBezTo>
                  <a:pt x="4764" y="4401"/>
                  <a:pt x="4759" y="4412"/>
                  <a:pt x="4752" y="4422"/>
                </a:cubicBezTo>
                <a:cubicBezTo>
                  <a:pt x="4745" y="4432"/>
                  <a:pt x="4737" y="4442"/>
                  <a:pt x="4729" y="4450"/>
                </a:cubicBezTo>
                <a:cubicBezTo>
                  <a:pt x="4720" y="4459"/>
                  <a:pt x="4711" y="4467"/>
                  <a:pt x="4701" y="4473"/>
                </a:cubicBezTo>
                <a:cubicBezTo>
                  <a:pt x="4690" y="4480"/>
                  <a:pt x="4680" y="4486"/>
                  <a:pt x="4668" y="4491"/>
                </a:cubicBezTo>
                <a:cubicBezTo>
                  <a:pt x="4657" y="4495"/>
                  <a:pt x="4646" y="4499"/>
                  <a:pt x="4634" y="4501"/>
                </a:cubicBezTo>
                <a:cubicBezTo>
                  <a:pt x="4622" y="4504"/>
                  <a:pt x="4610" y="4505"/>
                  <a:pt x="4597" y="4505"/>
                </a:cubicBezTo>
                <a:lnTo>
                  <a:pt x="139" y="4505"/>
                </a:lnTo>
                <a:cubicBezTo>
                  <a:pt x="130" y="4505"/>
                  <a:pt x="121" y="4504"/>
                  <a:pt x="112" y="4501"/>
                </a:cubicBezTo>
                <a:cubicBezTo>
                  <a:pt x="103" y="4499"/>
                  <a:pt x="95" y="4495"/>
                  <a:pt x="86" y="4491"/>
                </a:cubicBezTo>
                <a:cubicBezTo>
                  <a:pt x="78" y="4486"/>
                  <a:pt x="70" y="4480"/>
                  <a:pt x="62" y="4473"/>
                </a:cubicBezTo>
                <a:cubicBezTo>
                  <a:pt x="54" y="4467"/>
                  <a:pt x="47" y="4459"/>
                  <a:pt x="41" y="4450"/>
                </a:cubicBezTo>
                <a:cubicBezTo>
                  <a:pt x="35" y="4442"/>
                  <a:pt x="29" y="4432"/>
                  <a:pt x="24" y="4422"/>
                </a:cubicBezTo>
                <a:cubicBezTo>
                  <a:pt x="19" y="4412"/>
                  <a:pt x="14" y="4401"/>
                  <a:pt x="11" y="4390"/>
                </a:cubicBezTo>
                <a:cubicBezTo>
                  <a:pt x="7" y="4379"/>
                  <a:pt x="5" y="4367"/>
                  <a:pt x="3" y="4355"/>
                </a:cubicBezTo>
                <a:cubicBezTo>
                  <a:pt x="1" y="4343"/>
                  <a:pt x="0" y="4331"/>
                  <a:pt x="0" y="4319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reeform: Shape 208"/>
          <p:cNvSpPr/>
          <p:nvPr/>
        </p:nvSpPr>
        <p:spPr>
          <a:xfrm>
            <a:off x="1069560" y="2740680"/>
            <a:ext cx="66960" cy="1621800"/>
          </a:xfrm>
          <a:custGeom>
            <a:avLst/>
            <a:gdLst/>
            <a:ahLst/>
            <a:cxnLst/>
            <a:rect l="0" t="0" r="r" b="b"/>
            <a:pathLst>
              <a:path w="186" h="4505">
                <a:moveTo>
                  <a:pt x="0" y="0"/>
                </a:moveTo>
                <a:lnTo>
                  <a:pt x="186" y="0"/>
                </a:lnTo>
                <a:lnTo>
                  <a:pt x="186" y="4505"/>
                </a:lnTo>
                <a:lnTo>
                  <a:pt x="0" y="45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" name="Picture 209"/>
          <p:cNvPicPr/>
          <p:nvPr/>
        </p:nvPicPr>
        <p:blipFill>
          <a:blip r:embed="rId14"/>
          <a:stretch/>
        </p:blipFill>
        <p:spPr>
          <a:xfrm>
            <a:off x="1830240" y="29080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Box 210"/>
          <p:cNvSpPr txBox="1"/>
          <p:nvPr/>
        </p:nvSpPr>
        <p:spPr>
          <a:xfrm>
            <a:off x="8609040" y="5862240"/>
            <a:ext cx="1021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Continuous Cycle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469880" y="3246120"/>
            <a:ext cx="9745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1. Identify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1591560" y="3543480"/>
            <a:ext cx="730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Discovery of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1294560" y="3710520"/>
            <a:ext cx="1329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vulnerabilities through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1451160" y="3877560"/>
            <a:ext cx="1012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CVE tracking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reeform: Shape 215"/>
          <p:cNvSpPr/>
          <p:nvPr/>
        </p:nvSpPr>
        <p:spPr>
          <a:xfrm>
            <a:off x="3359160" y="2824560"/>
            <a:ext cx="1721880" cy="1454400"/>
          </a:xfrm>
          <a:custGeom>
            <a:avLst/>
            <a:gdLst/>
            <a:ahLst/>
            <a:cxnLst/>
            <a:rect l="0" t="0" r="r" b="b"/>
            <a:pathLst>
              <a:path w="4783" h="4040">
                <a:moveTo>
                  <a:pt x="0" y="385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9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5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4597" y="0"/>
                </a:lnTo>
                <a:cubicBezTo>
                  <a:pt x="4610" y="0"/>
                  <a:pt x="4622" y="1"/>
                  <a:pt x="4634" y="3"/>
                </a:cubicBezTo>
                <a:cubicBezTo>
                  <a:pt x="4646" y="5"/>
                  <a:pt x="4657" y="9"/>
                  <a:pt x="4668" y="14"/>
                </a:cubicBezTo>
                <a:cubicBezTo>
                  <a:pt x="4680" y="18"/>
                  <a:pt x="4690" y="24"/>
                  <a:pt x="4701" y="31"/>
                </a:cubicBezTo>
                <a:cubicBezTo>
                  <a:pt x="4711" y="38"/>
                  <a:pt x="4720" y="45"/>
                  <a:pt x="4729" y="54"/>
                </a:cubicBezTo>
                <a:cubicBezTo>
                  <a:pt x="4737" y="63"/>
                  <a:pt x="4745" y="72"/>
                  <a:pt x="4752" y="82"/>
                </a:cubicBezTo>
                <a:cubicBezTo>
                  <a:pt x="4759" y="92"/>
                  <a:pt x="4764" y="103"/>
                  <a:pt x="4769" y="114"/>
                </a:cubicBezTo>
                <a:cubicBezTo>
                  <a:pt x="4774" y="125"/>
                  <a:pt x="4777" y="137"/>
                  <a:pt x="4779" y="149"/>
                </a:cubicBezTo>
                <a:cubicBezTo>
                  <a:pt x="4782" y="161"/>
                  <a:pt x="4783" y="173"/>
                  <a:pt x="4783" y="185"/>
                </a:cubicBezTo>
                <a:lnTo>
                  <a:pt x="4783" y="3854"/>
                </a:lnTo>
                <a:cubicBezTo>
                  <a:pt x="4783" y="3866"/>
                  <a:pt x="4782" y="3878"/>
                  <a:pt x="4779" y="3890"/>
                </a:cubicBezTo>
                <a:cubicBezTo>
                  <a:pt x="4777" y="3902"/>
                  <a:pt x="4774" y="3914"/>
                  <a:pt x="4769" y="3925"/>
                </a:cubicBezTo>
                <a:cubicBezTo>
                  <a:pt x="4764" y="3936"/>
                  <a:pt x="4759" y="3947"/>
                  <a:pt x="4752" y="3957"/>
                </a:cubicBezTo>
                <a:cubicBezTo>
                  <a:pt x="4745" y="3967"/>
                  <a:pt x="4737" y="3977"/>
                  <a:pt x="4729" y="3985"/>
                </a:cubicBezTo>
                <a:cubicBezTo>
                  <a:pt x="4720" y="3994"/>
                  <a:pt x="4711" y="4002"/>
                  <a:pt x="4701" y="4008"/>
                </a:cubicBezTo>
                <a:cubicBezTo>
                  <a:pt x="4690" y="4015"/>
                  <a:pt x="4680" y="4021"/>
                  <a:pt x="4668" y="4025"/>
                </a:cubicBezTo>
                <a:cubicBezTo>
                  <a:pt x="4657" y="4030"/>
                  <a:pt x="4646" y="4034"/>
                  <a:pt x="4634" y="4036"/>
                </a:cubicBezTo>
                <a:cubicBezTo>
                  <a:pt x="4622" y="4038"/>
                  <a:pt x="4610" y="4040"/>
                  <a:pt x="4597" y="4040"/>
                </a:cubicBezTo>
                <a:lnTo>
                  <a:pt x="139" y="4040"/>
                </a:lnTo>
                <a:cubicBezTo>
                  <a:pt x="130" y="4040"/>
                  <a:pt x="121" y="4038"/>
                  <a:pt x="112" y="4036"/>
                </a:cubicBezTo>
                <a:cubicBezTo>
                  <a:pt x="103" y="4034"/>
                  <a:pt x="95" y="4030"/>
                  <a:pt x="86" y="4025"/>
                </a:cubicBezTo>
                <a:cubicBezTo>
                  <a:pt x="78" y="4021"/>
                  <a:pt x="70" y="4015"/>
                  <a:pt x="62" y="4008"/>
                </a:cubicBezTo>
                <a:cubicBezTo>
                  <a:pt x="54" y="4002"/>
                  <a:pt x="47" y="3994"/>
                  <a:pt x="41" y="3985"/>
                </a:cubicBezTo>
                <a:cubicBezTo>
                  <a:pt x="34" y="3977"/>
                  <a:pt x="29" y="3967"/>
                  <a:pt x="24" y="3957"/>
                </a:cubicBezTo>
                <a:cubicBezTo>
                  <a:pt x="19" y="3947"/>
                  <a:pt x="14" y="3936"/>
                  <a:pt x="11" y="3925"/>
                </a:cubicBezTo>
                <a:cubicBezTo>
                  <a:pt x="7" y="3914"/>
                  <a:pt x="5" y="3902"/>
                  <a:pt x="3" y="3890"/>
                </a:cubicBezTo>
                <a:cubicBezTo>
                  <a:pt x="1" y="3878"/>
                  <a:pt x="0" y="3866"/>
                  <a:pt x="0" y="3854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reeform: Shape 216"/>
          <p:cNvSpPr/>
          <p:nvPr/>
        </p:nvSpPr>
        <p:spPr>
          <a:xfrm>
            <a:off x="3342600" y="2824560"/>
            <a:ext cx="66960" cy="1454400"/>
          </a:xfrm>
          <a:custGeom>
            <a:avLst/>
            <a:gdLst/>
            <a:ahLst/>
            <a:cxnLst/>
            <a:rect l="0" t="0" r="r" b="b"/>
            <a:pathLst>
              <a:path w="186" h="4040">
                <a:moveTo>
                  <a:pt x="0" y="0"/>
                </a:moveTo>
                <a:lnTo>
                  <a:pt x="186" y="0"/>
                </a:lnTo>
                <a:lnTo>
                  <a:pt x="186" y="4040"/>
                </a:lnTo>
                <a:lnTo>
                  <a:pt x="0" y="404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8" name="Picture 217"/>
          <p:cNvPicPr/>
          <p:nvPr/>
        </p:nvPicPr>
        <p:blipFill>
          <a:blip r:embed="rId15"/>
          <a:stretch/>
        </p:blipFill>
        <p:spPr>
          <a:xfrm>
            <a:off x="4103280" y="299160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Box 218"/>
          <p:cNvSpPr txBox="1"/>
          <p:nvPr/>
        </p:nvSpPr>
        <p:spPr>
          <a:xfrm>
            <a:off x="1326240" y="4044600"/>
            <a:ext cx="1263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security assessments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3749400" y="3329640"/>
            <a:ext cx="9615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2. Acquire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3692520" y="3627000"/>
            <a:ext cx="1076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Obtaining patches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3710160" y="3794040"/>
            <a:ext cx="1043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from vendors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reeform: Shape 222"/>
          <p:cNvSpPr/>
          <p:nvPr/>
        </p:nvSpPr>
        <p:spPr>
          <a:xfrm>
            <a:off x="5632200" y="2657160"/>
            <a:ext cx="1721880" cy="1788840"/>
          </a:xfrm>
          <a:custGeom>
            <a:avLst/>
            <a:gdLst/>
            <a:ahLst/>
            <a:cxnLst/>
            <a:rect l="0" t="0" r="r" b="b"/>
            <a:pathLst>
              <a:path w="4783" h="4969">
                <a:moveTo>
                  <a:pt x="0" y="4783"/>
                </a:moveTo>
                <a:lnTo>
                  <a:pt x="0" y="187"/>
                </a:lnTo>
                <a:cubicBezTo>
                  <a:pt x="0" y="175"/>
                  <a:pt x="1" y="163"/>
                  <a:pt x="3" y="151"/>
                </a:cubicBezTo>
                <a:cubicBezTo>
                  <a:pt x="5" y="139"/>
                  <a:pt x="7" y="127"/>
                  <a:pt x="11" y="116"/>
                </a:cubicBezTo>
                <a:cubicBezTo>
                  <a:pt x="14" y="105"/>
                  <a:pt x="18" y="94"/>
                  <a:pt x="24" y="84"/>
                </a:cubicBezTo>
                <a:cubicBezTo>
                  <a:pt x="29" y="74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4597" y="0"/>
                </a:lnTo>
                <a:cubicBezTo>
                  <a:pt x="4609" y="0"/>
                  <a:pt x="4622" y="1"/>
                  <a:pt x="4634" y="4"/>
                </a:cubicBezTo>
                <a:cubicBezTo>
                  <a:pt x="4645" y="6"/>
                  <a:pt x="4657" y="10"/>
                  <a:pt x="4668" y="14"/>
                </a:cubicBezTo>
                <a:cubicBezTo>
                  <a:pt x="4680" y="19"/>
                  <a:pt x="4690" y="25"/>
                  <a:pt x="4700" y="32"/>
                </a:cubicBezTo>
                <a:cubicBezTo>
                  <a:pt x="4711" y="38"/>
                  <a:pt x="4720" y="46"/>
                  <a:pt x="4729" y="55"/>
                </a:cubicBezTo>
                <a:cubicBezTo>
                  <a:pt x="4737" y="63"/>
                  <a:pt x="4745" y="74"/>
                  <a:pt x="4752" y="84"/>
                </a:cubicBezTo>
                <a:cubicBezTo>
                  <a:pt x="4758" y="94"/>
                  <a:pt x="4764" y="105"/>
                  <a:pt x="4769" y="116"/>
                </a:cubicBezTo>
                <a:cubicBezTo>
                  <a:pt x="4774" y="127"/>
                  <a:pt x="4777" y="139"/>
                  <a:pt x="4779" y="151"/>
                </a:cubicBezTo>
                <a:cubicBezTo>
                  <a:pt x="4782" y="163"/>
                  <a:pt x="4783" y="175"/>
                  <a:pt x="4783" y="187"/>
                </a:cubicBezTo>
                <a:lnTo>
                  <a:pt x="4783" y="4783"/>
                </a:lnTo>
                <a:cubicBezTo>
                  <a:pt x="4783" y="4795"/>
                  <a:pt x="4782" y="4807"/>
                  <a:pt x="4779" y="4819"/>
                </a:cubicBezTo>
                <a:cubicBezTo>
                  <a:pt x="4777" y="4831"/>
                  <a:pt x="4774" y="4843"/>
                  <a:pt x="4769" y="4854"/>
                </a:cubicBezTo>
                <a:cubicBezTo>
                  <a:pt x="4764" y="4865"/>
                  <a:pt x="4758" y="4876"/>
                  <a:pt x="4752" y="4886"/>
                </a:cubicBezTo>
                <a:cubicBezTo>
                  <a:pt x="4745" y="4896"/>
                  <a:pt x="4737" y="4906"/>
                  <a:pt x="4729" y="4914"/>
                </a:cubicBezTo>
                <a:cubicBezTo>
                  <a:pt x="4720" y="4923"/>
                  <a:pt x="4711" y="4931"/>
                  <a:pt x="4700" y="4938"/>
                </a:cubicBezTo>
                <a:cubicBezTo>
                  <a:pt x="4690" y="4944"/>
                  <a:pt x="4680" y="4950"/>
                  <a:pt x="4668" y="4955"/>
                </a:cubicBezTo>
                <a:cubicBezTo>
                  <a:pt x="4657" y="4959"/>
                  <a:pt x="4645" y="4963"/>
                  <a:pt x="4634" y="4965"/>
                </a:cubicBezTo>
                <a:cubicBezTo>
                  <a:pt x="4622" y="4968"/>
                  <a:pt x="4609" y="4969"/>
                  <a:pt x="4597" y="4969"/>
                </a:cubicBezTo>
                <a:lnTo>
                  <a:pt x="139" y="4969"/>
                </a:lnTo>
                <a:cubicBezTo>
                  <a:pt x="130" y="4969"/>
                  <a:pt x="121" y="4968"/>
                  <a:pt x="112" y="4965"/>
                </a:cubicBezTo>
                <a:cubicBezTo>
                  <a:pt x="103" y="4963"/>
                  <a:pt x="95" y="4959"/>
                  <a:pt x="86" y="4955"/>
                </a:cubicBezTo>
                <a:cubicBezTo>
                  <a:pt x="78" y="4950"/>
                  <a:pt x="70" y="4944"/>
                  <a:pt x="62" y="4938"/>
                </a:cubicBezTo>
                <a:cubicBezTo>
                  <a:pt x="54" y="4931"/>
                  <a:pt x="47" y="4923"/>
                  <a:pt x="41" y="4914"/>
                </a:cubicBezTo>
                <a:cubicBezTo>
                  <a:pt x="34" y="4906"/>
                  <a:pt x="29" y="4896"/>
                  <a:pt x="24" y="4886"/>
                </a:cubicBezTo>
                <a:cubicBezTo>
                  <a:pt x="18" y="4876"/>
                  <a:pt x="14" y="4865"/>
                  <a:pt x="11" y="4854"/>
                </a:cubicBezTo>
                <a:cubicBezTo>
                  <a:pt x="7" y="4843"/>
                  <a:pt x="5" y="4831"/>
                  <a:pt x="3" y="4819"/>
                </a:cubicBezTo>
                <a:cubicBezTo>
                  <a:pt x="1" y="4807"/>
                  <a:pt x="0" y="4795"/>
                  <a:pt x="0" y="4783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reeform: Shape 223"/>
          <p:cNvSpPr/>
          <p:nvPr/>
        </p:nvSpPr>
        <p:spPr>
          <a:xfrm>
            <a:off x="5615640" y="2657160"/>
            <a:ext cx="66960" cy="1788840"/>
          </a:xfrm>
          <a:custGeom>
            <a:avLst/>
            <a:gdLst/>
            <a:ahLst/>
            <a:cxnLst/>
            <a:rect l="0" t="0" r="r" b="b"/>
            <a:pathLst>
              <a:path w="186" h="4969">
                <a:moveTo>
                  <a:pt x="0" y="0"/>
                </a:moveTo>
                <a:lnTo>
                  <a:pt x="186" y="0"/>
                </a:lnTo>
                <a:lnTo>
                  <a:pt x="186" y="4969"/>
                </a:lnTo>
                <a:lnTo>
                  <a:pt x="0" y="49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5" name="Picture 224"/>
          <p:cNvPicPr/>
          <p:nvPr/>
        </p:nvPicPr>
        <p:blipFill>
          <a:blip r:embed="rId16"/>
          <a:stretch/>
        </p:blipFill>
        <p:spPr>
          <a:xfrm>
            <a:off x="6376320" y="282456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Box 225"/>
          <p:cNvSpPr txBox="1"/>
          <p:nvPr/>
        </p:nvSpPr>
        <p:spPr>
          <a:xfrm>
            <a:off x="3679560" y="3961080"/>
            <a:ext cx="1101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security advisories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6190200" y="3162600"/>
            <a:ext cx="647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3. Test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6061320" y="3459600"/>
            <a:ext cx="894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Verifying patch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5992200" y="3627000"/>
            <a:ext cx="1022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compatibility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TextBox 229"/>
          <p:cNvSpPr txBox="1"/>
          <p:nvPr/>
        </p:nvSpPr>
        <p:spPr>
          <a:xfrm>
            <a:off x="6041160" y="3794040"/>
            <a:ext cx="923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eﬀectiveness in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6209280" y="3961080"/>
            <a:ext cx="589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controlled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reeform: Shape 231"/>
          <p:cNvSpPr/>
          <p:nvPr/>
        </p:nvSpPr>
        <p:spPr>
          <a:xfrm>
            <a:off x="7905240" y="2740680"/>
            <a:ext cx="1721880" cy="1621800"/>
          </a:xfrm>
          <a:custGeom>
            <a:avLst/>
            <a:gdLst/>
            <a:ahLst/>
            <a:cxnLst/>
            <a:rect l="0" t="0" r="r" b="b"/>
            <a:pathLst>
              <a:path w="4783" h="4505">
                <a:moveTo>
                  <a:pt x="0" y="4319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7" y="126"/>
                  <a:pt x="11" y="115"/>
                </a:cubicBezTo>
                <a:cubicBezTo>
                  <a:pt x="14" y="104"/>
                  <a:pt x="18" y="93"/>
                  <a:pt x="24" y="83"/>
                </a:cubicBezTo>
                <a:cubicBezTo>
                  <a:pt x="29" y="73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70" y="25"/>
                  <a:pt x="78" y="19"/>
                  <a:pt x="86" y="15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4597" y="0"/>
                </a:lnTo>
                <a:cubicBezTo>
                  <a:pt x="4609" y="0"/>
                  <a:pt x="4622" y="2"/>
                  <a:pt x="4633" y="4"/>
                </a:cubicBezTo>
                <a:cubicBezTo>
                  <a:pt x="4645" y="6"/>
                  <a:pt x="4657" y="10"/>
                  <a:pt x="4668" y="15"/>
                </a:cubicBezTo>
                <a:cubicBezTo>
                  <a:pt x="4680" y="19"/>
                  <a:pt x="4690" y="25"/>
                  <a:pt x="4700" y="32"/>
                </a:cubicBezTo>
                <a:cubicBezTo>
                  <a:pt x="4711" y="38"/>
                  <a:pt x="4720" y="46"/>
                  <a:pt x="4729" y="55"/>
                </a:cubicBezTo>
                <a:cubicBezTo>
                  <a:pt x="4737" y="63"/>
                  <a:pt x="4745" y="73"/>
                  <a:pt x="4752" y="83"/>
                </a:cubicBezTo>
                <a:cubicBezTo>
                  <a:pt x="4758" y="93"/>
                  <a:pt x="4764" y="104"/>
                  <a:pt x="4769" y="115"/>
                </a:cubicBezTo>
                <a:cubicBezTo>
                  <a:pt x="4773" y="126"/>
                  <a:pt x="4777" y="138"/>
                  <a:pt x="4779" y="150"/>
                </a:cubicBezTo>
                <a:cubicBezTo>
                  <a:pt x="4782" y="162"/>
                  <a:pt x="4783" y="174"/>
                  <a:pt x="4783" y="186"/>
                </a:cubicBezTo>
                <a:lnTo>
                  <a:pt x="4783" y="4319"/>
                </a:lnTo>
                <a:cubicBezTo>
                  <a:pt x="4783" y="4331"/>
                  <a:pt x="4782" y="4343"/>
                  <a:pt x="4779" y="4355"/>
                </a:cubicBezTo>
                <a:cubicBezTo>
                  <a:pt x="4777" y="4367"/>
                  <a:pt x="4773" y="4379"/>
                  <a:pt x="4769" y="4390"/>
                </a:cubicBezTo>
                <a:cubicBezTo>
                  <a:pt x="4764" y="4401"/>
                  <a:pt x="4758" y="4412"/>
                  <a:pt x="4752" y="4422"/>
                </a:cubicBezTo>
                <a:cubicBezTo>
                  <a:pt x="4745" y="4432"/>
                  <a:pt x="4737" y="4442"/>
                  <a:pt x="4729" y="4450"/>
                </a:cubicBezTo>
                <a:cubicBezTo>
                  <a:pt x="4720" y="4459"/>
                  <a:pt x="4711" y="4467"/>
                  <a:pt x="4700" y="4473"/>
                </a:cubicBezTo>
                <a:cubicBezTo>
                  <a:pt x="4690" y="4480"/>
                  <a:pt x="4680" y="4486"/>
                  <a:pt x="4668" y="4491"/>
                </a:cubicBezTo>
                <a:cubicBezTo>
                  <a:pt x="4657" y="4495"/>
                  <a:pt x="4645" y="4499"/>
                  <a:pt x="4633" y="4501"/>
                </a:cubicBezTo>
                <a:cubicBezTo>
                  <a:pt x="4622" y="4504"/>
                  <a:pt x="4609" y="4505"/>
                  <a:pt x="4597" y="4505"/>
                </a:cubicBezTo>
                <a:lnTo>
                  <a:pt x="139" y="4505"/>
                </a:lnTo>
                <a:cubicBezTo>
                  <a:pt x="130" y="4505"/>
                  <a:pt x="121" y="4504"/>
                  <a:pt x="112" y="4501"/>
                </a:cubicBezTo>
                <a:cubicBezTo>
                  <a:pt x="103" y="4499"/>
                  <a:pt x="94" y="4495"/>
                  <a:pt x="86" y="4491"/>
                </a:cubicBezTo>
                <a:cubicBezTo>
                  <a:pt x="78" y="4486"/>
                  <a:pt x="70" y="4480"/>
                  <a:pt x="62" y="4473"/>
                </a:cubicBezTo>
                <a:cubicBezTo>
                  <a:pt x="54" y="4467"/>
                  <a:pt x="47" y="4459"/>
                  <a:pt x="41" y="4450"/>
                </a:cubicBezTo>
                <a:cubicBezTo>
                  <a:pt x="34" y="4442"/>
                  <a:pt x="29" y="4432"/>
                  <a:pt x="24" y="4422"/>
                </a:cubicBezTo>
                <a:cubicBezTo>
                  <a:pt x="18" y="4412"/>
                  <a:pt x="14" y="4401"/>
                  <a:pt x="11" y="4390"/>
                </a:cubicBezTo>
                <a:cubicBezTo>
                  <a:pt x="7" y="4379"/>
                  <a:pt x="5" y="4367"/>
                  <a:pt x="3" y="4355"/>
                </a:cubicBezTo>
                <a:cubicBezTo>
                  <a:pt x="1" y="4343"/>
                  <a:pt x="0" y="4331"/>
                  <a:pt x="0" y="4319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reeform: Shape 232"/>
          <p:cNvSpPr/>
          <p:nvPr/>
        </p:nvSpPr>
        <p:spPr>
          <a:xfrm>
            <a:off x="7888680" y="2740680"/>
            <a:ext cx="66960" cy="1621800"/>
          </a:xfrm>
          <a:custGeom>
            <a:avLst/>
            <a:gdLst/>
            <a:ahLst/>
            <a:cxnLst/>
            <a:rect l="0" t="0" r="r" b="b"/>
            <a:pathLst>
              <a:path w="186" h="4505">
                <a:moveTo>
                  <a:pt x="0" y="0"/>
                </a:moveTo>
                <a:lnTo>
                  <a:pt x="186" y="0"/>
                </a:lnTo>
                <a:lnTo>
                  <a:pt x="186" y="4505"/>
                </a:lnTo>
                <a:lnTo>
                  <a:pt x="0" y="45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4" name="Picture 233"/>
          <p:cNvPicPr/>
          <p:nvPr/>
        </p:nvPicPr>
        <p:blipFill>
          <a:blip r:embed="rId17"/>
          <a:stretch/>
        </p:blipFill>
        <p:spPr>
          <a:xfrm>
            <a:off x="8649360" y="2908080"/>
            <a:ext cx="25020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Box 234"/>
          <p:cNvSpPr txBox="1"/>
          <p:nvPr/>
        </p:nvSpPr>
        <p:spPr>
          <a:xfrm>
            <a:off x="6098400" y="4128120"/>
            <a:ext cx="811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environments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329320" y="3246120"/>
            <a:ext cx="8942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4. Deploy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191440" y="3543480"/>
            <a:ext cx="11703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Applying patches 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8460360" y="3710520"/>
            <a:ext cx="633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production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8228880" y="3877560"/>
            <a:ext cx="1098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environments with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8246520" y="4044600"/>
            <a:ext cx="1062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proper scheduling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240"/>
          <p:cNvPicPr/>
          <p:nvPr/>
        </p:nvPicPr>
        <p:blipFill>
          <a:blip r:embed="rId2"/>
          <a:stretch/>
        </p:blipFill>
        <p:spPr>
          <a:xfrm>
            <a:off x="0" y="0"/>
            <a:ext cx="10696320" cy="72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Freeform: Shape 241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534960" y="389520"/>
            <a:ext cx="454572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CVE Management Strategy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534960" y="1272600"/>
            <a:ext cx="8879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Common Vulnerabilities and Exposures (CVEs) are the cornerstone of modern vulnerability management, providing a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534960" y="1514880"/>
            <a:ext cx="89366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standardized catalog of known security vulnerabilities. Our system integrates directly with CVE databases and vendor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6" name="Picture 245"/>
          <p:cNvPicPr/>
          <p:nvPr/>
        </p:nvPicPr>
        <p:blipFill>
          <a:blip r:embed="rId3"/>
          <a:stretch/>
        </p:blipFill>
        <p:spPr>
          <a:xfrm>
            <a:off x="534960" y="2172600"/>
            <a:ext cx="9626400" cy="96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Freeform: Shape 246"/>
          <p:cNvSpPr/>
          <p:nvPr/>
        </p:nvSpPr>
        <p:spPr>
          <a:xfrm>
            <a:off x="551520" y="3442680"/>
            <a:ext cx="3058920" cy="1537920"/>
          </a:xfrm>
          <a:custGeom>
            <a:avLst/>
            <a:gdLst/>
            <a:ahLst/>
            <a:cxnLst/>
            <a:rect l="0" t="0" r="r" b="b"/>
            <a:pathLst>
              <a:path w="8497" h="4272">
                <a:moveTo>
                  <a:pt x="0" y="4087"/>
                </a:moveTo>
                <a:lnTo>
                  <a:pt x="0" y="186"/>
                </a:lnTo>
                <a:cubicBezTo>
                  <a:pt x="0" y="174"/>
                  <a:pt x="0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0" y="55"/>
                </a:cubicBezTo>
                <a:cubicBezTo>
                  <a:pt x="47" y="46"/>
                  <a:pt x="54" y="38"/>
                  <a:pt x="61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4"/>
                </a:cubicBezTo>
                <a:cubicBezTo>
                  <a:pt x="8359" y="6"/>
                  <a:pt x="8371" y="10"/>
                  <a:pt x="8382" y="14"/>
                </a:cubicBezTo>
                <a:cubicBezTo>
                  <a:pt x="8393" y="19"/>
                  <a:pt x="8404" y="25"/>
                  <a:pt x="8414" y="32"/>
                </a:cubicBezTo>
                <a:cubicBezTo>
                  <a:pt x="8424" y="38"/>
                  <a:pt x="8434" y="46"/>
                  <a:pt x="8442" y="55"/>
                </a:cubicBezTo>
                <a:cubicBezTo>
                  <a:pt x="8451" y="63"/>
                  <a:pt x="8458" y="73"/>
                  <a:pt x="8465" y="83"/>
                </a:cubicBezTo>
                <a:cubicBezTo>
                  <a:pt x="8472" y="93"/>
                  <a:pt x="8478" y="104"/>
                  <a:pt x="8482" y="115"/>
                </a:cubicBezTo>
                <a:cubicBezTo>
                  <a:pt x="8487" y="126"/>
                  <a:pt x="8491" y="138"/>
                  <a:pt x="8493" y="150"/>
                </a:cubicBezTo>
                <a:cubicBezTo>
                  <a:pt x="8495" y="162"/>
                  <a:pt x="8497" y="174"/>
                  <a:pt x="8497" y="186"/>
                </a:cubicBezTo>
                <a:lnTo>
                  <a:pt x="8497" y="4087"/>
                </a:lnTo>
                <a:cubicBezTo>
                  <a:pt x="8497" y="4099"/>
                  <a:pt x="8495" y="4111"/>
                  <a:pt x="8493" y="4123"/>
                </a:cubicBezTo>
                <a:cubicBezTo>
                  <a:pt x="8491" y="4135"/>
                  <a:pt x="8487" y="4147"/>
                  <a:pt x="8482" y="4158"/>
                </a:cubicBezTo>
                <a:cubicBezTo>
                  <a:pt x="8478" y="4169"/>
                  <a:pt x="8472" y="4180"/>
                  <a:pt x="8465" y="4190"/>
                </a:cubicBezTo>
                <a:cubicBezTo>
                  <a:pt x="8458" y="4200"/>
                  <a:pt x="8451" y="4209"/>
                  <a:pt x="8442" y="4218"/>
                </a:cubicBezTo>
                <a:cubicBezTo>
                  <a:pt x="8434" y="4227"/>
                  <a:pt x="8424" y="4234"/>
                  <a:pt x="8414" y="4241"/>
                </a:cubicBezTo>
                <a:cubicBezTo>
                  <a:pt x="8404" y="4248"/>
                  <a:pt x="8393" y="4254"/>
                  <a:pt x="8382" y="4258"/>
                </a:cubicBezTo>
                <a:cubicBezTo>
                  <a:pt x="8371" y="4263"/>
                  <a:pt x="8359" y="4267"/>
                  <a:pt x="8347" y="4269"/>
                </a:cubicBezTo>
                <a:cubicBezTo>
                  <a:pt x="8335" y="4271"/>
                  <a:pt x="8323" y="4272"/>
                  <a:pt x="8311" y="4272"/>
                </a:cubicBezTo>
                <a:lnTo>
                  <a:pt x="139" y="4272"/>
                </a:lnTo>
                <a:cubicBezTo>
                  <a:pt x="130" y="4272"/>
                  <a:pt x="121" y="4271"/>
                  <a:pt x="112" y="4269"/>
                </a:cubicBezTo>
                <a:cubicBezTo>
                  <a:pt x="103" y="4267"/>
                  <a:pt x="94" y="4263"/>
                  <a:pt x="86" y="4258"/>
                </a:cubicBezTo>
                <a:cubicBezTo>
                  <a:pt x="77" y="4254"/>
                  <a:pt x="69" y="4248"/>
                  <a:pt x="61" y="4241"/>
                </a:cubicBezTo>
                <a:cubicBezTo>
                  <a:pt x="54" y="4234"/>
                  <a:pt x="47" y="4227"/>
                  <a:pt x="40" y="4218"/>
                </a:cubicBezTo>
                <a:cubicBezTo>
                  <a:pt x="34" y="4209"/>
                  <a:pt x="28" y="4200"/>
                  <a:pt x="23" y="4190"/>
                </a:cubicBezTo>
                <a:cubicBezTo>
                  <a:pt x="18" y="4180"/>
                  <a:pt x="14" y="4169"/>
                  <a:pt x="10" y="4158"/>
                </a:cubicBezTo>
                <a:cubicBezTo>
                  <a:pt x="7" y="4147"/>
                  <a:pt x="4" y="4135"/>
                  <a:pt x="2" y="4123"/>
                </a:cubicBezTo>
                <a:cubicBezTo>
                  <a:pt x="0" y="4111"/>
                  <a:pt x="0" y="4099"/>
                  <a:pt x="0" y="4087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reeform: Shape 247"/>
          <p:cNvSpPr/>
          <p:nvPr/>
        </p:nvSpPr>
        <p:spPr>
          <a:xfrm>
            <a:off x="534600" y="3442680"/>
            <a:ext cx="67320" cy="1537920"/>
          </a:xfrm>
          <a:custGeom>
            <a:avLst/>
            <a:gdLst/>
            <a:ahLst/>
            <a:cxnLst/>
            <a:rect l="0" t="0" r="r" b="b"/>
            <a:pathLst>
              <a:path w="187" h="4272">
                <a:moveTo>
                  <a:pt x="0" y="0"/>
                </a:moveTo>
                <a:lnTo>
                  <a:pt x="187" y="0"/>
                </a:lnTo>
                <a:lnTo>
                  <a:pt x="187" y="4272"/>
                </a:lnTo>
                <a:lnTo>
                  <a:pt x="0" y="42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9" name="Picture 248"/>
          <p:cNvPicPr/>
          <p:nvPr/>
        </p:nvPicPr>
        <p:blipFill>
          <a:blip r:embed="rId4"/>
          <a:stretch/>
        </p:blipFill>
        <p:spPr>
          <a:xfrm>
            <a:off x="768960" y="3660120"/>
            <a:ext cx="1749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Box 249"/>
          <p:cNvSpPr txBox="1"/>
          <p:nvPr/>
        </p:nvSpPr>
        <p:spPr>
          <a:xfrm>
            <a:off x="534960" y="1765800"/>
            <a:ext cx="4218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advisories to create a comprehensive defense strategy.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1044720" y="3664080"/>
            <a:ext cx="1694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Direct Integration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768960" y="3995640"/>
            <a:ext cx="2059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Seamless integration with CVE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768960" y="4196160"/>
            <a:ext cx="2646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databases and security advisories from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768960" y="4397040"/>
            <a:ext cx="2426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vendors like Red Hat to ensure real-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reeform: Shape 254"/>
          <p:cNvSpPr/>
          <p:nvPr/>
        </p:nvSpPr>
        <p:spPr>
          <a:xfrm>
            <a:off x="3827160" y="3442680"/>
            <a:ext cx="3058920" cy="1537920"/>
          </a:xfrm>
          <a:custGeom>
            <a:avLst/>
            <a:gdLst/>
            <a:ahLst/>
            <a:cxnLst/>
            <a:rect l="0" t="0" r="r" b="b"/>
            <a:pathLst>
              <a:path w="8497" h="4272">
                <a:moveTo>
                  <a:pt x="0" y="40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7" y="126"/>
                  <a:pt x="11" y="115"/>
                </a:cubicBezTo>
                <a:cubicBezTo>
                  <a:pt x="14" y="104"/>
                  <a:pt x="18" y="93"/>
                  <a:pt x="24" y="83"/>
                </a:cubicBezTo>
                <a:cubicBezTo>
                  <a:pt x="29" y="73"/>
                  <a:pt x="34" y="63"/>
                  <a:pt x="41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4"/>
                </a:cubicBezTo>
                <a:cubicBezTo>
                  <a:pt x="8360" y="6"/>
                  <a:pt x="8371" y="10"/>
                  <a:pt x="8382" y="14"/>
                </a:cubicBezTo>
                <a:cubicBezTo>
                  <a:pt x="8394" y="19"/>
                  <a:pt x="8404" y="25"/>
                  <a:pt x="8415" y="32"/>
                </a:cubicBezTo>
                <a:cubicBezTo>
                  <a:pt x="8425" y="38"/>
                  <a:pt x="8434" y="46"/>
                  <a:pt x="8443" y="55"/>
                </a:cubicBezTo>
                <a:cubicBezTo>
                  <a:pt x="8451" y="63"/>
                  <a:pt x="8459" y="73"/>
                  <a:pt x="8466" y="83"/>
                </a:cubicBezTo>
                <a:cubicBezTo>
                  <a:pt x="8473" y="93"/>
                  <a:pt x="8478" y="104"/>
                  <a:pt x="8483" y="115"/>
                </a:cubicBezTo>
                <a:cubicBezTo>
                  <a:pt x="8488" y="126"/>
                  <a:pt x="8491" y="138"/>
                  <a:pt x="8493" y="150"/>
                </a:cubicBezTo>
                <a:cubicBezTo>
                  <a:pt x="8496" y="162"/>
                  <a:pt x="8497" y="174"/>
                  <a:pt x="8497" y="186"/>
                </a:cubicBezTo>
                <a:lnTo>
                  <a:pt x="8497" y="4087"/>
                </a:lnTo>
                <a:cubicBezTo>
                  <a:pt x="8497" y="4099"/>
                  <a:pt x="8496" y="4111"/>
                  <a:pt x="8493" y="4123"/>
                </a:cubicBezTo>
                <a:cubicBezTo>
                  <a:pt x="8491" y="4135"/>
                  <a:pt x="8488" y="4147"/>
                  <a:pt x="8483" y="4158"/>
                </a:cubicBezTo>
                <a:cubicBezTo>
                  <a:pt x="8478" y="4169"/>
                  <a:pt x="8473" y="4180"/>
                  <a:pt x="8466" y="4190"/>
                </a:cubicBezTo>
                <a:cubicBezTo>
                  <a:pt x="8459" y="4200"/>
                  <a:pt x="8451" y="4209"/>
                  <a:pt x="8443" y="4218"/>
                </a:cubicBezTo>
                <a:cubicBezTo>
                  <a:pt x="8434" y="4227"/>
                  <a:pt x="8425" y="4234"/>
                  <a:pt x="8415" y="4241"/>
                </a:cubicBezTo>
                <a:cubicBezTo>
                  <a:pt x="8404" y="4248"/>
                  <a:pt x="8394" y="4254"/>
                  <a:pt x="8382" y="4258"/>
                </a:cubicBezTo>
                <a:cubicBezTo>
                  <a:pt x="8371" y="4263"/>
                  <a:pt x="8360" y="4267"/>
                  <a:pt x="8348" y="4269"/>
                </a:cubicBezTo>
                <a:cubicBezTo>
                  <a:pt x="8336" y="4271"/>
                  <a:pt x="8324" y="4272"/>
                  <a:pt x="8311" y="4272"/>
                </a:cubicBezTo>
                <a:lnTo>
                  <a:pt x="139" y="4272"/>
                </a:lnTo>
                <a:cubicBezTo>
                  <a:pt x="130" y="4272"/>
                  <a:pt x="121" y="4271"/>
                  <a:pt x="112" y="4269"/>
                </a:cubicBezTo>
                <a:cubicBezTo>
                  <a:pt x="103" y="4267"/>
                  <a:pt x="95" y="4263"/>
                  <a:pt x="86" y="4258"/>
                </a:cubicBezTo>
                <a:cubicBezTo>
                  <a:pt x="78" y="4254"/>
                  <a:pt x="70" y="4248"/>
                  <a:pt x="62" y="4241"/>
                </a:cubicBezTo>
                <a:cubicBezTo>
                  <a:pt x="54" y="4234"/>
                  <a:pt x="47" y="4227"/>
                  <a:pt x="41" y="4218"/>
                </a:cubicBezTo>
                <a:cubicBezTo>
                  <a:pt x="34" y="4209"/>
                  <a:pt x="29" y="4200"/>
                  <a:pt x="24" y="4190"/>
                </a:cubicBezTo>
                <a:cubicBezTo>
                  <a:pt x="18" y="4180"/>
                  <a:pt x="14" y="4169"/>
                  <a:pt x="11" y="4158"/>
                </a:cubicBezTo>
                <a:cubicBezTo>
                  <a:pt x="7" y="4147"/>
                  <a:pt x="5" y="4135"/>
                  <a:pt x="3" y="4123"/>
                </a:cubicBezTo>
                <a:cubicBezTo>
                  <a:pt x="1" y="4111"/>
                  <a:pt x="0" y="4099"/>
                  <a:pt x="0" y="4087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reeform: Shape 255"/>
          <p:cNvSpPr/>
          <p:nvPr/>
        </p:nvSpPr>
        <p:spPr>
          <a:xfrm>
            <a:off x="3810600" y="3442680"/>
            <a:ext cx="66960" cy="1537920"/>
          </a:xfrm>
          <a:custGeom>
            <a:avLst/>
            <a:gdLst/>
            <a:ahLst/>
            <a:cxnLst/>
            <a:rect l="0" t="0" r="r" b="b"/>
            <a:pathLst>
              <a:path w="186" h="4272">
                <a:moveTo>
                  <a:pt x="151" y="14"/>
                </a:moveTo>
                <a:cubicBezTo>
                  <a:pt x="139" y="24"/>
                  <a:pt x="129" y="37"/>
                  <a:pt x="121" y="55"/>
                </a:cubicBezTo>
                <a:cubicBezTo>
                  <a:pt x="112" y="72"/>
                  <a:pt x="105" y="92"/>
                  <a:pt x="101" y="115"/>
                </a:cubicBezTo>
                <a:cubicBezTo>
                  <a:pt x="96" y="138"/>
                  <a:pt x="94" y="161"/>
                  <a:pt x="94" y="186"/>
                </a:cubicBezTo>
                <a:lnTo>
                  <a:pt x="94" y="4087"/>
                </a:lnTo>
                <a:cubicBezTo>
                  <a:pt x="94" y="4111"/>
                  <a:pt x="96" y="4135"/>
                  <a:pt x="101" y="4158"/>
                </a:cubicBezTo>
                <a:cubicBezTo>
                  <a:pt x="105" y="4181"/>
                  <a:pt x="112" y="4201"/>
                  <a:pt x="121" y="4218"/>
                </a:cubicBezTo>
                <a:cubicBezTo>
                  <a:pt x="129" y="4235"/>
                  <a:pt x="139" y="4249"/>
                  <a:pt x="151" y="4258"/>
                </a:cubicBezTo>
                <a:cubicBezTo>
                  <a:pt x="162" y="4268"/>
                  <a:pt x="174" y="4272"/>
                  <a:pt x="186" y="4272"/>
                </a:cubicBezTo>
                <a:cubicBezTo>
                  <a:pt x="162" y="4272"/>
                  <a:pt x="138" y="4268"/>
                  <a:pt x="115" y="4258"/>
                </a:cubicBezTo>
                <a:cubicBezTo>
                  <a:pt x="93" y="4249"/>
                  <a:pt x="72" y="4235"/>
                  <a:pt x="55" y="4218"/>
                </a:cubicBezTo>
                <a:cubicBezTo>
                  <a:pt x="37" y="4201"/>
                  <a:pt x="23" y="4181"/>
                  <a:pt x="14" y="4158"/>
                </a:cubicBezTo>
                <a:cubicBezTo>
                  <a:pt x="4" y="4135"/>
                  <a:pt x="0" y="4111"/>
                  <a:pt x="0" y="4087"/>
                </a:cubicBezTo>
                <a:lnTo>
                  <a:pt x="0" y="186"/>
                </a:lnTo>
                <a:cubicBezTo>
                  <a:pt x="0" y="161"/>
                  <a:pt x="4" y="138"/>
                  <a:pt x="14" y="115"/>
                </a:cubicBezTo>
                <a:cubicBezTo>
                  <a:pt x="23" y="92"/>
                  <a:pt x="37" y="72"/>
                  <a:pt x="55" y="55"/>
                </a:cubicBezTo>
                <a:cubicBezTo>
                  <a:pt x="72" y="37"/>
                  <a:pt x="93" y="24"/>
                  <a:pt x="115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74" y="0"/>
                  <a:pt x="162" y="5"/>
                  <a:pt x="151" y="14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7" name="Picture 256"/>
          <p:cNvPicPr/>
          <p:nvPr/>
        </p:nvPicPr>
        <p:blipFill>
          <a:blip r:embed="rId5"/>
          <a:stretch/>
        </p:blipFill>
        <p:spPr>
          <a:xfrm>
            <a:off x="4044600" y="366012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Box 257"/>
          <p:cNvSpPr txBox="1"/>
          <p:nvPr/>
        </p:nvSpPr>
        <p:spPr>
          <a:xfrm>
            <a:off x="768960" y="4597560"/>
            <a:ext cx="1619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time threat intelligence.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4370400" y="3664080"/>
            <a:ext cx="12747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Risk Tracking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4044600" y="3995640"/>
            <a:ext cx="2502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Automatically associates active CVEs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4044600" y="4196160"/>
            <a:ext cx="2269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with corresponding assets in your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4044600" y="4397040"/>
            <a:ext cx="2288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inventory, creating a clear map of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reeform: Shape 262"/>
          <p:cNvSpPr/>
          <p:nvPr/>
        </p:nvSpPr>
        <p:spPr>
          <a:xfrm>
            <a:off x="7103160" y="3442680"/>
            <a:ext cx="3058920" cy="1537920"/>
          </a:xfrm>
          <a:custGeom>
            <a:avLst/>
            <a:gdLst/>
            <a:ahLst/>
            <a:cxnLst/>
            <a:rect l="0" t="0" r="r" b="b"/>
            <a:pathLst>
              <a:path w="8497" h="4272">
                <a:moveTo>
                  <a:pt x="0" y="4087"/>
                </a:moveTo>
                <a:lnTo>
                  <a:pt x="0" y="186"/>
                </a:lnTo>
                <a:cubicBezTo>
                  <a:pt x="0" y="174"/>
                  <a:pt x="0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0" y="55"/>
                </a:cubicBezTo>
                <a:cubicBezTo>
                  <a:pt x="47" y="46"/>
                  <a:pt x="54" y="38"/>
                  <a:pt x="61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4"/>
                </a:cubicBezTo>
                <a:cubicBezTo>
                  <a:pt x="8359" y="6"/>
                  <a:pt x="8371" y="10"/>
                  <a:pt x="8382" y="14"/>
                </a:cubicBezTo>
                <a:cubicBezTo>
                  <a:pt x="8393" y="19"/>
                  <a:pt x="8404" y="25"/>
                  <a:pt x="8414" y="32"/>
                </a:cubicBezTo>
                <a:cubicBezTo>
                  <a:pt x="8424" y="38"/>
                  <a:pt x="8434" y="46"/>
                  <a:pt x="8442" y="55"/>
                </a:cubicBezTo>
                <a:cubicBezTo>
                  <a:pt x="8451" y="63"/>
                  <a:pt x="8458" y="73"/>
                  <a:pt x="8465" y="83"/>
                </a:cubicBezTo>
                <a:cubicBezTo>
                  <a:pt x="8472" y="93"/>
                  <a:pt x="8478" y="104"/>
                  <a:pt x="8482" y="115"/>
                </a:cubicBezTo>
                <a:cubicBezTo>
                  <a:pt x="8487" y="126"/>
                  <a:pt x="8491" y="138"/>
                  <a:pt x="8493" y="150"/>
                </a:cubicBezTo>
                <a:cubicBezTo>
                  <a:pt x="8495" y="162"/>
                  <a:pt x="8497" y="174"/>
                  <a:pt x="8497" y="186"/>
                </a:cubicBezTo>
                <a:lnTo>
                  <a:pt x="8497" y="4087"/>
                </a:lnTo>
                <a:cubicBezTo>
                  <a:pt x="8497" y="4099"/>
                  <a:pt x="8495" y="4111"/>
                  <a:pt x="8493" y="4123"/>
                </a:cubicBezTo>
                <a:cubicBezTo>
                  <a:pt x="8491" y="4135"/>
                  <a:pt x="8487" y="4147"/>
                  <a:pt x="8482" y="4158"/>
                </a:cubicBezTo>
                <a:cubicBezTo>
                  <a:pt x="8478" y="4169"/>
                  <a:pt x="8472" y="4180"/>
                  <a:pt x="8465" y="4190"/>
                </a:cubicBezTo>
                <a:cubicBezTo>
                  <a:pt x="8458" y="4200"/>
                  <a:pt x="8451" y="4209"/>
                  <a:pt x="8442" y="4218"/>
                </a:cubicBezTo>
                <a:cubicBezTo>
                  <a:pt x="8434" y="4227"/>
                  <a:pt x="8424" y="4234"/>
                  <a:pt x="8414" y="4241"/>
                </a:cubicBezTo>
                <a:cubicBezTo>
                  <a:pt x="8404" y="4248"/>
                  <a:pt x="8393" y="4254"/>
                  <a:pt x="8382" y="4258"/>
                </a:cubicBezTo>
                <a:cubicBezTo>
                  <a:pt x="8371" y="4263"/>
                  <a:pt x="8359" y="4267"/>
                  <a:pt x="8347" y="4269"/>
                </a:cubicBezTo>
                <a:cubicBezTo>
                  <a:pt x="8335" y="4271"/>
                  <a:pt x="8323" y="4272"/>
                  <a:pt x="8311" y="4272"/>
                </a:cubicBezTo>
                <a:lnTo>
                  <a:pt x="139" y="4272"/>
                </a:lnTo>
                <a:cubicBezTo>
                  <a:pt x="130" y="4272"/>
                  <a:pt x="121" y="4271"/>
                  <a:pt x="112" y="4269"/>
                </a:cubicBezTo>
                <a:cubicBezTo>
                  <a:pt x="103" y="4267"/>
                  <a:pt x="94" y="4263"/>
                  <a:pt x="86" y="4258"/>
                </a:cubicBezTo>
                <a:cubicBezTo>
                  <a:pt x="77" y="4254"/>
                  <a:pt x="69" y="4248"/>
                  <a:pt x="61" y="4241"/>
                </a:cubicBezTo>
                <a:cubicBezTo>
                  <a:pt x="54" y="4234"/>
                  <a:pt x="47" y="4227"/>
                  <a:pt x="40" y="4218"/>
                </a:cubicBezTo>
                <a:cubicBezTo>
                  <a:pt x="34" y="4209"/>
                  <a:pt x="28" y="4200"/>
                  <a:pt x="23" y="4190"/>
                </a:cubicBezTo>
                <a:cubicBezTo>
                  <a:pt x="18" y="4180"/>
                  <a:pt x="14" y="4169"/>
                  <a:pt x="10" y="4158"/>
                </a:cubicBezTo>
                <a:cubicBezTo>
                  <a:pt x="7" y="4147"/>
                  <a:pt x="4" y="4135"/>
                  <a:pt x="2" y="4123"/>
                </a:cubicBezTo>
                <a:cubicBezTo>
                  <a:pt x="0" y="4111"/>
                  <a:pt x="0" y="4099"/>
                  <a:pt x="0" y="4087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reeform: Shape 263"/>
          <p:cNvSpPr/>
          <p:nvPr/>
        </p:nvSpPr>
        <p:spPr>
          <a:xfrm>
            <a:off x="7086240" y="3442680"/>
            <a:ext cx="67320" cy="1537920"/>
          </a:xfrm>
          <a:custGeom>
            <a:avLst/>
            <a:gdLst/>
            <a:ahLst/>
            <a:cxnLst/>
            <a:rect l="0" t="0" r="r" b="b"/>
            <a:pathLst>
              <a:path w="187" h="4272">
                <a:moveTo>
                  <a:pt x="0" y="0"/>
                </a:moveTo>
                <a:lnTo>
                  <a:pt x="187" y="0"/>
                </a:lnTo>
                <a:lnTo>
                  <a:pt x="187" y="4272"/>
                </a:lnTo>
                <a:lnTo>
                  <a:pt x="0" y="42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5" name="Picture 264"/>
          <p:cNvPicPr/>
          <p:nvPr/>
        </p:nvPicPr>
        <p:blipFill>
          <a:blip r:embed="rId6"/>
          <a:stretch/>
        </p:blipFill>
        <p:spPr>
          <a:xfrm>
            <a:off x="7320600" y="36601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Box 265"/>
          <p:cNvSpPr txBox="1"/>
          <p:nvPr/>
        </p:nvSpPr>
        <p:spPr>
          <a:xfrm>
            <a:off x="4044600" y="4597560"/>
            <a:ext cx="988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vulnerabilities.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7621200" y="3664080"/>
            <a:ext cx="1118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Traceability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7320600" y="3995640"/>
            <a:ext cx="2439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Uses CVE IDs as a reliable reference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TextBox 268"/>
          <p:cNvSpPr txBox="1"/>
          <p:nvPr/>
        </p:nvSpPr>
        <p:spPr>
          <a:xfrm>
            <a:off x="7320600" y="4196160"/>
            <a:ext cx="2487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for tracking the remediation lifecycle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7320600" y="4397040"/>
            <a:ext cx="2340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of vulnerabilities from discovery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reeform: Shape 270"/>
          <p:cNvSpPr/>
          <p:nvPr/>
        </p:nvSpPr>
        <p:spPr>
          <a:xfrm>
            <a:off x="551520" y="5181120"/>
            <a:ext cx="3058920" cy="1537920"/>
          </a:xfrm>
          <a:custGeom>
            <a:avLst/>
            <a:gdLst/>
            <a:ahLst/>
            <a:cxnLst/>
            <a:rect l="0" t="0" r="r" b="b"/>
            <a:pathLst>
              <a:path w="8497" h="4272">
                <a:moveTo>
                  <a:pt x="0" y="4086"/>
                </a:moveTo>
                <a:lnTo>
                  <a:pt x="0" y="185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5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5"/>
                  <a:pt x="54" y="38"/>
                  <a:pt x="61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6"/>
                  <a:pt x="8371" y="9"/>
                  <a:pt x="8382" y="14"/>
                </a:cubicBezTo>
                <a:cubicBezTo>
                  <a:pt x="8393" y="18"/>
                  <a:pt x="8404" y="24"/>
                  <a:pt x="8414" y="31"/>
                </a:cubicBezTo>
                <a:cubicBezTo>
                  <a:pt x="8424" y="38"/>
                  <a:pt x="8434" y="45"/>
                  <a:pt x="8442" y="54"/>
                </a:cubicBezTo>
                <a:cubicBezTo>
                  <a:pt x="8451" y="63"/>
                  <a:pt x="8458" y="72"/>
                  <a:pt x="8465" y="82"/>
                </a:cubicBezTo>
                <a:cubicBezTo>
                  <a:pt x="8472" y="92"/>
                  <a:pt x="8478" y="103"/>
                  <a:pt x="8482" y="114"/>
                </a:cubicBezTo>
                <a:cubicBezTo>
                  <a:pt x="8487" y="125"/>
                  <a:pt x="8491" y="137"/>
                  <a:pt x="8493" y="149"/>
                </a:cubicBezTo>
                <a:cubicBezTo>
                  <a:pt x="8495" y="161"/>
                  <a:pt x="8497" y="173"/>
                  <a:pt x="8497" y="185"/>
                </a:cubicBezTo>
                <a:lnTo>
                  <a:pt x="8497" y="4086"/>
                </a:lnTo>
                <a:cubicBezTo>
                  <a:pt x="8497" y="4098"/>
                  <a:pt x="8495" y="4110"/>
                  <a:pt x="8493" y="4122"/>
                </a:cubicBezTo>
                <a:cubicBezTo>
                  <a:pt x="8491" y="4134"/>
                  <a:pt x="8487" y="4146"/>
                  <a:pt x="8482" y="4157"/>
                </a:cubicBezTo>
                <a:cubicBezTo>
                  <a:pt x="8478" y="4168"/>
                  <a:pt x="8472" y="4179"/>
                  <a:pt x="8465" y="4189"/>
                </a:cubicBezTo>
                <a:cubicBezTo>
                  <a:pt x="8458" y="4199"/>
                  <a:pt x="8451" y="4209"/>
                  <a:pt x="8442" y="4217"/>
                </a:cubicBezTo>
                <a:cubicBezTo>
                  <a:pt x="8434" y="4226"/>
                  <a:pt x="8424" y="4234"/>
                  <a:pt x="8414" y="4240"/>
                </a:cubicBezTo>
                <a:cubicBezTo>
                  <a:pt x="8404" y="4247"/>
                  <a:pt x="8393" y="4253"/>
                  <a:pt x="8382" y="4258"/>
                </a:cubicBezTo>
                <a:cubicBezTo>
                  <a:pt x="8371" y="4262"/>
                  <a:pt x="8359" y="4266"/>
                  <a:pt x="8347" y="4268"/>
                </a:cubicBezTo>
                <a:cubicBezTo>
                  <a:pt x="8335" y="4271"/>
                  <a:pt x="8323" y="4272"/>
                  <a:pt x="8311" y="4272"/>
                </a:cubicBezTo>
                <a:lnTo>
                  <a:pt x="139" y="4272"/>
                </a:lnTo>
                <a:cubicBezTo>
                  <a:pt x="130" y="4272"/>
                  <a:pt x="121" y="4271"/>
                  <a:pt x="112" y="4268"/>
                </a:cubicBezTo>
                <a:cubicBezTo>
                  <a:pt x="103" y="4266"/>
                  <a:pt x="94" y="4262"/>
                  <a:pt x="86" y="4258"/>
                </a:cubicBezTo>
                <a:cubicBezTo>
                  <a:pt x="77" y="4253"/>
                  <a:pt x="69" y="4247"/>
                  <a:pt x="61" y="4240"/>
                </a:cubicBezTo>
                <a:cubicBezTo>
                  <a:pt x="54" y="4234"/>
                  <a:pt x="47" y="4226"/>
                  <a:pt x="40" y="4217"/>
                </a:cubicBezTo>
                <a:cubicBezTo>
                  <a:pt x="34" y="4209"/>
                  <a:pt x="28" y="4199"/>
                  <a:pt x="23" y="4189"/>
                </a:cubicBezTo>
                <a:cubicBezTo>
                  <a:pt x="18" y="4179"/>
                  <a:pt x="14" y="4168"/>
                  <a:pt x="10" y="4157"/>
                </a:cubicBezTo>
                <a:cubicBezTo>
                  <a:pt x="7" y="4146"/>
                  <a:pt x="4" y="4134"/>
                  <a:pt x="2" y="4122"/>
                </a:cubicBezTo>
                <a:cubicBezTo>
                  <a:pt x="0" y="4110"/>
                  <a:pt x="0" y="4098"/>
                  <a:pt x="0" y="4086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reeform: Shape 271"/>
          <p:cNvSpPr/>
          <p:nvPr/>
        </p:nvSpPr>
        <p:spPr>
          <a:xfrm>
            <a:off x="534600" y="5181120"/>
            <a:ext cx="67320" cy="1537920"/>
          </a:xfrm>
          <a:custGeom>
            <a:avLst/>
            <a:gdLst/>
            <a:ahLst/>
            <a:cxnLst/>
            <a:rect l="0" t="0" r="r" b="b"/>
            <a:pathLst>
              <a:path w="187" h="4272">
                <a:moveTo>
                  <a:pt x="0" y="0"/>
                </a:moveTo>
                <a:lnTo>
                  <a:pt x="187" y="0"/>
                </a:lnTo>
                <a:lnTo>
                  <a:pt x="187" y="4272"/>
                </a:lnTo>
                <a:lnTo>
                  <a:pt x="0" y="42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3" name="Picture 272"/>
          <p:cNvPicPr/>
          <p:nvPr/>
        </p:nvPicPr>
        <p:blipFill>
          <a:blip r:embed="rId7"/>
          <a:stretch/>
        </p:blipFill>
        <p:spPr>
          <a:xfrm>
            <a:off x="768960" y="5398560"/>
            <a:ext cx="25020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Box 273"/>
          <p:cNvSpPr txBox="1"/>
          <p:nvPr/>
        </p:nvSpPr>
        <p:spPr>
          <a:xfrm>
            <a:off x="7320600" y="4597560"/>
            <a:ext cx="84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deployment.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1119960" y="5402160"/>
            <a:ext cx="19209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Threat Prioritization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768960" y="5734080"/>
            <a:ext cx="2315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Provides insights into vulnerability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768960" y="5934600"/>
            <a:ext cx="2382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severity to help teams focus on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768960" y="6135120"/>
            <a:ext cx="2442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most critical threats ﬁrst, optimizing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reeform: Shape 278"/>
          <p:cNvSpPr/>
          <p:nvPr/>
        </p:nvSpPr>
        <p:spPr>
          <a:xfrm>
            <a:off x="3827160" y="5181120"/>
            <a:ext cx="3058920" cy="1537920"/>
          </a:xfrm>
          <a:custGeom>
            <a:avLst/>
            <a:gdLst/>
            <a:ahLst/>
            <a:cxnLst/>
            <a:rect l="0" t="0" r="r" b="b"/>
            <a:pathLst>
              <a:path w="8497" h="4272">
                <a:moveTo>
                  <a:pt x="0" y="4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5"/>
                  <a:pt x="11" y="114"/>
                </a:cubicBezTo>
                <a:cubicBezTo>
                  <a:pt x="14" y="103"/>
                  <a:pt x="18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6"/>
                  <a:pt x="8371" y="9"/>
                  <a:pt x="8382" y="14"/>
                </a:cubicBezTo>
                <a:cubicBezTo>
                  <a:pt x="8394" y="18"/>
                  <a:pt x="8404" y="24"/>
                  <a:pt x="8415" y="31"/>
                </a:cubicBezTo>
                <a:cubicBezTo>
                  <a:pt x="8425" y="38"/>
                  <a:pt x="8434" y="45"/>
                  <a:pt x="8443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3" y="92"/>
                  <a:pt x="8478" y="103"/>
                  <a:pt x="8483" y="114"/>
                </a:cubicBezTo>
                <a:cubicBezTo>
                  <a:pt x="8488" y="125"/>
                  <a:pt x="8491" y="137"/>
                  <a:pt x="8493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4086"/>
                </a:lnTo>
                <a:cubicBezTo>
                  <a:pt x="8497" y="4098"/>
                  <a:pt x="8496" y="4110"/>
                  <a:pt x="8493" y="4122"/>
                </a:cubicBezTo>
                <a:cubicBezTo>
                  <a:pt x="8491" y="4134"/>
                  <a:pt x="8488" y="4146"/>
                  <a:pt x="8483" y="4157"/>
                </a:cubicBezTo>
                <a:cubicBezTo>
                  <a:pt x="8478" y="4168"/>
                  <a:pt x="8473" y="4179"/>
                  <a:pt x="8466" y="4189"/>
                </a:cubicBezTo>
                <a:cubicBezTo>
                  <a:pt x="8459" y="4199"/>
                  <a:pt x="8451" y="4209"/>
                  <a:pt x="8443" y="4217"/>
                </a:cubicBezTo>
                <a:cubicBezTo>
                  <a:pt x="8434" y="4226"/>
                  <a:pt x="8425" y="4234"/>
                  <a:pt x="8415" y="4240"/>
                </a:cubicBezTo>
                <a:cubicBezTo>
                  <a:pt x="8404" y="4247"/>
                  <a:pt x="8394" y="4253"/>
                  <a:pt x="8382" y="4258"/>
                </a:cubicBezTo>
                <a:cubicBezTo>
                  <a:pt x="8371" y="4262"/>
                  <a:pt x="8360" y="4266"/>
                  <a:pt x="8348" y="4268"/>
                </a:cubicBezTo>
                <a:cubicBezTo>
                  <a:pt x="8336" y="4271"/>
                  <a:pt x="8324" y="4272"/>
                  <a:pt x="8311" y="4272"/>
                </a:cubicBezTo>
                <a:lnTo>
                  <a:pt x="139" y="4272"/>
                </a:lnTo>
                <a:cubicBezTo>
                  <a:pt x="130" y="4272"/>
                  <a:pt x="121" y="4271"/>
                  <a:pt x="112" y="4268"/>
                </a:cubicBezTo>
                <a:cubicBezTo>
                  <a:pt x="103" y="4266"/>
                  <a:pt x="95" y="4262"/>
                  <a:pt x="86" y="4258"/>
                </a:cubicBezTo>
                <a:cubicBezTo>
                  <a:pt x="78" y="4253"/>
                  <a:pt x="70" y="4247"/>
                  <a:pt x="62" y="4240"/>
                </a:cubicBezTo>
                <a:cubicBezTo>
                  <a:pt x="54" y="4234"/>
                  <a:pt x="47" y="4226"/>
                  <a:pt x="41" y="4217"/>
                </a:cubicBezTo>
                <a:cubicBezTo>
                  <a:pt x="34" y="4209"/>
                  <a:pt x="29" y="4199"/>
                  <a:pt x="24" y="4189"/>
                </a:cubicBezTo>
                <a:cubicBezTo>
                  <a:pt x="18" y="4179"/>
                  <a:pt x="14" y="4168"/>
                  <a:pt x="11" y="4157"/>
                </a:cubicBezTo>
                <a:cubicBezTo>
                  <a:pt x="7" y="4146"/>
                  <a:pt x="5" y="4134"/>
                  <a:pt x="3" y="4122"/>
                </a:cubicBezTo>
                <a:cubicBezTo>
                  <a:pt x="1" y="4110"/>
                  <a:pt x="0" y="4098"/>
                  <a:pt x="0" y="4086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reeform: Shape 279"/>
          <p:cNvSpPr/>
          <p:nvPr/>
        </p:nvSpPr>
        <p:spPr>
          <a:xfrm>
            <a:off x="3810600" y="5181120"/>
            <a:ext cx="66960" cy="1537920"/>
          </a:xfrm>
          <a:custGeom>
            <a:avLst/>
            <a:gdLst/>
            <a:ahLst/>
            <a:cxnLst/>
            <a:rect l="0" t="0" r="r" b="b"/>
            <a:pathLst>
              <a:path w="186" h="4272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1"/>
                  <a:pt x="105" y="91"/>
                  <a:pt x="101" y="114"/>
                </a:cubicBezTo>
                <a:cubicBezTo>
                  <a:pt x="96" y="137"/>
                  <a:pt x="94" y="161"/>
                  <a:pt x="94" y="185"/>
                </a:cubicBezTo>
                <a:lnTo>
                  <a:pt x="94" y="4086"/>
                </a:lnTo>
                <a:cubicBezTo>
                  <a:pt x="94" y="4111"/>
                  <a:pt x="96" y="4134"/>
                  <a:pt x="101" y="4157"/>
                </a:cubicBezTo>
                <a:cubicBezTo>
                  <a:pt x="105" y="4180"/>
                  <a:pt x="112" y="4200"/>
                  <a:pt x="121" y="4217"/>
                </a:cubicBezTo>
                <a:cubicBezTo>
                  <a:pt x="129" y="4235"/>
                  <a:pt x="139" y="4248"/>
                  <a:pt x="151" y="4258"/>
                </a:cubicBezTo>
                <a:cubicBezTo>
                  <a:pt x="162" y="4267"/>
                  <a:pt x="174" y="4272"/>
                  <a:pt x="186" y="4272"/>
                </a:cubicBezTo>
                <a:cubicBezTo>
                  <a:pt x="162" y="4272"/>
                  <a:pt x="138" y="4267"/>
                  <a:pt x="115" y="4258"/>
                </a:cubicBezTo>
                <a:cubicBezTo>
                  <a:pt x="93" y="4248"/>
                  <a:pt x="72" y="4235"/>
                  <a:pt x="55" y="4217"/>
                </a:cubicBezTo>
                <a:cubicBezTo>
                  <a:pt x="37" y="4200"/>
                  <a:pt x="23" y="4180"/>
                  <a:pt x="14" y="4157"/>
                </a:cubicBezTo>
                <a:cubicBezTo>
                  <a:pt x="4" y="4134"/>
                  <a:pt x="0" y="4111"/>
                  <a:pt x="0" y="4086"/>
                </a:cubicBezTo>
                <a:lnTo>
                  <a:pt x="0" y="185"/>
                </a:lnTo>
                <a:cubicBezTo>
                  <a:pt x="0" y="161"/>
                  <a:pt x="4" y="137"/>
                  <a:pt x="14" y="114"/>
                </a:cubicBezTo>
                <a:cubicBezTo>
                  <a:pt x="23" y="91"/>
                  <a:pt x="37" y="71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4"/>
                  <a:pt x="162" y="0"/>
                  <a:pt x="186" y="0"/>
                </a:cubicBezTo>
                <a:cubicBezTo>
                  <a:pt x="174" y="0"/>
                  <a:pt x="162" y="4"/>
                  <a:pt x="151" y="14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1" name="Picture 280"/>
          <p:cNvPicPr/>
          <p:nvPr/>
        </p:nvPicPr>
        <p:blipFill>
          <a:blip r:embed="rId8"/>
          <a:stretch/>
        </p:blipFill>
        <p:spPr>
          <a:xfrm>
            <a:off x="4044600" y="5398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Box 281"/>
          <p:cNvSpPr txBox="1"/>
          <p:nvPr/>
        </p:nvSpPr>
        <p:spPr>
          <a:xfrm>
            <a:off x="768960" y="6335640"/>
            <a:ext cx="1332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remediation eﬀorts.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4345560" y="5402160"/>
            <a:ext cx="2160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Continuous Monitoring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4044600" y="5734080"/>
            <a:ext cx="2423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Maintains up-to-date information 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4044600" y="5934600"/>
            <a:ext cx="2451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vulnerabilities and their remediation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4044600" y="6135120"/>
            <a:ext cx="2397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status, ensuring ongoing protection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7" name="Picture 286"/>
          <p:cNvPicPr/>
          <p:nvPr/>
        </p:nvPicPr>
        <p:blipFill>
          <a:blip r:embed="rId9"/>
          <a:stretch/>
        </p:blipFill>
        <p:spPr>
          <a:xfrm>
            <a:off x="7120080" y="5181120"/>
            <a:ext cx="3041640" cy="15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Freeform: Shape 287"/>
          <p:cNvSpPr/>
          <p:nvPr/>
        </p:nvSpPr>
        <p:spPr>
          <a:xfrm>
            <a:off x="7086240" y="5181120"/>
            <a:ext cx="33840" cy="1537920"/>
          </a:xfrm>
          <a:custGeom>
            <a:avLst/>
            <a:gdLst/>
            <a:ahLst/>
            <a:cxnLst/>
            <a:rect l="0" t="0" r="r" b="b"/>
            <a:pathLst>
              <a:path w="94" h="4272">
                <a:moveTo>
                  <a:pt x="0" y="0"/>
                </a:moveTo>
                <a:lnTo>
                  <a:pt x="94" y="0"/>
                </a:lnTo>
                <a:lnTo>
                  <a:pt x="94" y="4272"/>
                </a:lnTo>
                <a:lnTo>
                  <a:pt x="0" y="42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9" name="Picture 288"/>
          <p:cNvPicPr/>
          <p:nvPr/>
        </p:nvPicPr>
        <p:blipFill>
          <a:blip r:embed="rId10"/>
          <a:stretch/>
        </p:blipFill>
        <p:spPr>
          <a:xfrm>
            <a:off x="7320600" y="539856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Box 289"/>
          <p:cNvSpPr txBox="1"/>
          <p:nvPr/>
        </p:nvSpPr>
        <p:spPr>
          <a:xfrm>
            <a:off x="4044600" y="6335640"/>
            <a:ext cx="1670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against evolving threats.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7621200" y="5402160"/>
            <a:ext cx="1725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Proactive Defense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7320600" y="5734080"/>
            <a:ext cx="26398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Creates a defense-in-depth strategy by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7320600" y="5934600"/>
            <a:ext cx="2521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identifying vulnerabilities before they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7320600" y="6135120"/>
            <a:ext cx="251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can be exploited, preventing security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5" name="Picture 294"/>
          <p:cNvPicPr/>
          <p:nvPr/>
        </p:nvPicPr>
        <p:blipFill>
          <a:blip r:embed="rId11"/>
          <a:stretch/>
        </p:blipFill>
        <p:spPr>
          <a:xfrm>
            <a:off x="534960" y="694440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Box 295"/>
          <p:cNvSpPr txBox="1"/>
          <p:nvPr/>
        </p:nvSpPr>
        <p:spPr>
          <a:xfrm>
            <a:off x="7320600" y="6335640"/>
            <a:ext cx="659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breaches.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718560" y="693612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8" name="Picture 297"/>
          <p:cNvPicPr/>
          <p:nvPr/>
        </p:nvPicPr>
        <p:blipFill>
          <a:blip r:embed="rId12"/>
          <a:stretch/>
        </p:blipFill>
        <p:spPr>
          <a:xfrm>
            <a:off x="-835560" y="-83556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Picture 298"/>
          <p:cNvPicPr/>
          <p:nvPr/>
        </p:nvPicPr>
        <p:blipFill>
          <a:blip r:embed="rId13"/>
          <a:stretch/>
        </p:blipFill>
        <p:spPr>
          <a:xfrm>
            <a:off x="8607240" y="519804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Picture 299"/>
          <p:cNvPicPr/>
          <p:nvPr/>
        </p:nvPicPr>
        <p:blipFill>
          <a:blip r:embed="rId14"/>
          <a:stretch/>
        </p:blipFill>
        <p:spPr>
          <a:xfrm>
            <a:off x="417960" y="125352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Picture 300"/>
          <p:cNvPicPr/>
          <p:nvPr/>
        </p:nvPicPr>
        <p:blipFill>
          <a:blip r:embed="rId15"/>
          <a:stretch/>
        </p:blipFill>
        <p:spPr>
          <a:xfrm>
            <a:off x="6936120" y="601668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Picture 301"/>
          <p:cNvPicPr/>
          <p:nvPr/>
        </p:nvPicPr>
        <p:blipFill>
          <a:blip r:embed="rId16"/>
          <a:stretch/>
        </p:blipFill>
        <p:spPr>
          <a:xfrm>
            <a:off x="0" y="0"/>
            <a:ext cx="10696320" cy="72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Box 302"/>
          <p:cNvSpPr txBox="1"/>
          <p:nvPr/>
        </p:nvSpPr>
        <p:spPr>
          <a:xfrm>
            <a:off x="9898920" y="6936120"/>
            <a:ext cx="26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5/10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C44C8-E6B1-4A9E-A8E2-17B6399433BB}"/>
              </a:ext>
            </a:extLst>
          </p:cNvPr>
          <p:cNvSpPr txBox="1"/>
          <p:nvPr/>
        </p:nvSpPr>
        <p:spPr>
          <a:xfrm>
            <a:off x="1054710" y="2058300"/>
            <a:ext cx="147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Phase 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6C3F0B-CCF0-4FC3-9CD5-3B8D4A7307AC}"/>
              </a:ext>
            </a:extLst>
          </p:cNvPr>
          <p:cNvSpPr txBox="1"/>
          <p:nvPr/>
        </p:nvSpPr>
        <p:spPr>
          <a:xfrm>
            <a:off x="5733390" y="2027820"/>
            <a:ext cx="3680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Phase 2 [based on the infra]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303"/>
          <p:cNvPicPr/>
          <p:nvPr/>
        </p:nvPicPr>
        <p:blipFill>
          <a:blip r:embed="rId2"/>
          <a:stretch/>
        </p:blipFill>
        <p:spPr>
          <a:xfrm>
            <a:off x="0" y="0"/>
            <a:ext cx="10696320" cy="620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Freeform: Shape 304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reeform: Shape 305"/>
          <p:cNvSpPr/>
          <p:nvPr/>
        </p:nvSpPr>
        <p:spPr>
          <a:xfrm>
            <a:off x="551520" y="4570920"/>
            <a:ext cx="9610560" cy="1069920"/>
          </a:xfrm>
          <a:custGeom>
            <a:avLst/>
            <a:gdLst/>
            <a:ahLst/>
            <a:cxnLst/>
            <a:rect l="0" t="0" r="r" b="b"/>
            <a:pathLst>
              <a:path w="26696" h="2972">
                <a:moveTo>
                  <a:pt x="0" y="2787"/>
                </a:moveTo>
                <a:lnTo>
                  <a:pt x="0" y="186"/>
                </a:lnTo>
                <a:cubicBezTo>
                  <a:pt x="0" y="174"/>
                  <a:pt x="0" y="161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6"/>
                  <a:pt x="54" y="38"/>
                  <a:pt x="61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26510" y="0"/>
                </a:lnTo>
                <a:cubicBezTo>
                  <a:pt x="26522" y="0"/>
                  <a:pt x="26534" y="1"/>
                  <a:pt x="26546" y="4"/>
                </a:cubicBezTo>
                <a:cubicBezTo>
                  <a:pt x="26558" y="6"/>
                  <a:pt x="26570" y="10"/>
                  <a:pt x="26581" y="14"/>
                </a:cubicBezTo>
                <a:cubicBezTo>
                  <a:pt x="26592" y="19"/>
                  <a:pt x="26603" y="25"/>
                  <a:pt x="26613" y="31"/>
                </a:cubicBezTo>
                <a:cubicBezTo>
                  <a:pt x="26623" y="38"/>
                  <a:pt x="26633" y="46"/>
                  <a:pt x="26641" y="54"/>
                </a:cubicBezTo>
                <a:cubicBezTo>
                  <a:pt x="26650" y="63"/>
                  <a:pt x="26657" y="72"/>
                  <a:pt x="26664" y="83"/>
                </a:cubicBezTo>
                <a:cubicBezTo>
                  <a:pt x="26671" y="93"/>
                  <a:pt x="26677" y="103"/>
                  <a:pt x="26681" y="115"/>
                </a:cubicBezTo>
                <a:cubicBezTo>
                  <a:pt x="26686" y="126"/>
                  <a:pt x="26690" y="138"/>
                  <a:pt x="26692" y="150"/>
                </a:cubicBezTo>
                <a:cubicBezTo>
                  <a:pt x="26694" y="161"/>
                  <a:pt x="26696" y="174"/>
                  <a:pt x="26696" y="186"/>
                </a:cubicBezTo>
                <a:lnTo>
                  <a:pt x="26696" y="2787"/>
                </a:lnTo>
                <a:cubicBezTo>
                  <a:pt x="26696" y="2799"/>
                  <a:pt x="26694" y="2811"/>
                  <a:pt x="26692" y="2823"/>
                </a:cubicBezTo>
                <a:cubicBezTo>
                  <a:pt x="26690" y="2835"/>
                  <a:pt x="26686" y="2846"/>
                  <a:pt x="26681" y="2858"/>
                </a:cubicBezTo>
                <a:cubicBezTo>
                  <a:pt x="26677" y="2869"/>
                  <a:pt x="26671" y="2880"/>
                  <a:pt x="26664" y="2890"/>
                </a:cubicBezTo>
                <a:cubicBezTo>
                  <a:pt x="26657" y="2900"/>
                  <a:pt x="26650" y="2909"/>
                  <a:pt x="26641" y="2918"/>
                </a:cubicBezTo>
                <a:cubicBezTo>
                  <a:pt x="26633" y="2927"/>
                  <a:pt x="26623" y="2934"/>
                  <a:pt x="26613" y="2941"/>
                </a:cubicBezTo>
                <a:cubicBezTo>
                  <a:pt x="26603" y="2948"/>
                  <a:pt x="26592" y="2954"/>
                  <a:pt x="26581" y="2958"/>
                </a:cubicBezTo>
                <a:cubicBezTo>
                  <a:pt x="26570" y="2963"/>
                  <a:pt x="26558" y="2966"/>
                  <a:pt x="26546" y="2969"/>
                </a:cubicBezTo>
                <a:cubicBezTo>
                  <a:pt x="26534" y="2971"/>
                  <a:pt x="26522" y="2972"/>
                  <a:pt x="26510" y="2972"/>
                </a:cubicBezTo>
                <a:lnTo>
                  <a:pt x="139" y="2972"/>
                </a:lnTo>
                <a:cubicBezTo>
                  <a:pt x="130" y="2972"/>
                  <a:pt x="121" y="2971"/>
                  <a:pt x="112" y="2969"/>
                </a:cubicBezTo>
                <a:cubicBezTo>
                  <a:pt x="103" y="2966"/>
                  <a:pt x="94" y="2963"/>
                  <a:pt x="86" y="2958"/>
                </a:cubicBezTo>
                <a:cubicBezTo>
                  <a:pt x="77" y="2954"/>
                  <a:pt x="69" y="2948"/>
                  <a:pt x="61" y="2941"/>
                </a:cubicBezTo>
                <a:cubicBezTo>
                  <a:pt x="54" y="2934"/>
                  <a:pt x="47" y="2927"/>
                  <a:pt x="40" y="2918"/>
                </a:cubicBezTo>
                <a:cubicBezTo>
                  <a:pt x="34" y="2909"/>
                  <a:pt x="28" y="2900"/>
                  <a:pt x="23" y="2890"/>
                </a:cubicBezTo>
                <a:cubicBezTo>
                  <a:pt x="18" y="2880"/>
                  <a:pt x="14" y="2869"/>
                  <a:pt x="10" y="2858"/>
                </a:cubicBezTo>
                <a:cubicBezTo>
                  <a:pt x="7" y="2846"/>
                  <a:pt x="4" y="2835"/>
                  <a:pt x="2" y="2823"/>
                </a:cubicBezTo>
                <a:cubicBezTo>
                  <a:pt x="0" y="2811"/>
                  <a:pt x="0" y="2799"/>
                  <a:pt x="0" y="2787"/>
                </a:cubicBezTo>
                <a:close/>
              </a:path>
            </a:pathLst>
          </a:custGeom>
          <a:solidFill>
            <a:srgbClr val="1E40A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reeform: Shape 306"/>
          <p:cNvSpPr/>
          <p:nvPr/>
        </p:nvSpPr>
        <p:spPr>
          <a:xfrm>
            <a:off x="534600" y="4570920"/>
            <a:ext cx="67320" cy="1069920"/>
          </a:xfrm>
          <a:custGeom>
            <a:avLst/>
            <a:gdLst/>
            <a:ahLst/>
            <a:cxnLst/>
            <a:rect l="0" t="0" r="r" b="b"/>
            <a:pathLst>
              <a:path w="187" h="2972">
                <a:moveTo>
                  <a:pt x="0" y="0"/>
                </a:moveTo>
                <a:lnTo>
                  <a:pt x="187" y="0"/>
                </a:lnTo>
                <a:lnTo>
                  <a:pt x="187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534960" y="389520"/>
            <a:ext cx="621792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Best Practices for Patch Deployment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534960" y="1272600"/>
            <a:ext cx="94755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A structured approach to patch deployment is essential to minimize both security risks and operational disruptions. The Infra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0" name="Picture 309"/>
          <p:cNvPicPr/>
          <p:nvPr/>
        </p:nvPicPr>
        <p:blipFill>
          <a:blip r:embed="rId3"/>
          <a:stretch/>
        </p:blipFill>
        <p:spPr>
          <a:xfrm>
            <a:off x="768960" y="480528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Box 310"/>
          <p:cNvSpPr txBox="1"/>
          <p:nvPr/>
        </p:nvSpPr>
        <p:spPr>
          <a:xfrm>
            <a:off x="534960" y="1514880"/>
            <a:ext cx="72943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Tracking system supports and enforces best practices for a robust patch management program.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2" name="Picture 311"/>
          <p:cNvPicPr/>
          <p:nvPr/>
        </p:nvPicPr>
        <p:blipFill>
          <a:blip r:embed="rId4"/>
          <a:stretch/>
        </p:blipFill>
        <p:spPr>
          <a:xfrm>
            <a:off x="768960" y="5139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Box 312"/>
          <p:cNvSpPr txBox="1"/>
          <p:nvPr/>
        </p:nvSpPr>
        <p:spPr>
          <a:xfrm>
            <a:off x="1036080" y="4791960"/>
            <a:ext cx="3987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Beneﬁts of Structured Patch Management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1002960" y="5122800"/>
            <a:ext cx="2598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Enhanced security posture and vulnerability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5" name="Picture 314"/>
          <p:cNvPicPr/>
          <p:nvPr/>
        </p:nvPicPr>
        <p:blipFill>
          <a:blip r:embed="rId5"/>
          <a:stretch/>
        </p:blipFill>
        <p:spPr>
          <a:xfrm>
            <a:off x="3877560" y="5139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Box 315"/>
          <p:cNvSpPr txBox="1"/>
          <p:nvPr/>
        </p:nvSpPr>
        <p:spPr>
          <a:xfrm>
            <a:off x="1002960" y="5289840"/>
            <a:ext cx="602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protection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4111560" y="5122800"/>
            <a:ext cx="2097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Reduced downtime and operational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8" name="Picture 317"/>
          <p:cNvPicPr/>
          <p:nvPr/>
        </p:nvPicPr>
        <p:blipFill>
          <a:blip r:embed="rId6"/>
          <a:stretch/>
        </p:blipFill>
        <p:spPr>
          <a:xfrm>
            <a:off x="6986160" y="5139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Box 318"/>
          <p:cNvSpPr txBox="1"/>
          <p:nvPr/>
        </p:nvSpPr>
        <p:spPr>
          <a:xfrm>
            <a:off x="4111560" y="5289840"/>
            <a:ext cx="651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disruptions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7220160" y="5122800"/>
            <a:ext cx="2203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Improved compliance with regulatory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1" name="Picture 320"/>
          <p:cNvPicPr/>
          <p:nvPr/>
        </p:nvPicPr>
        <p:blipFill>
          <a:blip r:embed="rId7"/>
          <a:stretch/>
        </p:blipFill>
        <p:spPr>
          <a:xfrm>
            <a:off x="534960" y="58665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Box 321"/>
          <p:cNvSpPr txBox="1"/>
          <p:nvPr/>
        </p:nvSpPr>
        <p:spPr>
          <a:xfrm>
            <a:off x="7220160" y="5289840"/>
            <a:ext cx="791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requirements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718560" y="585828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4" name="Picture 323"/>
          <p:cNvPicPr/>
          <p:nvPr/>
        </p:nvPicPr>
        <p:blipFill>
          <a:blip r:embed="rId8"/>
          <a:stretch/>
        </p:blipFill>
        <p:spPr>
          <a:xfrm>
            <a:off x="-835560" y="-83556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Picture 324"/>
          <p:cNvPicPr/>
          <p:nvPr/>
        </p:nvPicPr>
        <p:blipFill>
          <a:blip r:embed="rId9"/>
          <a:stretch/>
        </p:blipFill>
        <p:spPr>
          <a:xfrm>
            <a:off x="8607240" y="411984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Picture 325"/>
          <p:cNvPicPr/>
          <p:nvPr/>
        </p:nvPicPr>
        <p:blipFill>
          <a:blip r:embed="rId10"/>
          <a:stretch/>
        </p:blipFill>
        <p:spPr>
          <a:xfrm>
            <a:off x="417960" y="125352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Picture 326"/>
          <p:cNvPicPr/>
          <p:nvPr/>
        </p:nvPicPr>
        <p:blipFill>
          <a:blip r:embed="rId11"/>
          <a:stretch/>
        </p:blipFill>
        <p:spPr>
          <a:xfrm>
            <a:off x="6936120" y="493884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Picture 327"/>
          <p:cNvPicPr/>
          <p:nvPr/>
        </p:nvPicPr>
        <p:blipFill>
          <a:blip r:embed="rId12"/>
          <a:stretch/>
        </p:blipFill>
        <p:spPr>
          <a:xfrm>
            <a:off x="0" y="0"/>
            <a:ext cx="10696320" cy="620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Picture 328"/>
          <p:cNvPicPr/>
          <p:nvPr/>
        </p:nvPicPr>
        <p:blipFill>
          <a:blip r:embed="rId13"/>
          <a:stretch/>
        </p:blipFill>
        <p:spPr>
          <a:xfrm>
            <a:off x="5014080" y="3133800"/>
            <a:ext cx="668160" cy="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Freeform: Shape 329"/>
          <p:cNvSpPr/>
          <p:nvPr/>
        </p:nvSpPr>
        <p:spPr>
          <a:xfrm>
            <a:off x="5331240" y="3083400"/>
            <a:ext cx="100800" cy="134280"/>
          </a:xfrm>
          <a:custGeom>
            <a:avLst/>
            <a:gdLst/>
            <a:ahLst/>
            <a:cxnLst/>
            <a:rect l="0" t="0" r="r" b="b"/>
            <a:pathLst>
              <a:path w="280" h="373">
                <a:moveTo>
                  <a:pt x="0" y="0"/>
                </a:moveTo>
                <a:lnTo>
                  <a:pt x="0" y="373"/>
                </a:lnTo>
                <a:lnTo>
                  <a:pt x="28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2DD4B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1" name="Picture 330"/>
          <p:cNvPicPr/>
          <p:nvPr/>
        </p:nvPicPr>
        <p:blipFill>
          <a:blip r:embed="rId13"/>
          <a:stretch/>
        </p:blipFill>
        <p:spPr>
          <a:xfrm>
            <a:off x="5014080" y="3133800"/>
            <a:ext cx="668160" cy="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Freeform: Shape 331"/>
          <p:cNvSpPr/>
          <p:nvPr/>
        </p:nvSpPr>
        <p:spPr>
          <a:xfrm>
            <a:off x="5331240" y="3083400"/>
            <a:ext cx="100800" cy="134280"/>
          </a:xfrm>
          <a:custGeom>
            <a:avLst/>
            <a:gdLst/>
            <a:ahLst/>
            <a:cxnLst/>
            <a:rect l="0" t="0" r="r" b="b"/>
            <a:pathLst>
              <a:path w="280" h="373">
                <a:moveTo>
                  <a:pt x="0" y="0"/>
                </a:moveTo>
                <a:lnTo>
                  <a:pt x="0" y="373"/>
                </a:lnTo>
                <a:lnTo>
                  <a:pt x="28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2DD4B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3" name="Picture 332"/>
          <p:cNvPicPr/>
          <p:nvPr/>
        </p:nvPicPr>
        <p:blipFill>
          <a:blip r:embed="rId13"/>
          <a:stretch/>
        </p:blipFill>
        <p:spPr>
          <a:xfrm>
            <a:off x="5014080" y="3133800"/>
            <a:ext cx="668160" cy="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Freeform: Shape 333"/>
          <p:cNvSpPr/>
          <p:nvPr/>
        </p:nvSpPr>
        <p:spPr>
          <a:xfrm>
            <a:off x="5331240" y="3083400"/>
            <a:ext cx="100800" cy="134280"/>
          </a:xfrm>
          <a:custGeom>
            <a:avLst/>
            <a:gdLst/>
            <a:ahLst/>
            <a:cxnLst/>
            <a:rect l="0" t="0" r="r" b="b"/>
            <a:pathLst>
              <a:path w="280" h="373">
                <a:moveTo>
                  <a:pt x="0" y="0"/>
                </a:moveTo>
                <a:lnTo>
                  <a:pt x="0" y="373"/>
                </a:lnTo>
                <a:lnTo>
                  <a:pt x="28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2DD4B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5" name="Picture 334"/>
          <p:cNvPicPr/>
          <p:nvPr/>
        </p:nvPicPr>
        <p:blipFill>
          <a:blip r:embed="rId13"/>
          <a:stretch/>
        </p:blipFill>
        <p:spPr>
          <a:xfrm>
            <a:off x="5014080" y="3133800"/>
            <a:ext cx="668160" cy="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Freeform: Shape 335"/>
          <p:cNvSpPr/>
          <p:nvPr/>
        </p:nvSpPr>
        <p:spPr>
          <a:xfrm>
            <a:off x="5331240" y="3083400"/>
            <a:ext cx="100800" cy="134280"/>
          </a:xfrm>
          <a:custGeom>
            <a:avLst/>
            <a:gdLst/>
            <a:ahLst/>
            <a:cxnLst/>
            <a:rect l="0" t="0" r="r" b="b"/>
            <a:pathLst>
              <a:path w="280" h="373">
                <a:moveTo>
                  <a:pt x="0" y="0"/>
                </a:moveTo>
                <a:lnTo>
                  <a:pt x="0" y="373"/>
                </a:lnTo>
                <a:lnTo>
                  <a:pt x="280" y="187"/>
                </a:lnTo>
                <a:lnTo>
                  <a:pt x="0" y="0"/>
                </a:lnTo>
                <a:close/>
              </a:path>
            </a:pathLst>
          </a:custGeom>
          <a:solidFill>
            <a:srgbClr val="2DD4B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reeform: Shape 336"/>
          <p:cNvSpPr/>
          <p:nvPr/>
        </p:nvSpPr>
        <p:spPr>
          <a:xfrm>
            <a:off x="551520" y="2164320"/>
            <a:ext cx="1863720" cy="1972440"/>
          </a:xfrm>
          <a:custGeom>
            <a:avLst/>
            <a:gdLst/>
            <a:ahLst/>
            <a:cxnLst/>
            <a:rect l="0" t="0" r="r" b="b"/>
            <a:pathLst>
              <a:path w="5177" h="5479">
                <a:moveTo>
                  <a:pt x="0" y="5293"/>
                </a:moveTo>
                <a:lnTo>
                  <a:pt x="0" y="185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5"/>
                  <a:pt x="54" y="38"/>
                  <a:pt x="61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4991" y="0"/>
                </a:lnTo>
                <a:cubicBezTo>
                  <a:pt x="5004" y="0"/>
                  <a:pt x="5016" y="1"/>
                  <a:pt x="5028" y="3"/>
                </a:cubicBezTo>
                <a:cubicBezTo>
                  <a:pt x="5040" y="6"/>
                  <a:pt x="5051" y="9"/>
                  <a:pt x="5062" y="14"/>
                </a:cubicBezTo>
                <a:cubicBezTo>
                  <a:pt x="5074" y="18"/>
                  <a:pt x="5084" y="24"/>
                  <a:pt x="5095" y="31"/>
                </a:cubicBezTo>
                <a:cubicBezTo>
                  <a:pt x="5105" y="38"/>
                  <a:pt x="5114" y="45"/>
                  <a:pt x="5123" y="54"/>
                </a:cubicBezTo>
                <a:cubicBezTo>
                  <a:pt x="5131" y="63"/>
                  <a:pt x="5139" y="72"/>
                  <a:pt x="5146" y="82"/>
                </a:cubicBezTo>
                <a:cubicBezTo>
                  <a:pt x="5153" y="92"/>
                  <a:pt x="5158" y="103"/>
                  <a:pt x="5163" y="114"/>
                </a:cubicBezTo>
                <a:cubicBezTo>
                  <a:pt x="5168" y="126"/>
                  <a:pt x="5171" y="137"/>
                  <a:pt x="5174" y="149"/>
                </a:cubicBezTo>
                <a:cubicBezTo>
                  <a:pt x="5176" y="161"/>
                  <a:pt x="5177" y="173"/>
                  <a:pt x="5177" y="185"/>
                </a:cubicBezTo>
                <a:lnTo>
                  <a:pt x="5177" y="5293"/>
                </a:lnTo>
                <a:cubicBezTo>
                  <a:pt x="5177" y="5305"/>
                  <a:pt x="5176" y="5318"/>
                  <a:pt x="5174" y="5329"/>
                </a:cubicBezTo>
                <a:cubicBezTo>
                  <a:pt x="5171" y="5341"/>
                  <a:pt x="5168" y="5353"/>
                  <a:pt x="5163" y="5364"/>
                </a:cubicBezTo>
                <a:cubicBezTo>
                  <a:pt x="5158" y="5376"/>
                  <a:pt x="5153" y="5386"/>
                  <a:pt x="5146" y="5396"/>
                </a:cubicBezTo>
                <a:cubicBezTo>
                  <a:pt x="5139" y="5407"/>
                  <a:pt x="5131" y="5416"/>
                  <a:pt x="5123" y="5425"/>
                </a:cubicBezTo>
                <a:cubicBezTo>
                  <a:pt x="5114" y="5433"/>
                  <a:pt x="5105" y="5441"/>
                  <a:pt x="5095" y="5448"/>
                </a:cubicBezTo>
                <a:cubicBezTo>
                  <a:pt x="5084" y="5454"/>
                  <a:pt x="5074" y="5460"/>
                  <a:pt x="5062" y="5465"/>
                </a:cubicBezTo>
                <a:cubicBezTo>
                  <a:pt x="5051" y="5469"/>
                  <a:pt x="5040" y="5473"/>
                  <a:pt x="5028" y="5475"/>
                </a:cubicBezTo>
                <a:cubicBezTo>
                  <a:pt x="5016" y="5478"/>
                  <a:pt x="5004" y="5479"/>
                  <a:pt x="4991" y="5479"/>
                </a:cubicBezTo>
                <a:lnTo>
                  <a:pt x="139" y="5479"/>
                </a:lnTo>
                <a:cubicBezTo>
                  <a:pt x="130" y="5479"/>
                  <a:pt x="121" y="5478"/>
                  <a:pt x="112" y="5475"/>
                </a:cubicBezTo>
                <a:cubicBezTo>
                  <a:pt x="103" y="5473"/>
                  <a:pt x="94" y="5469"/>
                  <a:pt x="86" y="5465"/>
                </a:cubicBezTo>
                <a:cubicBezTo>
                  <a:pt x="77" y="5460"/>
                  <a:pt x="69" y="5454"/>
                  <a:pt x="61" y="5448"/>
                </a:cubicBezTo>
                <a:cubicBezTo>
                  <a:pt x="54" y="5441"/>
                  <a:pt x="47" y="5433"/>
                  <a:pt x="40" y="5425"/>
                </a:cubicBezTo>
                <a:cubicBezTo>
                  <a:pt x="34" y="5416"/>
                  <a:pt x="28" y="5407"/>
                  <a:pt x="23" y="5396"/>
                </a:cubicBezTo>
                <a:cubicBezTo>
                  <a:pt x="18" y="5386"/>
                  <a:pt x="14" y="5376"/>
                  <a:pt x="10" y="5364"/>
                </a:cubicBezTo>
                <a:cubicBezTo>
                  <a:pt x="7" y="5353"/>
                  <a:pt x="4" y="5341"/>
                  <a:pt x="2" y="5329"/>
                </a:cubicBezTo>
                <a:cubicBezTo>
                  <a:pt x="0" y="5318"/>
                  <a:pt x="0" y="5305"/>
                  <a:pt x="0" y="5293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reeform: Shape 337"/>
          <p:cNvSpPr/>
          <p:nvPr/>
        </p:nvSpPr>
        <p:spPr>
          <a:xfrm>
            <a:off x="534600" y="2164320"/>
            <a:ext cx="67320" cy="1972440"/>
          </a:xfrm>
          <a:custGeom>
            <a:avLst/>
            <a:gdLst/>
            <a:ahLst/>
            <a:cxnLst/>
            <a:rect l="0" t="0" r="r" b="b"/>
            <a:pathLst>
              <a:path w="187" h="5479">
                <a:moveTo>
                  <a:pt x="0" y="0"/>
                </a:moveTo>
                <a:lnTo>
                  <a:pt x="187" y="0"/>
                </a:lnTo>
                <a:lnTo>
                  <a:pt x="187" y="5479"/>
                </a:lnTo>
                <a:lnTo>
                  <a:pt x="0" y="54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reeform: Shape 338"/>
          <p:cNvSpPr/>
          <p:nvPr/>
        </p:nvSpPr>
        <p:spPr>
          <a:xfrm>
            <a:off x="768600" y="2398320"/>
            <a:ext cx="326160" cy="401400"/>
          </a:xfrm>
          <a:custGeom>
            <a:avLst/>
            <a:gdLst/>
            <a:ahLst/>
            <a:cxnLst/>
            <a:rect l="0" t="0" r="r" b="b"/>
            <a:pathLst>
              <a:path w="906" h="1115">
                <a:moveTo>
                  <a:pt x="0" y="662"/>
                </a:moveTo>
                <a:lnTo>
                  <a:pt x="0" y="452"/>
                </a:lnTo>
                <a:cubicBezTo>
                  <a:pt x="0" y="423"/>
                  <a:pt x="3" y="393"/>
                  <a:pt x="9" y="364"/>
                </a:cubicBezTo>
                <a:cubicBezTo>
                  <a:pt x="15" y="335"/>
                  <a:pt x="23" y="307"/>
                  <a:pt x="35" y="279"/>
                </a:cubicBezTo>
                <a:cubicBezTo>
                  <a:pt x="46" y="252"/>
                  <a:pt x="60" y="226"/>
                  <a:pt x="76" y="201"/>
                </a:cubicBezTo>
                <a:cubicBezTo>
                  <a:pt x="93" y="176"/>
                  <a:pt x="112" y="153"/>
                  <a:pt x="134" y="132"/>
                </a:cubicBezTo>
                <a:cubicBezTo>
                  <a:pt x="155" y="111"/>
                  <a:pt x="178" y="92"/>
                  <a:pt x="202" y="76"/>
                </a:cubicBezTo>
                <a:cubicBezTo>
                  <a:pt x="227" y="59"/>
                  <a:pt x="253" y="45"/>
                  <a:pt x="281" y="34"/>
                </a:cubicBezTo>
                <a:cubicBezTo>
                  <a:pt x="308" y="23"/>
                  <a:pt x="336" y="14"/>
                  <a:pt x="365" y="8"/>
                </a:cubicBezTo>
                <a:cubicBezTo>
                  <a:pt x="395" y="3"/>
                  <a:pt x="424" y="0"/>
                  <a:pt x="454" y="0"/>
                </a:cubicBezTo>
                <a:cubicBezTo>
                  <a:pt x="483" y="0"/>
                  <a:pt x="513" y="3"/>
                  <a:pt x="542" y="8"/>
                </a:cubicBezTo>
                <a:cubicBezTo>
                  <a:pt x="571" y="14"/>
                  <a:pt x="600" y="23"/>
                  <a:pt x="627" y="34"/>
                </a:cubicBezTo>
                <a:cubicBezTo>
                  <a:pt x="654" y="45"/>
                  <a:pt x="681" y="59"/>
                  <a:pt x="705" y="76"/>
                </a:cubicBezTo>
                <a:cubicBezTo>
                  <a:pt x="730" y="92"/>
                  <a:pt x="753" y="111"/>
                  <a:pt x="774" y="132"/>
                </a:cubicBezTo>
                <a:cubicBezTo>
                  <a:pt x="795" y="153"/>
                  <a:pt x="814" y="176"/>
                  <a:pt x="830" y="201"/>
                </a:cubicBezTo>
                <a:cubicBezTo>
                  <a:pt x="847" y="226"/>
                  <a:pt x="861" y="252"/>
                  <a:pt x="872" y="279"/>
                </a:cubicBezTo>
                <a:cubicBezTo>
                  <a:pt x="883" y="307"/>
                  <a:pt x="892" y="335"/>
                  <a:pt x="898" y="364"/>
                </a:cubicBezTo>
                <a:cubicBezTo>
                  <a:pt x="904" y="393"/>
                  <a:pt x="906" y="423"/>
                  <a:pt x="906" y="452"/>
                </a:cubicBezTo>
                <a:lnTo>
                  <a:pt x="906" y="662"/>
                </a:lnTo>
                <a:cubicBezTo>
                  <a:pt x="906" y="692"/>
                  <a:pt x="904" y="721"/>
                  <a:pt x="898" y="751"/>
                </a:cubicBezTo>
                <a:cubicBezTo>
                  <a:pt x="892" y="780"/>
                  <a:pt x="883" y="808"/>
                  <a:pt x="872" y="835"/>
                </a:cubicBezTo>
                <a:cubicBezTo>
                  <a:pt x="861" y="863"/>
                  <a:pt x="847" y="889"/>
                  <a:pt x="830" y="914"/>
                </a:cubicBezTo>
                <a:cubicBezTo>
                  <a:pt x="814" y="938"/>
                  <a:pt x="795" y="961"/>
                  <a:pt x="774" y="982"/>
                </a:cubicBezTo>
                <a:cubicBezTo>
                  <a:pt x="753" y="1003"/>
                  <a:pt x="730" y="1022"/>
                  <a:pt x="705" y="1039"/>
                </a:cubicBezTo>
                <a:cubicBezTo>
                  <a:pt x="681" y="1055"/>
                  <a:pt x="654" y="1069"/>
                  <a:pt x="627" y="1080"/>
                </a:cubicBezTo>
                <a:cubicBezTo>
                  <a:pt x="600" y="1092"/>
                  <a:pt x="571" y="1100"/>
                  <a:pt x="542" y="1106"/>
                </a:cubicBezTo>
                <a:cubicBezTo>
                  <a:pt x="513" y="1112"/>
                  <a:pt x="483" y="1115"/>
                  <a:pt x="454" y="1115"/>
                </a:cubicBezTo>
                <a:cubicBezTo>
                  <a:pt x="424" y="1115"/>
                  <a:pt x="395" y="1112"/>
                  <a:pt x="365" y="1106"/>
                </a:cubicBezTo>
                <a:cubicBezTo>
                  <a:pt x="336" y="1100"/>
                  <a:pt x="308" y="1092"/>
                  <a:pt x="281" y="1080"/>
                </a:cubicBezTo>
                <a:cubicBezTo>
                  <a:pt x="253" y="1069"/>
                  <a:pt x="227" y="1055"/>
                  <a:pt x="202" y="1039"/>
                </a:cubicBezTo>
                <a:cubicBezTo>
                  <a:pt x="178" y="1022"/>
                  <a:pt x="155" y="1003"/>
                  <a:pt x="134" y="982"/>
                </a:cubicBezTo>
                <a:cubicBezTo>
                  <a:pt x="112" y="961"/>
                  <a:pt x="93" y="938"/>
                  <a:pt x="76" y="914"/>
                </a:cubicBezTo>
                <a:cubicBezTo>
                  <a:pt x="60" y="889"/>
                  <a:pt x="46" y="863"/>
                  <a:pt x="35" y="835"/>
                </a:cubicBezTo>
                <a:cubicBezTo>
                  <a:pt x="23" y="808"/>
                  <a:pt x="15" y="780"/>
                  <a:pt x="9" y="751"/>
                </a:cubicBezTo>
                <a:cubicBezTo>
                  <a:pt x="3" y="721"/>
                  <a:pt x="0" y="692"/>
                  <a:pt x="0" y="662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40" name="Picture 339"/>
          <p:cNvPicPr/>
          <p:nvPr/>
        </p:nvPicPr>
        <p:blipFill>
          <a:blip r:embed="rId14"/>
          <a:stretch/>
        </p:blipFill>
        <p:spPr>
          <a:xfrm>
            <a:off x="869040" y="249876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Box 340"/>
          <p:cNvSpPr txBox="1"/>
          <p:nvPr/>
        </p:nvSpPr>
        <p:spPr>
          <a:xfrm>
            <a:off x="9898920" y="5858280"/>
            <a:ext cx="26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6/10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228320" y="2385360"/>
            <a:ext cx="8622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Establish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TextBox 342"/>
          <p:cNvSpPr txBox="1"/>
          <p:nvPr/>
        </p:nvSpPr>
        <p:spPr>
          <a:xfrm>
            <a:off x="1228320" y="2619360"/>
            <a:ext cx="562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Policy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768960" y="2949840"/>
            <a:ext cx="1379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Develop a formal patch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TextBox 344"/>
          <p:cNvSpPr txBox="1"/>
          <p:nvPr/>
        </p:nvSpPr>
        <p:spPr>
          <a:xfrm>
            <a:off x="768960" y="3117240"/>
            <a:ext cx="1445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management policy that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TextBox 345"/>
          <p:cNvSpPr txBox="1"/>
          <p:nvPr/>
        </p:nvSpPr>
        <p:spPr>
          <a:xfrm>
            <a:off x="768960" y="3284280"/>
            <a:ext cx="789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deﬁnes roles,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TextBox 346"/>
          <p:cNvSpPr txBox="1"/>
          <p:nvPr/>
        </p:nvSpPr>
        <p:spPr>
          <a:xfrm>
            <a:off x="768960" y="3451320"/>
            <a:ext cx="1176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responsibilities,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TextBox 347"/>
          <p:cNvSpPr txBox="1"/>
          <p:nvPr/>
        </p:nvSpPr>
        <p:spPr>
          <a:xfrm>
            <a:off x="768960" y="3618360"/>
            <a:ext cx="1090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procedures for the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reeform: Shape 348"/>
          <p:cNvSpPr/>
          <p:nvPr/>
        </p:nvSpPr>
        <p:spPr>
          <a:xfrm>
            <a:off x="2431440" y="2164320"/>
            <a:ext cx="1872360" cy="1972440"/>
          </a:xfrm>
          <a:custGeom>
            <a:avLst/>
            <a:gdLst/>
            <a:ahLst/>
            <a:cxnLst/>
            <a:rect l="0" t="0" r="r" b="b"/>
            <a:pathLst>
              <a:path w="5201" h="5479">
                <a:moveTo>
                  <a:pt x="0" y="529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8" y="126"/>
                  <a:pt x="11" y="114"/>
                </a:cubicBezTo>
                <a:cubicBezTo>
                  <a:pt x="15" y="103"/>
                  <a:pt x="19" y="92"/>
                  <a:pt x="24" y="82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5"/>
                  <a:pt x="55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4" y="6"/>
                  <a:pt x="113" y="3"/>
                </a:cubicBezTo>
                <a:cubicBezTo>
                  <a:pt x="122" y="1"/>
                  <a:pt x="131" y="0"/>
                  <a:pt x="140" y="0"/>
                </a:cubicBezTo>
                <a:lnTo>
                  <a:pt x="5016" y="0"/>
                </a:lnTo>
                <a:cubicBezTo>
                  <a:pt x="5028" y="0"/>
                  <a:pt x="5040" y="1"/>
                  <a:pt x="5052" y="3"/>
                </a:cubicBezTo>
                <a:cubicBezTo>
                  <a:pt x="5064" y="6"/>
                  <a:pt x="5075" y="9"/>
                  <a:pt x="5087" y="14"/>
                </a:cubicBezTo>
                <a:cubicBezTo>
                  <a:pt x="5098" y="18"/>
                  <a:pt x="5109" y="24"/>
                  <a:pt x="5119" y="31"/>
                </a:cubicBezTo>
                <a:cubicBezTo>
                  <a:pt x="5129" y="38"/>
                  <a:pt x="5138" y="45"/>
                  <a:pt x="5147" y="54"/>
                </a:cubicBezTo>
                <a:cubicBezTo>
                  <a:pt x="5155" y="63"/>
                  <a:pt x="5163" y="72"/>
                  <a:pt x="5170" y="82"/>
                </a:cubicBezTo>
                <a:cubicBezTo>
                  <a:pt x="5177" y="92"/>
                  <a:pt x="5182" y="103"/>
                  <a:pt x="5187" y="114"/>
                </a:cubicBezTo>
                <a:cubicBezTo>
                  <a:pt x="5192" y="126"/>
                  <a:pt x="5195" y="137"/>
                  <a:pt x="5198" y="149"/>
                </a:cubicBezTo>
                <a:cubicBezTo>
                  <a:pt x="5200" y="161"/>
                  <a:pt x="5201" y="173"/>
                  <a:pt x="5201" y="185"/>
                </a:cubicBezTo>
                <a:lnTo>
                  <a:pt x="5201" y="5293"/>
                </a:lnTo>
                <a:cubicBezTo>
                  <a:pt x="5201" y="5305"/>
                  <a:pt x="5200" y="5318"/>
                  <a:pt x="5198" y="5329"/>
                </a:cubicBezTo>
                <a:cubicBezTo>
                  <a:pt x="5195" y="5341"/>
                  <a:pt x="5192" y="5353"/>
                  <a:pt x="5187" y="5364"/>
                </a:cubicBezTo>
                <a:cubicBezTo>
                  <a:pt x="5182" y="5376"/>
                  <a:pt x="5177" y="5386"/>
                  <a:pt x="5170" y="5396"/>
                </a:cubicBezTo>
                <a:cubicBezTo>
                  <a:pt x="5163" y="5407"/>
                  <a:pt x="5155" y="5416"/>
                  <a:pt x="5147" y="5425"/>
                </a:cubicBezTo>
                <a:cubicBezTo>
                  <a:pt x="5138" y="5433"/>
                  <a:pt x="5129" y="5441"/>
                  <a:pt x="5119" y="5448"/>
                </a:cubicBezTo>
                <a:cubicBezTo>
                  <a:pt x="5109" y="5454"/>
                  <a:pt x="5098" y="5460"/>
                  <a:pt x="5087" y="5465"/>
                </a:cubicBezTo>
                <a:cubicBezTo>
                  <a:pt x="5075" y="5469"/>
                  <a:pt x="5064" y="5473"/>
                  <a:pt x="5052" y="5475"/>
                </a:cubicBezTo>
                <a:cubicBezTo>
                  <a:pt x="5040" y="5478"/>
                  <a:pt x="5028" y="5479"/>
                  <a:pt x="5016" y="5479"/>
                </a:cubicBezTo>
                <a:lnTo>
                  <a:pt x="140" y="5479"/>
                </a:lnTo>
                <a:cubicBezTo>
                  <a:pt x="131" y="5479"/>
                  <a:pt x="122" y="5478"/>
                  <a:pt x="113" y="5475"/>
                </a:cubicBezTo>
                <a:cubicBezTo>
                  <a:pt x="104" y="5473"/>
                  <a:pt x="95" y="5469"/>
                  <a:pt x="86" y="5465"/>
                </a:cubicBezTo>
                <a:cubicBezTo>
                  <a:pt x="78" y="5460"/>
                  <a:pt x="70" y="5454"/>
                  <a:pt x="62" y="5448"/>
                </a:cubicBezTo>
                <a:cubicBezTo>
                  <a:pt x="55" y="5441"/>
                  <a:pt x="48" y="5433"/>
                  <a:pt x="41" y="5425"/>
                </a:cubicBezTo>
                <a:cubicBezTo>
                  <a:pt x="35" y="5416"/>
                  <a:pt x="29" y="5407"/>
                  <a:pt x="24" y="5396"/>
                </a:cubicBezTo>
                <a:cubicBezTo>
                  <a:pt x="19" y="5386"/>
                  <a:pt x="15" y="5376"/>
                  <a:pt x="11" y="5364"/>
                </a:cubicBezTo>
                <a:cubicBezTo>
                  <a:pt x="8" y="5353"/>
                  <a:pt x="5" y="5341"/>
                  <a:pt x="3" y="5329"/>
                </a:cubicBezTo>
                <a:cubicBezTo>
                  <a:pt x="1" y="5318"/>
                  <a:pt x="0" y="5305"/>
                  <a:pt x="0" y="5293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reeform: Shape 349"/>
          <p:cNvSpPr/>
          <p:nvPr/>
        </p:nvSpPr>
        <p:spPr>
          <a:xfrm>
            <a:off x="2414880" y="2164320"/>
            <a:ext cx="67320" cy="1972440"/>
          </a:xfrm>
          <a:custGeom>
            <a:avLst/>
            <a:gdLst/>
            <a:ahLst/>
            <a:cxnLst/>
            <a:rect l="0" t="0" r="r" b="b"/>
            <a:pathLst>
              <a:path w="187" h="5479">
                <a:moveTo>
                  <a:pt x="0" y="0"/>
                </a:moveTo>
                <a:lnTo>
                  <a:pt x="187" y="0"/>
                </a:lnTo>
                <a:lnTo>
                  <a:pt x="187" y="5479"/>
                </a:lnTo>
                <a:lnTo>
                  <a:pt x="0" y="54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reeform: Shape 350"/>
          <p:cNvSpPr/>
          <p:nvPr/>
        </p:nvSpPr>
        <p:spPr>
          <a:xfrm>
            <a:off x="2648880" y="2398320"/>
            <a:ext cx="367920" cy="401400"/>
          </a:xfrm>
          <a:custGeom>
            <a:avLst/>
            <a:gdLst/>
            <a:ahLst/>
            <a:cxnLst/>
            <a:rect l="0" t="0" r="r" b="b"/>
            <a:pathLst>
              <a:path w="1022" h="1115">
                <a:moveTo>
                  <a:pt x="0" y="604"/>
                </a:moveTo>
                <a:lnTo>
                  <a:pt x="0" y="510"/>
                </a:lnTo>
                <a:cubicBezTo>
                  <a:pt x="0" y="477"/>
                  <a:pt x="3" y="444"/>
                  <a:pt x="10" y="411"/>
                </a:cubicBezTo>
                <a:cubicBezTo>
                  <a:pt x="16" y="378"/>
                  <a:pt x="26" y="346"/>
                  <a:pt x="39" y="315"/>
                </a:cubicBezTo>
                <a:cubicBezTo>
                  <a:pt x="52" y="284"/>
                  <a:pt x="67" y="254"/>
                  <a:pt x="86" y="227"/>
                </a:cubicBezTo>
                <a:cubicBezTo>
                  <a:pt x="105" y="199"/>
                  <a:pt x="126" y="173"/>
                  <a:pt x="150" y="149"/>
                </a:cubicBezTo>
                <a:cubicBezTo>
                  <a:pt x="173" y="126"/>
                  <a:pt x="199" y="104"/>
                  <a:pt x="227" y="86"/>
                </a:cubicBezTo>
                <a:cubicBezTo>
                  <a:pt x="255" y="67"/>
                  <a:pt x="284" y="51"/>
                  <a:pt x="316" y="39"/>
                </a:cubicBezTo>
                <a:cubicBezTo>
                  <a:pt x="347" y="26"/>
                  <a:pt x="379" y="16"/>
                  <a:pt x="412" y="9"/>
                </a:cubicBezTo>
                <a:cubicBezTo>
                  <a:pt x="445" y="3"/>
                  <a:pt x="478" y="0"/>
                  <a:pt x="512" y="0"/>
                </a:cubicBezTo>
                <a:cubicBezTo>
                  <a:pt x="545" y="0"/>
                  <a:pt x="578" y="3"/>
                  <a:pt x="611" y="9"/>
                </a:cubicBezTo>
                <a:cubicBezTo>
                  <a:pt x="644" y="16"/>
                  <a:pt x="676" y="26"/>
                  <a:pt x="707" y="39"/>
                </a:cubicBezTo>
                <a:cubicBezTo>
                  <a:pt x="738" y="51"/>
                  <a:pt x="768" y="67"/>
                  <a:pt x="795" y="86"/>
                </a:cubicBezTo>
                <a:cubicBezTo>
                  <a:pt x="823" y="104"/>
                  <a:pt x="849" y="126"/>
                  <a:pt x="873" y="149"/>
                </a:cubicBezTo>
                <a:cubicBezTo>
                  <a:pt x="897" y="173"/>
                  <a:pt x="918" y="199"/>
                  <a:pt x="936" y="227"/>
                </a:cubicBezTo>
                <a:cubicBezTo>
                  <a:pt x="955" y="254"/>
                  <a:pt x="971" y="284"/>
                  <a:pt x="984" y="315"/>
                </a:cubicBezTo>
                <a:cubicBezTo>
                  <a:pt x="996" y="346"/>
                  <a:pt x="1006" y="378"/>
                  <a:pt x="1013" y="411"/>
                </a:cubicBezTo>
                <a:cubicBezTo>
                  <a:pt x="1019" y="444"/>
                  <a:pt x="1022" y="477"/>
                  <a:pt x="1022" y="510"/>
                </a:cubicBezTo>
                <a:lnTo>
                  <a:pt x="1022" y="604"/>
                </a:lnTo>
                <a:cubicBezTo>
                  <a:pt x="1022" y="638"/>
                  <a:pt x="1019" y="671"/>
                  <a:pt x="1013" y="704"/>
                </a:cubicBezTo>
                <a:cubicBezTo>
                  <a:pt x="1006" y="737"/>
                  <a:pt x="996" y="769"/>
                  <a:pt x="984" y="800"/>
                </a:cubicBezTo>
                <a:cubicBezTo>
                  <a:pt x="971" y="831"/>
                  <a:pt x="955" y="860"/>
                  <a:pt x="936" y="888"/>
                </a:cubicBezTo>
                <a:cubicBezTo>
                  <a:pt x="918" y="916"/>
                  <a:pt x="897" y="942"/>
                  <a:pt x="873" y="965"/>
                </a:cubicBezTo>
                <a:cubicBezTo>
                  <a:pt x="849" y="989"/>
                  <a:pt x="823" y="1010"/>
                  <a:pt x="795" y="1029"/>
                </a:cubicBezTo>
                <a:cubicBezTo>
                  <a:pt x="768" y="1047"/>
                  <a:pt x="738" y="1063"/>
                  <a:pt x="707" y="1076"/>
                </a:cubicBezTo>
                <a:cubicBezTo>
                  <a:pt x="676" y="1089"/>
                  <a:pt x="644" y="1099"/>
                  <a:pt x="611" y="1105"/>
                </a:cubicBezTo>
                <a:cubicBezTo>
                  <a:pt x="578" y="1112"/>
                  <a:pt x="545" y="1115"/>
                  <a:pt x="512" y="1115"/>
                </a:cubicBezTo>
                <a:cubicBezTo>
                  <a:pt x="478" y="1115"/>
                  <a:pt x="445" y="1112"/>
                  <a:pt x="412" y="1105"/>
                </a:cubicBezTo>
                <a:cubicBezTo>
                  <a:pt x="379" y="1099"/>
                  <a:pt x="347" y="1089"/>
                  <a:pt x="316" y="1076"/>
                </a:cubicBezTo>
                <a:cubicBezTo>
                  <a:pt x="284" y="1063"/>
                  <a:pt x="255" y="1047"/>
                  <a:pt x="227" y="1029"/>
                </a:cubicBezTo>
                <a:cubicBezTo>
                  <a:pt x="199" y="1010"/>
                  <a:pt x="173" y="989"/>
                  <a:pt x="150" y="965"/>
                </a:cubicBezTo>
                <a:cubicBezTo>
                  <a:pt x="126" y="942"/>
                  <a:pt x="105" y="916"/>
                  <a:pt x="86" y="888"/>
                </a:cubicBezTo>
                <a:cubicBezTo>
                  <a:pt x="67" y="860"/>
                  <a:pt x="52" y="831"/>
                  <a:pt x="39" y="800"/>
                </a:cubicBezTo>
                <a:cubicBezTo>
                  <a:pt x="26" y="769"/>
                  <a:pt x="16" y="737"/>
                  <a:pt x="10" y="704"/>
                </a:cubicBezTo>
                <a:cubicBezTo>
                  <a:pt x="3" y="671"/>
                  <a:pt x="0" y="638"/>
                  <a:pt x="0" y="604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52" name="Picture 351"/>
          <p:cNvPicPr/>
          <p:nvPr/>
        </p:nvPicPr>
        <p:blipFill>
          <a:blip r:embed="rId15"/>
          <a:stretch/>
        </p:blipFill>
        <p:spPr>
          <a:xfrm>
            <a:off x="2749320" y="24987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Box 352"/>
          <p:cNvSpPr txBox="1"/>
          <p:nvPr/>
        </p:nvSpPr>
        <p:spPr>
          <a:xfrm>
            <a:off x="768960" y="3785760"/>
            <a:ext cx="1452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entire patching lifecycle.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TextBox 353"/>
          <p:cNvSpPr txBox="1"/>
          <p:nvPr/>
        </p:nvSpPr>
        <p:spPr>
          <a:xfrm>
            <a:off x="3153960" y="2385360"/>
            <a:ext cx="8679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Prioritize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TextBox 354"/>
          <p:cNvSpPr txBox="1"/>
          <p:nvPr/>
        </p:nvSpPr>
        <p:spPr>
          <a:xfrm>
            <a:off x="3153960" y="2619360"/>
            <a:ext cx="7491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Patches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TextBox 355"/>
          <p:cNvSpPr txBox="1"/>
          <p:nvPr/>
        </p:nvSpPr>
        <p:spPr>
          <a:xfrm>
            <a:off x="2652480" y="2949840"/>
            <a:ext cx="1382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Prioritize vulnerabilities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TextBox 356"/>
          <p:cNvSpPr txBox="1"/>
          <p:nvPr/>
        </p:nvSpPr>
        <p:spPr>
          <a:xfrm>
            <a:off x="2652480" y="3117240"/>
            <a:ext cx="1305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based on severity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TextBox 357"/>
          <p:cNvSpPr txBox="1"/>
          <p:nvPr/>
        </p:nvSpPr>
        <p:spPr>
          <a:xfrm>
            <a:off x="2652480" y="3284280"/>
            <a:ext cx="1001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potential impact,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TextBox 358"/>
          <p:cNvSpPr txBox="1"/>
          <p:nvPr/>
        </p:nvSpPr>
        <p:spPr>
          <a:xfrm>
            <a:off x="2652480" y="3451320"/>
            <a:ext cx="12063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addressing the most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TextBox 359"/>
          <p:cNvSpPr txBox="1"/>
          <p:nvPr/>
        </p:nvSpPr>
        <p:spPr>
          <a:xfrm>
            <a:off x="2652480" y="3618360"/>
            <a:ext cx="1272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critical threats ﬁrst 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reeform: Shape 360"/>
          <p:cNvSpPr/>
          <p:nvPr/>
        </p:nvSpPr>
        <p:spPr>
          <a:xfrm>
            <a:off x="4320360" y="1996920"/>
            <a:ext cx="1880640" cy="2306880"/>
          </a:xfrm>
          <a:custGeom>
            <a:avLst/>
            <a:gdLst/>
            <a:ahLst/>
            <a:cxnLst/>
            <a:rect l="0" t="0" r="r" b="b"/>
            <a:pathLst>
              <a:path w="5224" h="6408">
                <a:moveTo>
                  <a:pt x="0" y="6223"/>
                </a:moveTo>
                <a:lnTo>
                  <a:pt x="0" y="186"/>
                </a:lnTo>
                <a:cubicBezTo>
                  <a:pt x="0" y="174"/>
                  <a:pt x="1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0" y="55"/>
                </a:cubicBezTo>
                <a:cubicBezTo>
                  <a:pt x="47" y="46"/>
                  <a:pt x="54" y="38"/>
                  <a:pt x="62" y="32"/>
                </a:cubicBezTo>
                <a:cubicBezTo>
                  <a:pt x="69" y="25"/>
                  <a:pt x="77" y="19"/>
                  <a:pt x="86" y="15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2"/>
                  <a:pt x="130" y="0"/>
                  <a:pt x="139" y="0"/>
                </a:cubicBezTo>
                <a:lnTo>
                  <a:pt x="5038" y="0"/>
                </a:lnTo>
                <a:cubicBezTo>
                  <a:pt x="5050" y="0"/>
                  <a:pt x="5062" y="2"/>
                  <a:pt x="5074" y="4"/>
                </a:cubicBezTo>
                <a:cubicBezTo>
                  <a:pt x="5086" y="6"/>
                  <a:pt x="5098" y="10"/>
                  <a:pt x="5109" y="15"/>
                </a:cubicBezTo>
                <a:cubicBezTo>
                  <a:pt x="5120" y="19"/>
                  <a:pt x="5131" y="25"/>
                  <a:pt x="5141" y="32"/>
                </a:cubicBezTo>
                <a:cubicBezTo>
                  <a:pt x="5151" y="38"/>
                  <a:pt x="5161" y="46"/>
                  <a:pt x="5169" y="55"/>
                </a:cubicBezTo>
                <a:cubicBezTo>
                  <a:pt x="5178" y="63"/>
                  <a:pt x="5186" y="73"/>
                  <a:pt x="5192" y="83"/>
                </a:cubicBezTo>
                <a:cubicBezTo>
                  <a:pt x="5199" y="93"/>
                  <a:pt x="5205" y="104"/>
                  <a:pt x="5209" y="115"/>
                </a:cubicBezTo>
                <a:cubicBezTo>
                  <a:pt x="5214" y="126"/>
                  <a:pt x="5218" y="138"/>
                  <a:pt x="5220" y="150"/>
                </a:cubicBezTo>
                <a:cubicBezTo>
                  <a:pt x="5222" y="162"/>
                  <a:pt x="5224" y="174"/>
                  <a:pt x="5224" y="186"/>
                </a:cubicBezTo>
                <a:lnTo>
                  <a:pt x="5224" y="6223"/>
                </a:lnTo>
                <a:cubicBezTo>
                  <a:pt x="5224" y="6235"/>
                  <a:pt x="5222" y="6247"/>
                  <a:pt x="5220" y="6259"/>
                </a:cubicBezTo>
                <a:cubicBezTo>
                  <a:pt x="5218" y="6271"/>
                  <a:pt x="5214" y="6282"/>
                  <a:pt x="5209" y="6294"/>
                </a:cubicBezTo>
                <a:cubicBezTo>
                  <a:pt x="5205" y="6305"/>
                  <a:pt x="5199" y="6316"/>
                  <a:pt x="5192" y="6326"/>
                </a:cubicBezTo>
                <a:cubicBezTo>
                  <a:pt x="5186" y="6336"/>
                  <a:pt x="5178" y="6345"/>
                  <a:pt x="5169" y="6354"/>
                </a:cubicBezTo>
                <a:cubicBezTo>
                  <a:pt x="5161" y="6362"/>
                  <a:pt x="5151" y="6370"/>
                  <a:pt x="5141" y="6377"/>
                </a:cubicBezTo>
                <a:cubicBezTo>
                  <a:pt x="5131" y="6384"/>
                  <a:pt x="5120" y="6389"/>
                  <a:pt x="5109" y="6394"/>
                </a:cubicBezTo>
                <a:cubicBezTo>
                  <a:pt x="5098" y="6399"/>
                  <a:pt x="5086" y="6402"/>
                  <a:pt x="5074" y="6405"/>
                </a:cubicBezTo>
                <a:cubicBezTo>
                  <a:pt x="5062" y="6407"/>
                  <a:pt x="5050" y="6408"/>
                  <a:pt x="5038" y="6408"/>
                </a:cubicBezTo>
                <a:lnTo>
                  <a:pt x="139" y="6408"/>
                </a:lnTo>
                <a:cubicBezTo>
                  <a:pt x="130" y="6408"/>
                  <a:pt x="121" y="6407"/>
                  <a:pt x="112" y="6405"/>
                </a:cubicBezTo>
                <a:cubicBezTo>
                  <a:pt x="103" y="6402"/>
                  <a:pt x="94" y="6399"/>
                  <a:pt x="86" y="6394"/>
                </a:cubicBezTo>
                <a:cubicBezTo>
                  <a:pt x="77" y="6389"/>
                  <a:pt x="69" y="6384"/>
                  <a:pt x="62" y="6377"/>
                </a:cubicBezTo>
                <a:cubicBezTo>
                  <a:pt x="54" y="6370"/>
                  <a:pt x="47" y="6362"/>
                  <a:pt x="40" y="6354"/>
                </a:cubicBezTo>
                <a:cubicBezTo>
                  <a:pt x="34" y="6345"/>
                  <a:pt x="28" y="6336"/>
                  <a:pt x="23" y="6326"/>
                </a:cubicBezTo>
                <a:cubicBezTo>
                  <a:pt x="18" y="6316"/>
                  <a:pt x="14" y="6305"/>
                  <a:pt x="10" y="6294"/>
                </a:cubicBezTo>
                <a:cubicBezTo>
                  <a:pt x="7" y="6282"/>
                  <a:pt x="4" y="6271"/>
                  <a:pt x="2" y="6259"/>
                </a:cubicBezTo>
                <a:cubicBezTo>
                  <a:pt x="1" y="6247"/>
                  <a:pt x="0" y="6235"/>
                  <a:pt x="0" y="6223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reeform: Shape 361"/>
          <p:cNvSpPr/>
          <p:nvPr/>
        </p:nvSpPr>
        <p:spPr>
          <a:xfrm>
            <a:off x="4303440" y="1996920"/>
            <a:ext cx="67320" cy="2306880"/>
          </a:xfrm>
          <a:custGeom>
            <a:avLst/>
            <a:gdLst/>
            <a:ahLst/>
            <a:cxnLst/>
            <a:rect l="0" t="0" r="r" b="b"/>
            <a:pathLst>
              <a:path w="187" h="6408">
                <a:moveTo>
                  <a:pt x="0" y="0"/>
                </a:moveTo>
                <a:lnTo>
                  <a:pt x="187" y="0"/>
                </a:lnTo>
                <a:lnTo>
                  <a:pt x="187" y="6408"/>
                </a:lnTo>
                <a:lnTo>
                  <a:pt x="0" y="640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reeform: Shape 362"/>
          <p:cNvSpPr/>
          <p:nvPr/>
        </p:nvSpPr>
        <p:spPr>
          <a:xfrm>
            <a:off x="4537440" y="2230920"/>
            <a:ext cx="410040" cy="401760"/>
          </a:xfrm>
          <a:custGeom>
            <a:avLst/>
            <a:gdLst/>
            <a:ahLst/>
            <a:cxnLst/>
            <a:rect l="0" t="0" r="r" b="b"/>
            <a:pathLst>
              <a:path w="1139" h="1116">
                <a:moveTo>
                  <a:pt x="0" y="557"/>
                </a:moveTo>
                <a:cubicBezTo>
                  <a:pt x="0" y="521"/>
                  <a:pt x="4" y="485"/>
                  <a:pt x="11" y="449"/>
                </a:cubicBezTo>
                <a:cubicBezTo>
                  <a:pt x="18" y="413"/>
                  <a:pt x="29" y="378"/>
                  <a:pt x="43" y="344"/>
                </a:cubicBezTo>
                <a:cubicBezTo>
                  <a:pt x="57" y="311"/>
                  <a:pt x="74" y="278"/>
                  <a:pt x="94" y="248"/>
                </a:cubicBezTo>
                <a:cubicBezTo>
                  <a:pt x="114" y="218"/>
                  <a:pt x="137" y="189"/>
                  <a:pt x="163" y="164"/>
                </a:cubicBezTo>
                <a:cubicBezTo>
                  <a:pt x="189" y="138"/>
                  <a:pt x="217" y="115"/>
                  <a:pt x="248" y="94"/>
                </a:cubicBezTo>
                <a:cubicBezTo>
                  <a:pt x="278" y="74"/>
                  <a:pt x="310" y="57"/>
                  <a:pt x="344" y="43"/>
                </a:cubicBezTo>
                <a:cubicBezTo>
                  <a:pt x="378" y="29"/>
                  <a:pt x="413" y="18"/>
                  <a:pt x="449" y="11"/>
                </a:cubicBezTo>
                <a:cubicBezTo>
                  <a:pt x="485" y="4"/>
                  <a:pt x="522" y="0"/>
                  <a:pt x="558" y="0"/>
                </a:cubicBezTo>
                <a:lnTo>
                  <a:pt x="582" y="0"/>
                </a:lnTo>
                <a:cubicBezTo>
                  <a:pt x="618" y="0"/>
                  <a:pt x="654" y="4"/>
                  <a:pt x="690" y="11"/>
                </a:cubicBezTo>
                <a:cubicBezTo>
                  <a:pt x="726" y="18"/>
                  <a:pt x="761" y="29"/>
                  <a:pt x="795" y="43"/>
                </a:cubicBezTo>
                <a:cubicBezTo>
                  <a:pt x="829" y="57"/>
                  <a:pt x="861" y="74"/>
                  <a:pt x="891" y="94"/>
                </a:cubicBezTo>
                <a:cubicBezTo>
                  <a:pt x="921" y="115"/>
                  <a:pt x="950" y="138"/>
                  <a:pt x="975" y="164"/>
                </a:cubicBezTo>
                <a:cubicBezTo>
                  <a:pt x="1001" y="189"/>
                  <a:pt x="1024" y="218"/>
                  <a:pt x="1045" y="248"/>
                </a:cubicBezTo>
                <a:cubicBezTo>
                  <a:pt x="1065" y="278"/>
                  <a:pt x="1082" y="311"/>
                  <a:pt x="1096" y="344"/>
                </a:cubicBezTo>
                <a:cubicBezTo>
                  <a:pt x="1110" y="378"/>
                  <a:pt x="1121" y="413"/>
                  <a:pt x="1128" y="449"/>
                </a:cubicBezTo>
                <a:cubicBezTo>
                  <a:pt x="1135" y="485"/>
                  <a:pt x="1139" y="521"/>
                  <a:pt x="1139" y="557"/>
                </a:cubicBezTo>
                <a:cubicBezTo>
                  <a:pt x="1139" y="594"/>
                  <a:pt x="1135" y="630"/>
                  <a:pt x="1128" y="666"/>
                </a:cubicBezTo>
                <a:cubicBezTo>
                  <a:pt x="1121" y="702"/>
                  <a:pt x="1110" y="737"/>
                  <a:pt x="1096" y="771"/>
                </a:cubicBezTo>
                <a:cubicBezTo>
                  <a:pt x="1082" y="804"/>
                  <a:pt x="1065" y="837"/>
                  <a:pt x="1045" y="867"/>
                </a:cubicBezTo>
                <a:cubicBezTo>
                  <a:pt x="1024" y="897"/>
                  <a:pt x="1001" y="926"/>
                  <a:pt x="975" y="951"/>
                </a:cubicBezTo>
                <a:cubicBezTo>
                  <a:pt x="950" y="977"/>
                  <a:pt x="921" y="1000"/>
                  <a:pt x="891" y="1021"/>
                </a:cubicBezTo>
                <a:cubicBezTo>
                  <a:pt x="861" y="1041"/>
                  <a:pt x="829" y="1059"/>
                  <a:pt x="795" y="1073"/>
                </a:cubicBezTo>
                <a:cubicBezTo>
                  <a:pt x="761" y="1087"/>
                  <a:pt x="726" y="1098"/>
                  <a:pt x="690" y="1105"/>
                </a:cubicBezTo>
                <a:cubicBezTo>
                  <a:pt x="654" y="1112"/>
                  <a:pt x="618" y="1116"/>
                  <a:pt x="582" y="1116"/>
                </a:cubicBezTo>
                <a:lnTo>
                  <a:pt x="558" y="1116"/>
                </a:lnTo>
                <a:cubicBezTo>
                  <a:pt x="522" y="1116"/>
                  <a:pt x="485" y="1112"/>
                  <a:pt x="449" y="1105"/>
                </a:cubicBezTo>
                <a:cubicBezTo>
                  <a:pt x="413" y="1098"/>
                  <a:pt x="378" y="1087"/>
                  <a:pt x="344" y="1073"/>
                </a:cubicBezTo>
                <a:cubicBezTo>
                  <a:pt x="310" y="1059"/>
                  <a:pt x="278" y="1041"/>
                  <a:pt x="248" y="1021"/>
                </a:cubicBezTo>
                <a:cubicBezTo>
                  <a:pt x="217" y="1000"/>
                  <a:pt x="189" y="977"/>
                  <a:pt x="163" y="951"/>
                </a:cubicBezTo>
                <a:cubicBezTo>
                  <a:pt x="137" y="926"/>
                  <a:pt x="114" y="897"/>
                  <a:pt x="94" y="867"/>
                </a:cubicBezTo>
                <a:cubicBezTo>
                  <a:pt x="74" y="837"/>
                  <a:pt x="57" y="804"/>
                  <a:pt x="43" y="771"/>
                </a:cubicBezTo>
                <a:cubicBezTo>
                  <a:pt x="29" y="737"/>
                  <a:pt x="18" y="702"/>
                  <a:pt x="11" y="666"/>
                </a:cubicBezTo>
                <a:cubicBezTo>
                  <a:pt x="4" y="630"/>
                  <a:pt x="0" y="594"/>
                  <a:pt x="0" y="557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64" name="Picture 363"/>
          <p:cNvPicPr/>
          <p:nvPr/>
        </p:nvPicPr>
        <p:blipFill>
          <a:blip r:embed="rId16"/>
          <a:stretch/>
        </p:blipFill>
        <p:spPr>
          <a:xfrm>
            <a:off x="4637880" y="233136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Box 364"/>
          <p:cNvSpPr txBox="1"/>
          <p:nvPr/>
        </p:nvSpPr>
        <p:spPr>
          <a:xfrm>
            <a:off x="2652480" y="3785760"/>
            <a:ext cx="1340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reduce risk eﬀectively.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TextBox 365"/>
          <p:cNvSpPr txBox="1"/>
          <p:nvPr/>
        </p:nvSpPr>
        <p:spPr>
          <a:xfrm>
            <a:off x="5079240" y="2218320"/>
            <a:ext cx="926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Automate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TextBox 366"/>
          <p:cNvSpPr txBox="1"/>
          <p:nvPr/>
        </p:nvSpPr>
        <p:spPr>
          <a:xfrm>
            <a:off x="5079240" y="2452320"/>
            <a:ext cx="734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Process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TextBox 367"/>
          <p:cNvSpPr txBox="1"/>
          <p:nvPr/>
        </p:nvSpPr>
        <p:spPr>
          <a:xfrm>
            <a:off x="4536000" y="2782800"/>
            <a:ext cx="1217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Automation is key 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TextBox 368"/>
          <p:cNvSpPr txBox="1"/>
          <p:nvPr/>
        </p:nvSpPr>
        <p:spPr>
          <a:xfrm>
            <a:off x="4536000" y="2949840"/>
            <a:ext cx="1450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maintaining a consistent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TextBox 369"/>
          <p:cNvSpPr txBox="1"/>
          <p:nvPr/>
        </p:nvSpPr>
        <p:spPr>
          <a:xfrm>
            <a:off x="4536000" y="3117240"/>
            <a:ext cx="1284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and eﬃcient patching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TextBox 370"/>
          <p:cNvSpPr txBox="1"/>
          <p:nvPr/>
        </p:nvSpPr>
        <p:spPr>
          <a:xfrm>
            <a:off x="4536000" y="3284280"/>
            <a:ext cx="1186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schedule. It reduces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TextBox 371"/>
          <p:cNvSpPr txBox="1"/>
          <p:nvPr/>
        </p:nvSpPr>
        <p:spPr>
          <a:xfrm>
            <a:off x="4536000" y="3451320"/>
            <a:ext cx="1467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manual eﬀort, minimizes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TextBox 372"/>
          <p:cNvSpPr txBox="1"/>
          <p:nvPr/>
        </p:nvSpPr>
        <p:spPr>
          <a:xfrm>
            <a:off x="4536000" y="3618360"/>
            <a:ext cx="1031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human error,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TextBox 373"/>
          <p:cNvSpPr txBox="1"/>
          <p:nvPr/>
        </p:nvSpPr>
        <p:spPr>
          <a:xfrm>
            <a:off x="4536000" y="3785760"/>
            <a:ext cx="868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ensures timely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reeform: Shape 374"/>
          <p:cNvSpPr/>
          <p:nvPr/>
        </p:nvSpPr>
        <p:spPr>
          <a:xfrm>
            <a:off x="6217200" y="2164320"/>
            <a:ext cx="2064600" cy="1972440"/>
          </a:xfrm>
          <a:custGeom>
            <a:avLst/>
            <a:gdLst/>
            <a:ahLst/>
            <a:cxnLst/>
            <a:rect l="0" t="0" r="r" b="b"/>
            <a:pathLst>
              <a:path w="5735" h="5479">
                <a:moveTo>
                  <a:pt x="0" y="529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4" y="137"/>
                  <a:pt x="7" y="126"/>
                  <a:pt x="11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5549" y="0"/>
                </a:lnTo>
                <a:cubicBezTo>
                  <a:pt x="5561" y="0"/>
                  <a:pt x="5573" y="1"/>
                  <a:pt x="5585" y="3"/>
                </a:cubicBezTo>
                <a:cubicBezTo>
                  <a:pt x="5597" y="6"/>
                  <a:pt x="5609" y="9"/>
                  <a:pt x="5620" y="14"/>
                </a:cubicBezTo>
                <a:cubicBezTo>
                  <a:pt x="5631" y="18"/>
                  <a:pt x="5642" y="24"/>
                  <a:pt x="5652" y="31"/>
                </a:cubicBezTo>
                <a:cubicBezTo>
                  <a:pt x="5662" y="38"/>
                  <a:pt x="5672" y="45"/>
                  <a:pt x="5680" y="54"/>
                </a:cubicBezTo>
                <a:cubicBezTo>
                  <a:pt x="5689" y="63"/>
                  <a:pt x="5697" y="72"/>
                  <a:pt x="5703" y="82"/>
                </a:cubicBezTo>
                <a:cubicBezTo>
                  <a:pt x="5710" y="92"/>
                  <a:pt x="5716" y="103"/>
                  <a:pt x="5720" y="114"/>
                </a:cubicBezTo>
                <a:cubicBezTo>
                  <a:pt x="5725" y="126"/>
                  <a:pt x="5729" y="137"/>
                  <a:pt x="5731" y="149"/>
                </a:cubicBezTo>
                <a:cubicBezTo>
                  <a:pt x="5733" y="161"/>
                  <a:pt x="5735" y="173"/>
                  <a:pt x="5735" y="185"/>
                </a:cubicBezTo>
                <a:lnTo>
                  <a:pt x="5735" y="5293"/>
                </a:lnTo>
                <a:cubicBezTo>
                  <a:pt x="5735" y="5305"/>
                  <a:pt x="5733" y="5318"/>
                  <a:pt x="5731" y="5329"/>
                </a:cubicBezTo>
                <a:cubicBezTo>
                  <a:pt x="5729" y="5341"/>
                  <a:pt x="5725" y="5353"/>
                  <a:pt x="5720" y="5364"/>
                </a:cubicBezTo>
                <a:cubicBezTo>
                  <a:pt x="5716" y="5376"/>
                  <a:pt x="5710" y="5386"/>
                  <a:pt x="5703" y="5396"/>
                </a:cubicBezTo>
                <a:cubicBezTo>
                  <a:pt x="5697" y="5407"/>
                  <a:pt x="5689" y="5416"/>
                  <a:pt x="5680" y="5425"/>
                </a:cubicBezTo>
                <a:cubicBezTo>
                  <a:pt x="5672" y="5433"/>
                  <a:pt x="5662" y="5441"/>
                  <a:pt x="5652" y="5448"/>
                </a:cubicBezTo>
                <a:cubicBezTo>
                  <a:pt x="5642" y="5454"/>
                  <a:pt x="5631" y="5460"/>
                  <a:pt x="5620" y="5465"/>
                </a:cubicBezTo>
                <a:cubicBezTo>
                  <a:pt x="5609" y="5469"/>
                  <a:pt x="5597" y="5473"/>
                  <a:pt x="5585" y="5475"/>
                </a:cubicBezTo>
                <a:cubicBezTo>
                  <a:pt x="5573" y="5478"/>
                  <a:pt x="5561" y="5479"/>
                  <a:pt x="5549" y="5479"/>
                </a:cubicBezTo>
                <a:lnTo>
                  <a:pt x="139" y="5479"/>
                </a:lnTo>
                <a:cubicBezTo>
                  <a:pt x="130" y="5479"/>
                  <a:pt x="121" y="5478"/>
                  <a:pt x="112" y="5475"/>
                </a:cubicBezTo>
                <a:cubicBezTo>
                  <a:pt x="103" y="5473"/>
                  <a:pt x="94" y="5469"/>
                  <a:pt x="86" y="5465"/>
                </a:cubicBezTo>
                <a:cubicBezTo>
                  <a:pt x="78" y="5460"/>
                  <a:pt x="70" y="5454"/>
                  <a:pt x="62" y="5448"/>
                </a:cubicBezTo>
                <a:cubicBezTo>
                  <a:pt x="54" y="5441"/>
                  <a:pt x="47" y="5433"/>
                  <a:pt x="41" y="5425"/>
                </a:cubicBezTo>
                <a:cubicBezTo>
                  <a:pt x="34" y="5416"/>
                  <a:pt x="29" y="5407"/>
                  <a:pt x="23" y="5396"/>
                </a:cubicBezTo>
                <a:cubicBezTo>
                  <a:pt x="18" y="5386"/>
                  <a:pt x="14" y="5376"/>
                  <a:pt x="11" y="5364"/>
                </a:cubicBezTo>
                <a:cubicBezTo>
                  <a:pt x="7" y="5353"/>
                  <a:pt x="4" y="5341"/>
                  <a:pt x="3" y="5329"/>
                </a:cubicBezTo>
                <a:cubicBezTo>
                  <a:pt x="1" y="5318"/>
                  <a:pt x="0" y="5305"/>
                  <a:pt x="0" y="5293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reeform: Shape 375"/>
          <p:cNvSpPr/>
          <p:nvPr/>
        </p:nvSpPr>
        <p:spPr>
          <a:xfrm>
            <a:off x="6200640" y="2164320"/>
            <a:ext cx="66960" cy="1972440"/>
          </a:xfrm>
          <a:custGeom>
            <a:avLst/>
            <a:gdLst/>
            <a:ahLst/>
            <a:cxnLst/>
            <a:rect l="0" t="0" r="r" b="b"/>
            <a:pathLst>
              <a:path w="186" h="5479">
                <a:moveTo>
                  <a:pt x="0" y="0"/>
                </a:moveTo>
                <a:lnTo>
                  <a:pt x="186" y="0"/>
                </a:lnTo>
                <a:lnTo>
                  <a:pt x="186" y="5479"/>
                </a:lnTo>
                <a:lnTo>
                  <a:pt x="0" y="547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reeform: Shape 376"/>
          <p:cNvSpPr/>
          <p:nvPr/>
        </p:nvSpPr>
        <p:spPr>
          <a:xfrm>
            <a:off x="6434640" y="2398320"/>
            <a:ext cx="367920" cy="401400"/>
          </a:xfrm>
          <a:custGeom>
            <a:avLst/>
            <a:gdLst/>
            <a:ahLst/>
            <a:cxnLst/>
            <a:rect l="0" t="0" r="r" b="b"/>
            <a:pathLst>
              <a:path w="1022" h="1115">
                <a:moveTo>
                  <a:pt x="0" y="604"/>
                </a:moveTo>
                <a:lnTo>
                  <a:pt x="0" y="510"/>
                </a:lnTo>
                <a:cubicBezTo>
                  <a:pt x="0" y="477"/>
                  <a:pt x="3" y="444"/>
                  <a:pt x="9" y="411"/>
                </a:cubicBezTo>
                <a:cubicBezTo>
                  <a:pt x="16" y="378"/>
                  <a:pt x="26" y="346"/>
                  <a:pt x="38" y="315"/>
                </a:cubicBezTo>
                <a:cubicBezTo>
                  <a:pt x="51" y="284"/>
                  <a:pt x="67" y="254"/>
                  <a:pt x="86" y="227"/>
                </a:cubicBezTo>
                <a:cubicBezTo>
                  <a:pt x="104" y="199"/>
                  <a:pt x="125" y="173"/>
                  <a:pt x="149" y="149"/>
                </a:cubicBezTo>
                <a:cubicBezTo>
                  <a:pt x="173" y="126"/>
                  <a:pt x="199" y="104"/>
                  <a:pt x="227" y="86"/>
                </a:cubicBezTo>
                <a:cubicBezTo>
                  <a:pt x="254" y="67"/>
                  <a:pt x="284" y="51"/>
                  <a:pt x="315" y="39"/>
                </a:cubicBezTo>
                <a:cubicBezTo>
                  <a:pt x="346" y="26"/>
                  <a:pt x="378" y="16"/>
                  <a:pt x="411" y="9"/>
                </a:cubicBezTo>
                <a:cubicBezTo>
                  <a:pt x="443" y="3"/>
                  <a:pt x="477" y="0"/>
                  <a:pt x="510" y="0"/>
                </a:cubicBezTo>
                <a:cubicBezTo>
                  <a:pt x="544" y="0"/>
                  <a:pt x="577" y="3"/>
                  <a:pt x="610" y="9"/>
                </a:cubicBezTo>
                <a:cubicBezTo>
                  <a:pt x="643" y="16"/>
                  <a:pt x="675" y="26"/>
                  <a:pt x="706" y="39"/>
                </a:cubicBezTo>
                <a:cubicBezTo>
                  <a:pt x="737" y="51"/>
                  <a:pt x="766" y="67"/>
                  <a:pt x="794" y="86"/>
                </a:cubicBezTo>
                <a:cubicBezTo>
                  <a:pt x="822" y="104"/>
                  <a:pt x="848" y="126"/>
                  <a:pt x="871" y="149"/>
                </a:cubicBezTo>
                <a:cubicBezTo>
                  <a:pt x="895" y="173"/>
                  <a:pt x="916" y="199"/>
                  <a:pt x="935" y="227"/>
                </a:cubicBezTo>
                <a:cubicBezTo>
                  <a:pt x="953" y="254"/>
                  <a:pt x="969" y="284"/>
                  <a:pt x="982" y="315"/>
                </a:cubicBezTo>
                <a:cubicBezTo>
                  <a:pt x="995" y="346"/>
                  <a:pt x="1005" y="378"/>
                  <a:pt x="1011" y="411"/>
                </a:cubicBezTo>
                <a:cubicBezTo>
                  <a:pt x="1019" y="444"/>
                  <a:pt x="1022" y="477"/>
                  <a:pt x="1022" y="510"/>
                </a:cubicBezTo>
                <a:lnTo>
                  <a:pt x="1022" y="604"/>
                </a:lnTo>
                <a:cubicBezTo>
                  <a:pt x="1022" y="638"/>
                  <a:pt x="1019" y="671"/>
                  <a:pt x="1011" y="704"/>
                </a:cubicBezTo>
                <a:cubicBezTo>
                  <a:pt x="1005" y="737"/>
                  <a:pt x="995" y="769"/>
                  <a:pt x="982" y="800"/>
                </a:cubicBezTo>
                <a:cubicBezTo>
                  <a:pt x="969" y="831"/>
                  <a:pt x="953" y="860"/>
                  <a:pt x="935" y="888"/>
                </a:cubicBezTo>
                <a:cubicBezTo>
                  <a:pt x="916" y="916"/>
                  <a:pt x="895" y="942"/>
                  <a:pt x="871" y="965"/>
                </a:cubicBezTo>
                <a:cubicBezTo>
                  <a:pt x="848" y="989"/>
                  <a:pt x="822" y="1010"/>
                  <a:pt x="794" y="1029"/>
                </a:cubicBezTo>
                <a:cubicBezTo>
                  <a:pt x="766" y="1047"/>
                  <a:pt x="737" y="1063"/>
                  <a:pt x="706" y="1076"/>
                </a:cubicBezTo>
                <a:cubicBezTo>
                  <a:pt x="675" y="1089"/>
                  <a:pt x="643" y="1099"/>
                  <a:pt x="610" y="1105"/>
                </a:cubicBezTo>
                <a:cubicBezTo>
                  <a:pt x="577" y="1112"/>
                  <a:pt x="544" y="1115"/>
                  <a:pt x="510" y="1115"/>
                </a:cubicBezTo>
                <a:cubicBezTo>
                  <a:pt x="477" y="1115"/>
                  <a:pt x="443" y="1112"/>
                  <a:pt x="411" y="1105"/>
                </a:cubicBezTo>
                <a:cubicBezTo>
                  <a:pt x="378" y="1099"/>
                  <a:pt x="346" y="1089"/>
                  <a:pt x="315" y="1076"/>
                </a:cubicBezTo>
                <a:cubicBezTo>
                  <a:pt x="284" y="1063"/>
                  <a:pt x="254" y="1047"/>
                  <a:pt x="227" y="1029"/>
                </a:cubicBezTo>
                <a:cubicBezTo>
                  <a:pt x="199" y="1010"/>
                  <a:pt x="173" y="989"/>
                  <a:pt x="149" y="965"/>
                </a:cubicBezTo>
                <a:cubicBezTo>
                  <a:pt x="125" y="942"/>
                  <a:pt x="104" y="916"/>
                  <a:pt x="86" y="888"/>
                </a:cubicBezTo>
                <a:cubicBezTo>
                  <a:pt x="67" y="860"/>
                  <a:pt x="51" y="831"/>
                  <a:pt x="38" y="800"/>
                </a:cubicBezTo>
                <a:cubicBezTo>
                  <a:pt x="26" y="769"/>
                  <a:pt x="16" y="737"/>
                  <a:pt x="9" y="704"/>
                </a:cubicBezTo>
                <a:cubicBezTo>
                  <a:pt x="3" y="671"/>
                  <a:pt x="0" y="638"/>
                  <a:pt x="0" y="604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78" name="Picture 377"/>
          <p:cNvPicPr/>
          <p:nvPr/>
        </p:nvPicPr>
        <p:blipFill>
          <a:blip r:embed="rId17"/>
          <a:stretch/>
        </p:blipFill>
        <p:spPr>
          <a:xfrm>
            <a:off x="6535080" y="24987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TextBox 378"/>
          <p:cNvSpPr txBox="1"/>
          <p:nvPr/>
        </p:nvSpPr>
        <p:spPr>
          <a:xfrm>
            <a:off x="4536000" y="3952800"/>
            <a:ext cx="739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deployment.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TextBox 379"/>
          <p:cNvSpPr txBox="1"/>
          <p:nvPr/>
        </p:nvSpPr>
        <p:spPr>
          <a:xfrm>
            <a:off x="6938640" y="2385360"/>
            <a:ext cx="10929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Test Before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TextBox 380"/>
          <p:cNvSpPr txBox="1"/>
          <p:nvPr/>
        </p:nvSpPr>
        <p:spPr>
          <a:xfrm>
            <a:off x="6938640" y="2619360"/>
            <a:ext cx="1143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Deployment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TextBox 381"/>
          <p:cNvSpPr txBox="1"/>
          <p:nvPr/>
        </p:nvSpPr>
        <p:spPr>
          <a:xfrm>
            <a:off x="6437160" y="2949840"/>
            <a:ext cx="1522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Before rolling out patches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TextBox 382"/>
          <p:cNvSpPr txBox="1"/>
          <p:nvPr/>
        </p:nvSpPr>
        <p:spPr>
          <a:xfrm>
            <a:off x="6437160" y="3117240"/>
            <a:ext cx="1500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to production, thoroughly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TextBox 383"/>
          <p:cNvSpPr txBox="1"/>
          <p:nvPr/>
        </p:nvSpPr>
        <p:spPr>
          <a:xfrm>
            <a:off x="6437160" y="3284280"/>
            <a:ext cx="1487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test them in a controlled,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TextBox 384"/>
          <p:cNvSpPr txBox="1"/>
          <p:nvPr/>
        </p:nvSpPr>
        <p:spPr>
          <a:xfrm>
            <a:off x="6437160" y="3451320"/>
            <a:ext cx="896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non-production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TextBox 385"/>
          <p:cNvSpPr txBox="1"/>
          <p:nvPr/>
        </p:nvSpPr>
        <p:spPr>
          <a:xfrm>
            <a:off x="6437160" y="3618360"/>
            <a:ext cx="1644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environment to identify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reeform: Shape 386"/>
          <p:cNvSpPr/>
          <p:nvPr/>
        </p:nvSpPr>
        <p:spPr>
          <a:xfrm>
            <a:off x="8298000" y="2164320"/>
            <a:ext cx="1864080" cy="1972440"/>
          </a:xfrm>
          <a:custGeom>
            <a:avLst/>
            <a:gdLst/>
            <a:ahLst/>
            <a:cxnLst/>
            <a:rect l="0" t="0" r="r" b="b"/>
            <a:pathLst>
              <a:path w="5178" h="5479">
                <a:moveTo>
                  <a:pt x="0" y="529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4"/>
                </a:cubicBezTo>
                <a:cubicBezTo>
                  <a:pt x="14" y="103"/>
                  <a:pt x="18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4992" y="0"/>
                </a:lnTo>
                <a:cubicBezTo>
                  <a:pt x="5004" y="0"/>
                  <a:pt x="5016" y="1"/>
                  <a:pt x="5028" y="3"/>
                </a:cubicBezTo>
                <a:cubicBezTo>
                  <a:pt x="5040" y="6"/>
                  <a:pt x="5052" y="9"/>
                  <a:pt x="5063" y="14"/>
                </a:cubicBezTo>
                <a:cubicBezTo>
                  <a:pt x="5074" y="18"/>
                  <a:pt x="5085" y="24"/>
                  <a:pt x="5095" y="31"/>
                </a:cubicBezTo>
                <a:cubicBezTo>
                  <a:pt x="5105" y="38"/>
                  <a:pt x="5115" y="45"/>
                  <a:pt x="5123" y="54"/>
                </a:cubicBezTo>
                <a:cubicBezTo>
                  <a:pt x="5132" y="63"/>
                  <a:pt x="5139" y="72"/>
                  <a:pt x="5146" y="82"/>
                </a:cubicBezTo>
                <a:cubicBezTo>
                  <a:pt x="5153" y="92"/>
                  <a:pt x="5159" y="103"/>
                  <a:pt x="5163" y="114"/>
                </a:cubicBezTo>
                <a:cubicBezTo>
                  <a:pt x="5168" y="126"/>
                  <a:pt x="5172" y="137"/>
                  <a:pt x="5174" y="149"/>
                </a:cubicBezTo>
                <a:cubicBezTo>
                  <a:pt x="5176" y="161"/>
                  <a:pt x="5178" y="173"/>
                  <a:pt x="5178" y="185"/>
                </a:cubicBezTo>
                <a:lnTo>
                  <a:pt x="5178" y="5293"/>
                </a:lnTo>
                <a:cubicBezTo>
                  <a:pt x="5178" y="5305"/>
                  <a:pt x="5176" y="5318"/>
                  <a:pt x="5174" y="5329"/>
                </a:cubicBezTo>
                <a:cubicBezTo>
                  <a:pt x="5172" y="5341"/>
                  <a:pt x="5168" y="5353"/>
                  <a:pt x="5163" y="5364"/>
                </a:cubicBezTo>
                <a:cubicBezTo>
                  <a:pt x="5159" y="5376"/>
                  <a:pt x="5153" y="5386"/>
                  <a:pt x="5146" y="5396"/>
                </a:cubicBezTo>
                <a:cubicBezTo>
                  <a:pt x="5139" y="5407"/>
                  <a:pt x="5132" y="5416"/>
                  <a:pt x="5123" y="5425"/>
                </a:cubicBezTo>
                <a:cubicBezTo>
                  <a:pt x="5115" y="5433"/>
                  <a:pt x="5105" y="5441"/>
                  <a:pt x="5095" y="5448"/>
                </a:cubicBezTo>
                <a:cubicBezTo>
                  <a:pt x="5085" y="5454"/>
                  <a:pt x="5074" y="5460"/>
                  <a:pt x="5063" y="5465"/>
                </a:cubicBezTo>
                <a:cubicBezTo>
                  <a:pt x="5052" y="5469"/>
                  <a:pt x="5040" y="5473"/>
                  <a:pt x="5028" y="5475"/>
                </a:cubicBezTo>
                <a:cubicBezTo>
                  <a:pt x="5016" y="5478"/>
                  <a:pt x="5004" y="5479"/>
                  <a:pt x="4992" y="5479"/>
                </a:cubicBezTo>
                <a:lnTo>
                  <a:pt x="139" y="5479"/>
                </a:lnTo>
                <a:cubicBezTo>
                  <a:pt x="130" y="5479"/>
                  <a:pt x="121" y="5478"/>
                  <a:pt x="112" y="5475"/>
                </a:cubicBezTo>
                <a:cubicBezTo>
                  <a:pt x="103" y="5473"/>
                  <a:pt x="94" y="5469"/>
                  <a:pt x="86" y="5465"/>
                </a:cubicBezTo>
                <a:cubicBezTo>
                  <a:pt x="78" y="5460"/>
                  <a:pt x="70" y="5454"/>
                  <a:pt x="62" y="5448"/>
                </a:cubicBezTo>
                <a:cubicBezTo>
                  <a:pt x="54" y="5441"/>
                  <a:pt x="47" y="5433"/>
                  <a:pt x="41" y="5425"/>
                </a:cubicBezTo>
                <a:cubicBezTo>
                  <a:pt x="34" y="5416"/>
                  <a:pt x="29" y="5407"/>
                  <a:pt x="24" y="5396"/>
                </a:cubicBezTo>
                <a:cubicBezTo>
                  <a:pt x="18" y="5386"/>
                  <a:pt x="14" y="5376"/>
                  <a:pt x="11" y="5364"/>
                </a:cubicBezTo>
                <a:cubicBezTo>
                  <a:pt x="7" y="5353"/>
                  <a:pt x="5" y="5341"/>
                  <a:pt x="3" y="5329"/>
                </a:cubicBezTo>
                <a:cubicBezTo>
                  <a:pt x="1" y="5318"/>
                  <a:pt x="0" y="5305"/>
                  <a:pt x="0" y="5293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Freeform: Shape 387"/>
          <p:cNvSpPr/>
          <p:nvPr/>
        </p:nvSpPr>
        <p:spPr>
          <a:xfrm>
            <a:off x="8281440" y="2164320"/>
            <a:ext cx="66960" cy="1972440"/>
          </a:xfrm>
          <a:custGeom>
            <a:avLst/>
            <a:gdLst/>
            <a:ahLst/>
            <a:cxnLst/>
            <a:rect l="0" t="0" r="r" b="b"/>
            <a:pathLst>
              <a:path w="186" h="5479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1"/>
                  <a:pt x="105" y="92"/>
                  <a:pt x="101" y="114"/>
                </a:cubicBezTo>
                <a:cubicBezTo>
                  <a:pt x="96" y="137"/>
                  <a:pt x="93" y="161"/>
                  <a:pt x="93" y="185"/>
                </a:cubicBezTo>
                <a:lnTo>
                  <a:pt x="93" y="5293"/>
                </a:lnTo>
                <a:cubicBezTo>
                  <a:pt x="93" y="5318"/>
                  <a:pt x="96" y="5342"/>
                  <a:pt x="101" y="5364"/>
                </a:cubicBezTo>
                <a:cubicBezTo>
                  <a:pt x="105" y="5387"/>
                  <a:pt x="112" y="5407"/>
                  <a:pt x="121" y="5425"/>
                </a:cubicBezTo>
                <a:cubicBezTo>
                  <a:pt x="129" y="5442"/>
                  <a:pt x="139" y="5455"/>
                  <a:pt x="151" y="5465"/>
                </a:cubicBezTo>
                <a:cubicBezTo>
                  <a:pt x="162" y="5474"/>
                  <a:pt x="174" y="5479"/>
                  <a:pt x="186" y="5479"/>
                </a:cubicBezTo>
                <a:cubicBezTo>
                  <a:pt x="162" y="5479"/>
                  <a:pt x="138" y="5474"/>
                  <a:pt x="115" y="5465"/>
                </a:cubicBezTo>
                <a:cubicBezTo>
                  <a:pt x="93" y="5455"/>
                  <a:pt x="72" y="5442"/>
                  <a:pt x="55" y="5425"/>
                </a:cubicBezTo>
                <a:cubicBezTo>
                  <a:pt x="38" y="5407"/>
                  <a:pt x="23" y="5387"/>
                  <a:pt x="14" y="5364"/>
                </a:cubicBezTo>
                <a:cubicBezTo>
                  <a:pt x="4" y="5342"/>
                  <a:pt x="0" y="5318"/>
                  <a:pt x="0" y="5293"/>
                </a:cubicBezTo>
                <a:lnTo>
                  <a:pt x="0" y="185"/>
                </a:lnTo>
                <a:cubicBezTo>
                  <a:pt x="0" y="161"/>
                  <a:pt x="4" y="137"/>
                  <a:pt x="14" y="114"/>
                </a:cubicBezTo>
                <a:cubicBezTo>
                  <a:pt x="23" y="92"/>
                  <a:pt x="38" y="71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4"/>
                  <a:pt x="162" y="0"/>
                  <a:pt x="186" y="0"/>
                </a:cubicBezTo>
                <a:cubicBezTo>
                  <a:pt x="174" y="0"/>
                  <a:pt x="162" y="4"/>
                  <a:pt x="151" y="14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Freeform: Shape 388"/>
          <p:cNvSpPr/>
          <p:nvPr/>
        </p:nvSpPr>
        <p:spPr>
          <a:xfrm>
            <a:off x="8515440" y="2398320"/>
            <a:ext cx="326160" cy="401400"/>
          </a:xfrm>
          <a:custGeom>
            <a:avLst/>
            <a:gdLst/>
            <a:ahLst/>
            <a:cxnLst/>
            <a:rect l="0" t="0" r="r" b="b"/>
            <a:pathLst>
              <a:path w="906" h="1115">
                <a:moveTo>
                  <a:pt x="0" y="662"/>
                </a:moveTo>
                <a:lnTo>
                  <a:pt x="0" y="452"/>
                </a:lnTo>
                <a:cubicBezTo>
                  <a:pt x="0" y="423"/>
                  <a:pt x="2" y="393"/>
                  <a:pt x="8" y="364"/>
                </a:cubicBezTo>
                <a:cubicBezTo>
                  <a:pt x="14" y="335"/>
                  <a:pt x="23" y="307"/>
                  <a:pt x="34" y="279"/>
                </a:cubicBezTo>
                <a:cubicBezTo>
                  <a:pt x="45" y="252"/>
                  <a:pt x="59" y="226"/>
                  <a:pt x="76" y="201"/>
                </a:cubicBezTo>
                <a:cubicBezTo>
                  <a:pt x="92" y="176"/>
                  <a:pt x="111" y="153"/>
                  <a:pt x="132" y="132"/>
                </a:cubicBezTo>
                <a:cubicBezTo>
                  <a:pt x="153" y="111"/>
                  <a:pt x="176" y="92"/>
                  <a:pt x="201" y="76"/>
                </a:cubicBezTo>
                <a:cubicBezTo>
                  <a:pt x="225" y="59"/>
                  <a:pt x="252" y="45"/>
                  <a:pt x="279" y="34"/>
                </a:cubicBezTo>
                <a:cubicBezTo>
                  <a:pt x="306" y="23"/>
                  <a:pt x="336" y="14"/>
                  <a:pt x="365" y="8"/>
                </a:cubicBezTo>
                <a:cubicBezTo>
                  <a:pt x="394" y="3"/>
                  <a:pt x="424" y="0"/>
                  <a:pt x="453" y="0"/>
                </a:cubicBezTo>
                <a:cubicBezTo>
                  <a:pt x="483" y="0"/>
                  <a:pt x="512" y="3"/>
                  <a:pt x="542" y="8"/>
                </a:cubicBezTo>
                <a:cubicBezTo>
                  <a:pt x="571" y="14"/>
                  <a:pt x="599" y="23"/>
                  <a:pt x="626" y="34"/>
                </a:cubicBezTo>
                <a:cubicBezTo>
                  <a:pt x="654" y="45"/>
                  <a:pt x="680" y="59"/>
                  <a:pt x="705" y="76"/>
                </a:cubicBezTo>
                <a:cubicBezTo>
                  <a:pt x="729" y="92"/>
                  <a:pt x="752" y="111"/>
                  <a:pt x="773" y="132"/>
                </a:cubicBezTo>
                <a:cubicBezTo>
                  <a:pt x="794" y="153"/>
                  <a:pt x="813" y="176"/>
                  <a:pt x="830" y="201"/>
                </a:cubicBezTo>
                <a:cubicBezTo>
                  <a:pt x="846" y="226"/>
                  <a:pt x="860" y="252"/>
                  <a:pt x="871" y="279"/>
                </a:cubicBezTo>
                <a:cubicBezTo>
                  <a:pt x="883" y="307"/>
                  <a:pt x="891" y="335"/>
                  <a:pt x="897" y="364"/>
                </a:cubicBezTo>
                <a:cubicBezTo>
                  <a:pt x="903" y="393"/>
                  <a:pt x="906" y="423"/>
                  <a:pt x="906" y="452"/>
                </a:cubicBezTo>
                <a:lnTo>
                  <a:pt x="906" y="662"/>
                </a:lnTo>
                <a:cubicBezTo>
                  <a:pt x="906" y="692"/>
                  <a:pt x="903" y="721"/>
                  <a:pt x="897" y="751"/>
                </a:cubicBezTo>
                <a:cubicBezTo>
                  <a:pt x="891" y="780"/>
                  <a:pt x="883" y="808"/>
                  <a:pt x="871" y="835"/>
                </a:cubicBezTo>
                <a:cubicBezTo>
                  <a:pt x="860" y="863"/>
                  <a:pt x="846" y="889"/>
                  <a:pt x="830" y="914"/>
                </a:cubicBezTo>
                <a:cubicBezTo>
                  <a:pt x="813" y="938"/>
                  <a:pt x="794" y="961"/>
                  <a:pt x="773" y="982"/>
                </a:cubicBezTo>
                <a:cubicBezTo>
                  <a:pt x="752" y="1003"/>
                  <a:pt x="729" y="1022"/>
                  <a:pt x="705" y="1039"/>
                </a:cubicBezTo>
                <a:cubicBezTo>
                  <a:pt x="680" y="1055"/>
                  <a:pt x="654" y="1069"/>
                  <a:pt x="626" y="1080"/>
                </a:cubicBezTo>
                <a:cubicBezTo>
                  <a:pt x="599" y="1092"/>
                  <a:pt x="571" y="1100"/>
                  <a:pt x="542" y="1106"/>
                </a:cubicBezTo>
                <a:cubicBezTo>
                  <a:pt x="512" y="1112"/>
                  <a:pt x="483" y="1115"/>
                  <a:pt x="453" y="1115"/>
                </a:cubicBezTo>
                <a:cubicBezTo>
                  <a:pt x="424" y="1115"/>
                  <a:pt x="394" y="1112"/>
                  <a:pt x="365" y="1106"/>
                </a:cubicBezTo>
                <a:cubicBezTo>
                  <a:pt x="336" y="1100"/>
                  <a:pt x="306" y="1092"/>
                  <a:pt x="279" y="1080"/>
                </a:cubicBezTo>
                <a:cubicBezTo>
                  <a:pt x="252" y="1069"/>
                  <a:pt x="225" y="1055"/>
                  <a:pt x="201" y="1039"/>
                </a:cubicBezTo>
                <a:cubicBezTo>
                  <a:pt x="176" y="1022"/>
                  <a:pt x="153" y="1003"/>
                  <a:pt x="132" y="982"/>
                </a:cubicBezTo>
                <a:cubicBezTo>
                  <a:pt x="111" y="961"/>
                  <a:pt x="92" y="938"/>
                  <a:pt x="76" y="914"/>
                </a:cubicBezTo>
                <a:cubicBezTo>
                  <a:pt x="59" y="889"/>
                  <a:pt x="45" y="863"/>
                  <a:pt x="34" y="835"/>
                </a:cubicBezTo>
                <a:cubicBezTo>
                  <a:pt x="23" y="808"/>
                  <a:pt x="14" y="780"/>
                  <a:pt x="8" y="751"/>
                </a:cubicBezTo>
                <a:cubicBezTo>
                  <a:pt x="2" y="721"/>
                  <a:pt x="0" y="692"/>
                  <a:pt x="0" y="662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90" name="Picture 389"/>
          <p:cNvPicPr/>
          <p:nvPr/>
        </p:nvPicPr>
        <p:blipFill>
          <a:blip r:embed="rId18"/>
          <a:stretch/>
        </p:blipFill>
        <p:spPr>
          <a:xfrm>
            <a:off x="8615880" y="249876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Box 390"/>
          <p:cNvSpPr txBox="1"/>
          <p:nvPr/>
        </p:nvSpPr>
        <p:spPr>
          <a:xfrm>
            <a:off x="6437160" y="3785760"/>
            <a:ext cx="1551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resolve potential conﬂicts.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TextBox 391"/>
          <p:cNvSpPr txBox="1"/>
          <p:nvPr/>
        </p:nvSpPr>
        <p:spPr>
          <a:xfrm>
            <a:off x="8971920" y="2385360"/>
            <a:ext cx="7772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Conduct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TextBox 392"/>
          <p:cNvSpPr txBox="1"/>
          <p:nvPr/>
        </p:nvSpPr>
        <p:spPr>
          <a:xfrm>
            <a:off x="8971920" y="2619360"/>
            <a:ext cx="607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Audits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TextBox 393"/>
          <p:cNvSpPr txBox="1"/>
          <p:nvPr/>
        </p:nvSpPr>
        <p:spPr>
          <a:xfrm>
            <a:off x="8512200" y="2949840"/>
            <a:ext cx="1240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Periodically audit the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8512200" y="3117240"/>
            <a:ext cx="1329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infrastructure to verify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TextBox 395"/>
          <p:cNvSpPr txBox="1"/>
          <p:nvPr/>
        </p:nvSpPr>
        <p:spPr>
          <a:xfrm>
            <a:off x="8512200" y="3284280"/>
            <a:ext cx="960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compliance with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TextBox 396"/>
          <p:cNvSpPr txBox="1"/>
          <p:nvPr/>
        </p:nvSpPr>
        <p:spPr>
          <a:xfrm>
            <a:off x="8512200" y="3451320"/>
            <a:ext cx="1250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patching policies 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TextBox 397"/>
          <p:cNvSpPr txBox="1"/>
          <p:nvPr/>
        </p:nvSpPr>
        <p:spPr>
          <a:xfrm>
            <a:off x="8512200" y="3618360"/>
            <a:ext cx="1250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ensure no unpatched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TextBox 398"/>
          <p:cNvSpPr txBox="1"/>
          <p:nvPr/>
        </p:nvSpPr>
        <p:spPr>
          <a:xfrm>
            <a:off x="8512200" y="3785760"/>
            <a:ext cx="1316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vulnerabilities remain.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Picture 399"/>
          <p:cNvPicPr/>
          <p:nvPr/>
        </p:nvPicPr>
        <p:blipFill>
          <a:blip r:embed="rId2"/>
          <a:stretch/>
        </p:blipFill>
        <p:spPr>
          <a:xfrm>
            <a:off x="0" y="0"/>
            <a:ext cx="10696320" cy="641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Freeform: Shape 400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2" name="Picture 401"/>
          <p:cNvPicPr/>
          <p:nvPr/>
        </p:nvPicPr>
        <p:blipFill>
          <a:blip r:embed="rId3"/>
          <a:stretch/>
        </p:blipFill>
        <p:spPr>
          <a:xfrm>
            <a:off x="568080" y="5114160"/>
            <a:ext cx="9593280" cy="73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Freeform: Shape 402"/>
          <p:cNvSpPr/>
          <p:nvPr/>
        </p:nvSpPr>
        <p:spPr>
          <a:xfrm>
            <a:off x="534600" y="5114160"/>
            <a:ext cx="33840" cy="735840"/>
          </a:xfrm>
          <a:custGeom>
            <a:avLst/>
            <a:gdLst/>
            <a:ahLst/>
            <a:cxnLst/>
            <a:rect l="0" t="0" r="r" b="b"/>
            <a:pathLst>
              <a:path w="94" h="2044">
                <a:moveTo>
                  <a:pt x="0" y="0"/>
                </a:moveTo>
                <a:lnTo>
                  <a:pt x="94" y="0"/>
                </a:lnTo>
                <a:lnTo>
                  <a:pt x="94" y="2044"/>
                </a:lnTo>
                <a:lnTo>
                  <a:pt x="0" y="204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TextBox 403"/>
          <p:cNvSpPr txBox="1"/>
          <p:nvPr/>
        </p:nvSpPr>
        <p:spPr>
          <a:xfrm>
            <a:off x="534960" y="389520"/>
            <a:ext cx="657972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Infrastructure Check: Beyond Patching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TextBox 404"/>
          <p:cNvSpPr txBox="1"/>
          <p:nvPr/>
        </p:nvSpPr>
        <p:spPr>
          <a:xfrm>
            <a:off x="534960" y="1272600"/>
            <a:ext cx="96393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Beyond patching, a proactive approach to infrastructure health involves continuous monitoring and lifecycle management. The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TextBox 405"/>
          <p:cNvSpPr txBox="1"/>
          <p:nvPr/>
        </p:nvSpPr>
        <p:spPr>
          <a:xfrm>
            <a:off x="534960" y="1514880"/>
            <a:ext cx="91306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Infra Check component provides the tools and processes to ensure operational stability, manage hardware and software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reeform: Shape 406"/>
          <p:cNvSpPr/>
          <p:nvPr/>
        </p:nvSpPr>
        <p:spPr>
          <a:xfrm>
            <a:off x="551520" y="2239560"/>
            <a:ext cx="3058920" cy="2607480"/>
          </a:xfrm>
          <a:custGeom>
            <a:avLst/>
            <a:gdLst/>
            <a:ahLst/>
            <a:cxnLst/>
            <a:rect l="0" t="0" r="r" b="b"/>
            <a:pathLst>
              <a:path w="8497" h="7243">
                <a:moveTo>
                  <a:pt x="0" y="7057"/>
                </a:moveTo>
                <a:lnTo>
                  <a:pt x="0" y="185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5"/>
                  <a:pt x="54" y="38"/>
                  <a:pt x="61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6"/>
                  <a:pt x="8371" y="9"/>
                  <a:pt x="8382" y="14"/>
                </a:cubicBezTo>
                <a:cubicBezTo>
                  <a:pt x="8393" y="18"/>
                  <a:pt x="8404" y="24"/>
                  <a:pt x="8414" y="31"/>
                </a:cubicBezTo>
                <a:cubicBezTo>
                  <a:pt x="8424" y="38"/>
                  <a:pt x="8434" y="45"/>
                  <a:pt x="8442" y="54"/>
                </a:cubicBezTo>
                <a:cubicBezTo>
                  <a:pt x="8451" y="63"/>
                  <a:pt x="8458" y="72"/>
                  <a:pt x="8465" y="82"/>
                </a:cubicBezTo>
                <a:cubicBezTo>
                  <a:pt x="8472" y="92"/>
                  <a:pt x="8478" y="103"/>
                  <a:pt x="8482" y="114"/>
                </a:cubicBezTo>
                <a:cubicBezTo>
                  <a:pt x="8487" y="126"/>
                  <a:pt x="8491" y="137"/>
                  <a:pt x="8493" y="149"/>
                </a:cubicBezTo>
                <a:cubicBezTo>
                  <a:pt x="8495" y="161"/>
                  <a:pt x="8497" y="173"/>
                  <a:pt x="8497" y="185"/>
                </a:cubicBezTo>
                <a:lnTo>
                  <a:pt x="8497" y="7057"/>
                </a:lnTo>
                <a:cubicBezTo>
                  <a:pt x="8497" y="7070"/>
                  <a:pt x="8495" y="7082"/>
                  <a:pt x="8493" y="7094"/>
                </a:cubicBezTo>
                <a:cubicBezTo>
                  <a:pt x="8491" y="7106"/>
                  <a:pt x="8487" y="7117"/>
                  <a:pt x="8482" y="7128"/>
                </a:cubicBezTo>
                <a:cubicBezTo>
                  <a:pt x="8478" y="7140"/>
                  <a:pt x="8472" y="7150"/>
                  <a:pt x="8465" y="7161"/>
                </a:cubicBezTo>
                <a:cubicBezTo>
                  <a:pt x="8458" y="7171"/>
                  <a:pt x="8451" y="7180"/>
                  <a:pt x="8442" y="7189"/>
                </a:cubicBezTo>
                <a:cubicBezTo>
                  <a:pt x="8434" y="7197"/>
                  <a:pt x="8424" y="7205"/>
                  <a:pt x="8414" y="7212"/>
                </a:cubicBezTo>
                <a:cubicBezTo>
                  <a:pt x="8404" y="7219"/>
                  <a:pt x="8393" y="7224"/>
                  <a:pt x="8382" y="7229"/>
                </a:cubicBezTo>
                <a:cubicBezTo>
                  <a:pt x="8371" y="7234"/>
                  <a:pt x="8359" y="7237"/>
                  <a:pt x="8347" y="7240"/>
                </a:cubicBezTo>
                <a:cubicBezTo>
                  <a:pt x="8335" y="7242"/>
                  <a:pt x="8323" y="7243"/>
                  <a:pt x="8311" y="7243"/>
                </a:cubicBezTo>
                <a:lnTo>
                  <a:pt x="139" y="7243"/>
                </a:lnTo>
                <a:cubicBezTo>
                  <a:pt x="130" y="7243"/>
                  <a:pt x="121" y="7242"/>
                  <a:pt x="112" y="7240"/>
                </a:cubicBezTo>
                <a:cubicBezTo>
                  <a:pt x="103" y="7237"/>
                  <a:pt x="94" y="7234"/>
                  <a:pt x="86" y="7229"/>
                </a:cubicBezTo>
                <a:cubicBezTo>
                  <a:pt x="77" y="7224"/>
                  <a:pt x="69" y="7219"/>
                  <a:pt x="61" y="7212"/>
                </a:cubicBezTo>
                <a:cubicBezTo>
                  <a:pt x="54" y="7205"/>
                  <a:pt x="47" y="7197"/>
                  <a:pt x="40" y="7189"/>
                </a:cubicBezTo>
                <a:cubicBezTo>
                  <a:pt x="34" y="7180"/>
                  <a:pt x="28" y="7171"/>
                  <a:pt x="23" y="7161"/>
                </a:cubicBezTo>
                <a:cubicBezTo>
                  <a:pt x="18" y="7150"/>
                  <a:pt x="14" y="7140"/>
                  <a:pt x="10" y="7128"/>
                </a:cubicBezTo>
                <a:cubicBezTo>
                  <a:pt x="7" y="7117"/>
                  <a:pt x="4" y="7106"/>
                  <a:pt x="2" y="7094"/>
                </a:cubicBezTo>
                <a:cubicBezTo>
                  <a:pt x="0" y="7082"/>
                  <a:pt x="0" y="7070"/>
                  <a:pt x="0" y="7057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Freeform: Shape 407"/>
          <p:cNvSpPr/>
          <p:nvPr/>
        </p:nvSpPr>
        <p:spPr>
          <a:xfrm>
            <a:off x="534600" y="2239560"/>
            <a:ext cx="67320" cy="2607480"/>
          </a:xfrm>
          <a:custGeom>
            <a:avLst/>
            <a:gdLst/>
            <a:ahLst/>
            <a:cxnLst/>
            <a:rect l="0" t="0" r="r" b="b"/>
            <a:pathLst>
              <a:path w="187" h="7243">
                <a:moveTo>
                  <a:pt x="0" y="0"/>
                </a:moveTo>
                <a:lnTo>
                  <a:pt x="187" y="0"/>
                </a:lnTo>
                <a:lnTo>
                  <a:pt x="187" y="7243"/>
                </a:lnTo>
                <a:lnTo>
                  <a:pt x="0" y="72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9" name="Picture 408"/>
          <p:cNvPicPr/>
          <p:nvPr/>
        </p:nvPicPr>
        <p:blipFill>
          <a:blip r:embed="rId4"/>
          <a:stretch/>
        </p:blipFill>
        <p:spPr>
          <a:xfrm>
            <a:off x="768960" y="245700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Box 409"/>
          <p:cNvSpPr txBox="1"/>
          <p:nvPr/>
        </p:nvSpPr>
        <p:spPr>
          <a:xfrm>
            <a:off x="534960" y="1765800"/>
            <a:ext cx="3585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lifecycles, and maintain regulatory compliance.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TextBox 410"/>
          <p:cNvSpPr txBox="1"/>
          <p:nvPr/>
        </p:nvSpPr>
        <p:spPr>
          <a:xfrm>
            <a:off x="1094760" y="2460600"/>
            <a:ext cx="1594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Monitoring Tools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TextBox 411"/>
          <p:cNvSpPr txBox="1"/>
          <p:nvPr/>
        </p:nvSpPr>
        <p:spPr>
          <a:xfrm>
            <a:off x="768960" y="2792520"/>
            <a:ext cx="1738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Advanced tools that allow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TextBox 412"/>
          <p:cNvSpPr txBox="1"/>
          <p:nvPr/>
        </p:nvSpPr>
        <p:spPr>
          <a:xfrm>
            <a:off x="768960" y="2993040"/>
            <a:ext cx="2533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administrators to track system health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4" name="Picture 413"/>
          <p:cNvPicPr/>
          <p:nvPr/>
        </p:nvPicPr>
        <p:blipFill>
          <a:blip r:embed="rId5"/>
          <a:stretch/>
        </p:blipFill>
        <p:spPr>
          <a:xfrm>
            <a:off x="768960" y="3543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TextBox 414"/>
          <p:cNvSpPr txBox="1"/>
          <p:nvPr/>
        </p:nvSpPr>
        <p:spPr>
          <a:xfrm>
            <a:off x="768960" y="3193560"/>
            <a:ext cx="2015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and performance in real-time.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TextBox 415"/>
          <p:cNvSpPr txBox="1"/>
          <p:nvPr/>
        </p:nvSpPr>
        <p:spPr>
          <a:xfrm>
            <a:off x="969480" y="3527640"/>
            <a:ext cx="1728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Data collection from all 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7" name="Picture 416"/>
          <p:cNvPicPr/>
          <p:nvPr/>
        </p:nvPicPr>
        <p:blipFill>
          <a:blip r:embed="rId5"/>
          <a:stretch/>
        </p:blipFill>
        <p:spPr>
          <a:xfrm>
            <a:off x="768960" y="4011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Box 417"/>
          <p:cNvSpPr txBox="1"/>
          <p:nvPr/>
        </p:nvSpPr>
        <p:spPr>
          <a:xfrm>
            <a:off x="969480" y="3728520"/>
            <a:ext cx="829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components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969480" y="3995640"/>
            <a:ext cx="1902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Performance tracking of key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0" name="Picture 419"/>
          <p:cNvPicPr/>
          <p:nvPr/>
        </p:nvPicPr>
        <p:blipFill>
          <a:blip r:embed="rId5"/>
          <a:stretch/>
        </p:blipFill>
        <p:spPr>
          <a:xfrm>
            <a:off x="768960" y="4479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Box 420"/>
          <p:cNvSpPr txBox="1"/>
          <p:nvPr/>
        </p:nvSpPr>
        <p:spPr>
          <a:xfrm>
            <a:off x="969480" y="4196160"/>
            <a:ext cx="660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indicators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reeform: Shape 421"/>
          <p:cNvSpPr/>
          <p:nvPr/>
        </p:nvSpPr>
        <p:spPr>
          <a:xfrm>
            <a:off x="3827160" y="2239560"/>
            <a:ext cx="3058920" cy="2607480"/>
          </a:xfrm>
          <a:custGeom>
            <a:avLst/>
            <a:gdLst/>
            <a:ahLst/>
            <a:cxnLst/>
            <a:rect l="0" t="0" r="r" b="b"/>
            <a:pathLst>
              <a:path w="8497" h="7243">
                <a:moveTo>
                  <a:pt x="0" y="705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7" y="126"/>
                  <a:pt x="11" y="114"/>
                </a:cubicBezTo>
                <a:cubicBezTo>
                  <a:pt x="14" y="103"/>
                  <a:pt x="18" y="92"/>
                  <a:pt x="24" y="82"/>
                </a:cubicBezTo>
                <a:cubicBezTo>
                  <a:pt x="29" y="72"/>
                  <a:pt x="34" y="63"/>
                  <a:pt x="41" y="54"/>
                </a:cubicBezTo>
                <a:cubicBezTo>
                  <a:pt x="47" y="45"/>
                  <a:pt x="54" y="38"/>
                  <a:pt x="62" y="31"/>
                </a:cubicBezTo>
                <a:cubicBezTo>
                  <a:pt x="70" y="24"/>
                  <a:pt x="78" y="18"/>
                  <a:pt x="86" y="14"/>
                </a:cubicBezTo>
                <a:cubicBezTo>
                  <a:pt x="95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4" y="0"/>
                  <a:pt x="8336" y="1"/>
                  <a:pt x="8348" y="3"/>
                </a:cubicBezTo>
                <a:cubicBezTo>
                  <a:pt x="8360" y="6"/>
                  <a:pt x="8371" y="9"/>
                  <a:pt x="8382" y="14"/>
                </a:cubicBezTo>
                <a:cubicBezTo>
                  <a:pt x="8394" y="18"/>
                  <a:pt x="8404" y="24"/>
                  <a:pt x="8415" y="31"/>
                </a:cubicBezTo>
                <a:cubicBezTo>
                  <a:pt x="8425" y="38"/>
                  <a:pt x="8434" y="45"/>
                  <a:pt x="8443" y="54"/>
                </a:cubicBezTo>
                <a:cubicBezTo>
                  <a:pt x="8451" y="63"/>
                  <a:pt x="8459" y="72"/>
                  <a:pt x="8466" y="82"/>
                </a:cubicBezTo>
                <a:cubicBezTo>
                  <a:pt x="8473" y="92"/>
                  <a:pt x="8478" y="103"/>
                  <a:pt x="8483" y="114"/>
                </a:cubicBezTo>
                <a:cubicBezTo>
                  <a:pt x="8488" y="126"/>
                  <a:pt x="8491" y="137"/>
                  <a:pt x="8493" y="149"/>
                </a:cubicBezTo>
                <a:cubicBezTo>
                  <a:pt x="8496" y="161"/>
                  <a:pt x="8497" y="173"/>
                  <a:pt x="8497" y="185"/>
                </a:cubicBezTo>
                <a:lnTo>
                  <a:pt x="8497" y="7057"/>
                </a:lnTo>
                <a:cubicBezTo>
                  <a:pt x="8497" y="7070"/>
                  <a:pt x="8496" y="7082"/>
                  <a:pt x="8493" y="7094"/>
                </a:cubicBezTo>
                <a:cubicBezTo>
                  <a:pt x="8491" y="7106"/>
                  <a:pt x="8488" y="7117"/>
                  <a:pt x="8483" y="7128"/>
                </a:cubicBezTo>
                <a:cubicBezTo>
                  <a:pt x="8478" y="7140"/>
                  <a:pt x="8473" y="7150"/>
                  <a:pt x="8466" y="7161"/>
                </a:cubicBezTo>
                <a:cubicBezTo>
                  <a:pt x="8459" y="7171"/>
                  <a:pt x="8451" y="7180"/>
                  <a:pt x="8443" y="7189"/>
                </a:cubicBezTo>
                <a:cubicBezTo>
                  <a:pt x="8434" y="7197"/>
                  <a:pt x="8425" y="7205"/>
                  <a:pt x="8415" y="7212"/>
                </a:cubicBezTo>
                <a:cubicBezTo>
                  <a:pt x="8404" y="7219"/>
                  <a:pt x="8394" y="7224"/>
                  <a:pt x="8382" y="7229"/>
                </a:cubicBezTo>
                <a:cubicBezTo>
                  <a:pt x="8371" y="7234"/>
                  <a:pt x="8360" y="7237"/>
                  <a:pt x="8348" y="7240"/>
                </a:cubicBezTo>
                <a:cubicBezTo>
                  <a:pt x="8336" y="7242"/>
                  <a:pt x="8324" y="7243"/>
                  <a:pt x="8311" y="7243"/>
                </a:cubicBezTo>
                <a:lnTo>
                  <a:pt x="139" y="7243"/>
                </a:lnTo>
                <a:cubicBezTo>
                  <a:pt x="130" y="7243"/>
                  <a:pt x="121" y="7242"/>
                  <a:pt x="112" y="7240"/>
                </a:cubicBezTo>
                <a:cubicBezTo>
                  <a:pt x="103" y="7237"/>
                  <a:pt x="95" y="7234"/>
                  <a:pt x="86" y="7229"/>
                </a:cubicBezTo>
                <a:cubicBezTo>
                  <a:pt x="78" y="7224"/>
                  <a:pt x="70" y="7219"/>
                  <a:pt x="62" y="7212"/>
                </a:cubicBezTo>
                <a:cubicBezTo>
                  <a:pt x="54" y="7205"/>
                  <a:pt x="47" y="7197"/>
                  <a:pt x="41" y="7189"/>
                </a:cubicBezTo>
                <a:cubicBezTo>
                  <a:pt x="34" y="7180"/>
                  <a:pt x="29" y="7171"/>
                  <a:pt x="24" y="7161"/>
                </a:cubicBezTo>
                <a:cubicBezTo>
                  <a:pt x="18" y="7150"/>
                  <a:pt x="14" y="7140"/>
                  <a:pt x="11" y="7128"/>
                </a:cubicBezTo>
                <a:cubicBezTo>
                  <a:pt x="7" y="7117"/>
                  <a:pt x="5" y="7106"/>
                  <a:pt x="3" y="7094"/>
                </a:cubicBezTo>
                <a:cubicBezTo>
                  <a:pt x="1" y="7082"/>
                  <a:pt x="0" y="7070"/>
                  <a:pt x="0" y="7057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reeform: Shape 422"/>
          <p:cNvSpPr/>
          <p:nvPr/>
        </p:nvSpPr>
        <p:spPr>
          <a:xfrm>
            <a:off x="3810600" y="2239560"/>
            <a:ext cx="66960" cy="2607480"/>
          </a:xfrm>
          <a:custGeom>
            <a:avLst/>
            <a:gdLst/>
            <a:ahLst/>
            <a:cxnLst/>
            <a:rect l="0" t="0" r="r" b="b"/>
            <a:pathLst>
              <a:path w="186" h="7243">
                <a:moveTo>
                  <a:pt x="151" y="14"/>
                </a:moveTo>
                <a:cubicBezTo>
                  <a:pt x="139" y="23"/>
                  <a:pt x="129" y="37"/>
                  <a:pt x="121" y="54"/>
                </a:cubicBezTo>
                <a:cubicBezTo>
                  <a:pt x="112" y="71"/>
                  <a:pt x="105" y="91"/>
                  <a:pt x="101" y="114"/>
                </a:cubicBezTo>
                <a:cubicBezTo>
                  <a:pt x="96" y="137"/>
                  <a:pt x="94" y="161"/>
                  <a:pt x="94" y="185"/>
                </a:cubicBezTo>
                <a:lnTo>
                  <a:pt x="94" y="7057"/>
                </a:lnTo>
                <a:cubicBezTo>
                  <a:pt x="94" y="7082"/>
                  <a:pt x="96" y="7106"/>
                  <a:pt x="101" y="7128"/>
                </a:cubicBezTo>
                <a:cubicBezTo>
                  <a:pt x="105" y="7151"/>
                  <a:pt x="112" y="7171"/>
                  <a:pt x="121" y="7189"/>
                </a:cubicBezTo>
                <a:cubicBezTo>
                  <a:pt x="129" y="7206"/>
                  <a:pt x="139" y="7220"/>
                  <a:pt x="151" y="7229"/>
                </a:cubicBezTo>
                <a:cubicBezTo>
                  <a:pt x="162" y="7238"/>
                  <a:pt x="174" y="7243"/>
                  <a:pt x="186" y="7243"/>
                </a:cubicBezTo>
                <a:cubicBezTo>
                  <a:pt x="162" y="7243"/>
                  <a:pt x="138" y="7238"/>
                  <a:pt x="115" y="7229"/>
                </a:cubicBezTo>
                <a:cubicBezTo>
                  <a:pt x="93" y="7220"/>
                  <a:pt x="72" y="7206"/>
                  <a:pt x="55" y="7189"/>
                </a:cubicBezTo>
                <a:cubicBezTo>
                  <a:pt x="37" y="7171"/>
                  <a:pt x="23" y="7151"/>
                  <a:pt x="14" y="7128"/>
                </a:cubicBezTo>
                <a:cubicBezTo>
                  <a:pt x="4" y="7106"/>
                  <a:pt x="0" y="7082"/>
                  <a:pt x="0" y="7057"/>
                </a:cubicBezTo>
                <a:lnTo>
                  <a:pt x="0" y="185"/>
                </a:lnTo>
                <a:cubicBezTo>
                  <a:pt x="0" y="161"/>
                  <a:pt x="4" y="137"/>
                  <a:pt x="14" y="114"/>
                </a:cubicBezTo>
                <a:cubicBezTo>
                  <a:pt x="23" y="91"/>
                  <a:pt x="37" y="71"/>
                  <a:pt x="55" y="54"/>
                </a:cubicBezTo>
                <a:cubicBezTo>
                  <a:pt x="72" y="37"/>
                  <a:pt x="93" y="23"/>
                  <a:pt x="115" y="14"/>
                </a:cubicBezTo>
                <a:cubicBezTo>
                  <a:pt x="138" y="4"/>
                  <a:pt x="162" y="0"/>
                  <a:pt x="186" y="0"/>
                </a:cubicBezTo>
                <a:cubicBezTo>
                  <a:pt x="174" y="0"/>
                  <a:pt x="162" y="4"/>
                  <a:pt x="151" y="14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4" name="Picture 423"/>
          <p:cNvPicPr/>
          <p:nvPr/>
        </p:nvPicPr>
        <p:blipFill>
          <a:blip r:embed="rId6"/>
          <a:stretch/>
        </p:blipFill>
        <p:spPr>
          <a:xfrm>
            <a:off x="4044600" y="245700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Box 424"/>
          <p:cNvSpPr txBox="1"/>
          <p:nvPr/>
        </p:nvSpPr>
        <p:spPr>
          <a:xfrm>
            <a:off x="969480" y="4463640"/>
            <a:ext cx="1938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Proactive problem resolution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TextBox 425"/>
          <p:cNvSpPr txBox="1"/>
          <p:nvPr/>
        </p:nvSpPr>
        <p:spPr>
          <a:xfrm>
            <a:off x="4295520" y="2460600"/>
            <a:ext cx="2202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EOL/EOSL Management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TextBox 426"/>
          <p:cNvSpPr txBox="1"/>
          <p:nvPr/>
        </p:nvSpPr>
        <p:spPr>
          <a:xfrm>
            <a:off x="4044600" y="2792520"/>
            <a:ext cx="2318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Strategic lifecycle management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TextBox 427"/>
          <p:cNvSpPr txBox="1"/>
          <p:nvPr/>
        </p:nvSpPr>
        <p:spPr>
          <a:xfrm>
            <a:off x="4044600" y="2993040"/>
            <a:ext cx="2398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avoid security risks and operational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9" name="Picture 428"/>
          <p:cNvPicPr/>
          <p:nvPr/>
        </p:nvPicPr>
        <p:blipFill>
          <a:blip r:embed="rId5"/>
          <a:stretch/>
        </p:blipFill>
        <p:spPr>
          <a:xfrm>
            <a:off x="4044600" y="3543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Box 429"/>
          <p:cNvSpPr txBox="1"/>
          <p:nvPr/>
        </p:nvSpPr>
        <p:spPr>
          <a:xfrm>
            <a:off x="4044600" y="3193560"/>
            <a:ext cx="787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disruptions.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1" name="Picture 430"/>
          <p:cNvPicPr/>
          <p:nvPr/>
        </p:nvPicPr>
        <p:blipFill>
          <a:blip r:embed="rId5"/>
          <a:stretch/>
        </p:blipFill>
        <p:spPr>
          <a:xfrm>
            <a:off x="4044600" y="3810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TextBox 431"/>
          <p:cNvSpPr txBox="1"/>
          <p:nvPr/>
        </p:nvSpPr>
        <p:spPr>
          <a:xfrm>
            <a:off x="4245120" y="3527640"/>
            <a:ext cx="2086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Centralized inventory of assets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TextBox 432"/>
          <p:cNvSpPr txBox="1"/>
          <p:nvPr/>
        </p:nvSpPr>
        <p:spPr>
          <a:xfrm>
            <a:off x="4245120" y="3795120"/>
            <a:ext cx="2162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Tracking approaching EOL/EOSL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4" name="Picture 433"/>
          <p:cNvPicPr/>
          <p:nvPr/>
        </p:nvPicPr>
        <p:blipFill>
          <a:blip r:embed="rId5"/>
          <a:stretch/>
        </p:blipFill>
        <p:spPr>
          <a:xfrm>
            <a:off x="4044600" y="4278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Box 434"/>
          <p:cNvSpPr txBox="1"/>
          <p:nvPr/>
        </p:nvSpPr>
        <p:spPr>
          <a:xfrm>
            <a:off x="4245120" y="3995640"/>
            <a:ext cx="372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reeform: Shape 435"/>
          <p:cNvSpPr/>
          <p:nvPr/>
        </p:nvSpPr>
        <p:spPr>
          <a:xfrm>
            <a:off x="7103160" y="2239560"/>
            <a:ext cx="3058920" cy="2607480"/>
          </a:xfrm>
          <a:custGeom>
            <a:avLst/>
            <a:gdLst/>
            <a:ahLst/>
            <a:cxnLst/>
            <a:rect l="0" t="0" r="r" b="b"/>
            <a:pathLst>
              <a:path w="8497" h="7243">
                <a:moveTo>
                  <a:pt x="0" y="7057"/>
                </a:moveTo>
                <a:lnTo>
                  <a:pt x="0" y="185"/>
                </a:lnTo>
                <a:cubicBezTo>
                  <a:pt x="0" y="173"/>
                  <a:pt x="0" y="161"/>
                  <a:pt x="2" y="149"/>
                </a:cubicBezTo>
                <a:cubicBezTo>
                  <a:pt x="4" y="137"/>
                  <a:pt x="7" y="126"/>
                  <a:pt x="10" y="114"/>
                </a:cubicBezTo>
                <a:cubicBezTo>
                  <a:pt x="14" y="103"/>
                  <a:pt x="18" y="92"/>
                  <a:pt x="23" y="82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5"/>
                  <a:pt x="54" y="38"/>
                  <a:pt x="61" y="31"/>
                </a:cubicBezTo>
                <a:cubicBezTo>
                  <a:pt x="69" y="24"/>
                  <a:pt x="77" y="18"/>
                  <a:pt x="86" y="14"/>
                </a:cubicBezTo>
                <a:cubicBezTo>
                  <a:pt x="94" y="9"/>
                  <a:pt x="103" y="6"/>
                  <a:pt x="112" y="3"/>
                </a:cubicBezTo>
                <a:cubicBezTo>
                  <a:pt x="121" y="1"/>
                  <a:pt x="130" y="0"/>
                  <a:pt x="139" y="0"/>
                </a:cubicBezTo>
                <a:lnTo>
                  <a:pt x="8311" y="0"/>
                </a:lnTo>
                <a:cubicBezTo>
                  <a:pt x="8323" y="0"/>
                  <a:pt x="8335" y="1"/>
                  <a:pt x="8347" y="3"/>
                </a:cubicBezTo>
                <a:cubicBezTo>
                  <a:pt x="8359" y="6"/>
                  <a:pt x="8371" y="9"/>
                  <a:pt x="8382" y="14"/>
                </a:cubicBezTo>
                <a:cubicBezTo>
                  <a:pt x="8393" y="18"/>
                  <a:pt x="8404" y="24"/>
                  <a:pt x="8414" y="31"/>
                </a:cubicBezTo>
                <a:cubicBezTo>
                  <a:pt x="8424" y="38"/>
                  <a:pt x="8434" y="45"/>
                  <a:pt x="8442" y="54"/>
                </a:cubicBezTo>
                <a:cubicBezTo>
                  <a:pt x="8451" y="63"/>
                  <a:pt x="8458" y="72"/>
                  <a:pt x="8465" y="82"/>
                </a:cubicBezTo>
                <a:cubicBezTo>
                  <a:pt x="8472" y="92"/>
                  <a:pt x="8478" y="103"/>
                  <a:pt x="8482" y="114"/>
                </a:cubicBezTo>
                <a:cubicBezTo>
                  <a:pt x="8487" y="126"/>
                  <a:pt x="8491" y="137"/>
                  <a:pt x="8493" y="149"/>
                </a:cubicBezTo>
                <a:cubicBezTo>
                  <a:pt x="8495" y="161"/>
                  <a:pt x="8497" y="173"/>
                  <a:pt x="8497" y="185"/>
                </a:cubicBezTo>
                <a:lnTo>
                  <a:pt x="8497" y="7057"/>
                </a:lnTo>
                <a:cubicBezTo>
                  <a:pt x="8497" y="7070"/>
                  <a:pt x="8495" y="7082"/>
                  <a:pt x="8493" y="7094"/>
                </a:cubicBezTo>
                <a:cubicBezTo>
                  <a:pt x="8491" y="7106"/>
                  <a:pt x="8487" y="7117"/>
                  <a:pt x="8482" y="7128"/>
                </a:cubicBezTo>
                <a:cubicBezTo>
                  <a:pt x="8478" y="7140"/>
                  <a:pt x="8472" y="7150"/>
                  <a:pt x="8465" y="7161"/>
                </a:cubicBezTo>
                <a:cubicBezTo>
                  <a:pt x="8458" y="7171"/>
                  <a:pt x="8451" y="7180"/>
                  <a:pt x="8442" y="7189"/>
                </a:cubicBezTo>
                <a:cubicBezTo>
                  <a:pt x="8434" y="7197"/>
                  <a:pt x="8424" y="7205"/>
                  <a:pt x="8414" y="7212"/>
                </a:cubicBezTo>
                <a:cubicBezTo>
                  <a:pt x="8404" y="7219"/>
                  <a:pt x="8393" y="7224"/>
                  <a:pt x="8382" y="7229"/>
                </a:cubicBezTo>
                <a:cubicBezTo>
                  <a:pt x="8371" y="7234"/>
                  <a:pt x="8359" y="7237"/>
                  <a:pt x="8347" y="7240"/>
                </a:cubicBezTo>
                <a:cubicBezTo>
                  <a:pt x="8335" y="7242"/>
                  <a:pt x="8323" y="7243"/>
                  <a:pt x="8311" y="7243"/>
                </a:cubicBezTo>
                <a:lnTo>
                  <a:pt x="139" y="7243"/>
                </a:lnTo>
                <a:cubicBezTo>
                  <a:pt x="130" y="7243"/>
                  <a:pt x="121" y="7242"/>
                  <a:pt x="112" y="7240"/>
                </a:cubicBezTo>
                <a:cubicBezTo>
                  <a:pt x="103" y="7237"/>
                  <a:pt x="94" y="7234"/>
                  <a:pt x="86" y="7229"/>
                </a:cubicBezTo>
                <a:cubicBezTo>
                  <a:pt x="77" y="7224"/>
                  <a:pt x="69" y="7219"/>
                  <a:pt x="61" y="7212"/>
                </a:cubicBezTo>
                <a:cubicBezTo>
                  <a:pt x="54" y="7205"/>
                  <a:pt x="47" y="7197"/>
                  <a:pt x="40" y="7189"/>
                </a:cubicBezTo>
                <a:cubicBezTo>
                  <a:pt x="34" y="7180"/>
                  <a:pt x="28" y="7171"/>
                  <a:pt x="23" y="7161"/>
                </a:cubicBezTo>
                <a:cubicBezTo>
                  <a:pt x="18" y="7150"/>
                  <a:pt x="14" y="7140"/>
                  <a:pt x="10" y="7128"/>
                </a:cubicBezTo>
                <a:cubicBezTo>
                  <a:pt x="7" y="7117"/>
                  <a:pt x="4" y="7106"/>
                  <a:pt x="2" y="7094"/>
                </a:cubicBezTo>
                <a:cubicBezTo>
                  <a:pt x="0" y="7082"/>
                  <a:pt x="0" y="7070"/>
                  <a:pt x="0" y="7057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reeform: Shape 436"/>
          <p:cNvSpPr/>
          <p:nvPr/>
        </p:nvSpPr>
        <p:spPr>
          <a:xfrm>
            <a:off x="7086240" y="2239560"/>
            <a:ext cx="67320" cy="2607480"/>
          </a:xfrm>
          <a:custGeom>
            <a:avLst/>
            <a:gdLst/>
            <a:ahLst/>
            <a:cxnLst/>
            <a:rect l="0" t="0" r="r" b="b"/>
            <a:pathLst>
              <a:path w="187" h="7243">
                <a:moveTo>
                  <a:pt x="0" y="0"/>
                </a:moveTo>
                <a:lnTo>
                  <a:pt x="187" y="0"/>
                </a:lnTo>
                <a:lnTo>
                  <a:pt x="187" y="7243"/>
                </a:lnTo>
                <a:lnTo>
                  <a:pt x="0" y="72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8" name="Picture 437"/>
          <p:cNvPicPr/>
          <p:nvPr/>
        </p:nvPicPr>
        <p:blipFill>
          <a:blip r:embed="rId7"/>
          <a:stretch/>
        </p:blipFill>
        <p:spPr>
          <a:xfrm>
            <a:off x="7320600" y="245700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Box 438"/>
          <p:cNvSpPr txBox="1"/>
          <p:nvPr/>
        </p:nvSpPr>
        <p:spPr>
          <a:xfrm>
            <a:off x="4245120" y="4263120"/>
            <a:ext cx="2095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Strategic contingency planning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TextBox 439"/>
          <p:cNvSpPr txBox="1"/>
          <p:nvPr/>
        </p:nvSpPr>
        <p:spPr>
          <a:xfrm>
            <a:off x="7571160" y="2460600"/>
            <a:ext cx="10940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Compliance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TextBox 440"/>
          <p:cNvSpPr txBox="1"/>
          <p:nvPr/>
        </p:nvSpPr>
        <p:spPr>
          <a:xfrm>
            <a:off x="7320600" y="2792520"/>
            <a:ext cx="2173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Ensuring IT infrastructure meets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TextBox 441"/>
          <p:cNvSpPr txBox="1"/>
          <p:nvPr/>
        </p:nvSpPr>
        <p:spPr>
          <a:xfrm>
            <a:off x="7320600" y="2993040"/>
            <a:ext cx="253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regulatory requirements and industry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3" name="Picture 442"/>
          <p:cNvPicPr/>
          <p:nvPr/>
        </p:nvPicPr>
        <p:blipFill>
          <a:blip r:embed="rId5"/>
          <a:stretch/>
        </p:blipFill>
        <p:spPr>
          <a:xfrm>
            <a:off x="7320600" y="3543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Box 443"/>
          <p:cNvSpPr txBox="1"/>
          <p:nvPr/>
        </p:nvSpPr>
        <p:spPr>
          <a:xfrm>
            <a:off x="7320600" y="3193560"/>
            <a:ext cx="710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standards.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TextBox 444"/>
          <p:cNvSpPr txBox="1"/>
          <p:nvPr/>
        </p:nvSpPr>
        <p:spPr>
          <a:xfrm>
            <a:off x="7521120" y="3527640"/>
            <a:ext cx="21016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Compliance monitoring against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6" name="Picture 445"/>
          <p:cNvPicPr/>
          <p:nvPr/>
        </p:nvPicPr>
        <p:blipFill>
          <a:blip r:embed="rId5"/>
          <a:stretch/>
        </p:blipFill>
        <p:spPr>
          <a:xfrm>
            <a:off x="7320600" y="40111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TextBox 446"/>
          <p:cNvSpPr txBox="1"/>
          <p:nvPr/>
        </p:nvSpPr>
        <p:spPr>
          <a:xfrm>
            <a:off x="7521120" y="3728520"/>
            <a:ext cx="505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policies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8" name="Picture 447"/>
          <p:cNvPicPr/>
          <p:nvPr/>
        </p:nvPicPr>
        <p:blipFill>
          <a:blip r:embed="rId5"/>
          <a:stretch/>
        </p:blipFill>
        <p:spPr>
          <a:xfrm>
            <a:off x="7320600" y="4278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Box 448"/>
          <p:cNvSpPr txBox="1"/>
          <p:nvPr/>
        </p:nvSpPr>
        <p:spPr>
          <a:xfrm>
            <a:off x="7521120" y="3995640"/>
            <a:ext cx="2163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Auditable record of patch status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0" name="Picture 449"/>
          <p:cNvPicPr/>
          <p:nvPr/>
        </p:nvPicPr>
        <p:blipFill>
          <a:blip r:embed="rId8"/>
          <a:stretch/>
        </p:blipFill>
        <p:spPr>
          <a:xfrm>
            <a:off x="735480" y="5381640"/>
            <a:ext cx="15012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Box 450"/>
          <p:cNvSpPr txBox="1"/>
          <p:nvPr/>
        </p:nvSpPr>
        <p:spPr>
          <a:xfrm>
            <a:off x="7521120" y="4263120"/>
            <a:ext cx="2140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Simpliﬁed compliance reporting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TextBox 451"/>
          <p:cNvSpPr txBox="1"/>
          <p:nvPr/>
        </p:nvSpPr>
        <p:spPr>
          <a:xfrm>
            <a:off x="986040" y="5299560"/>
            <a:ext cx="8478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Key beneﬁt: </a:t>
            </a:r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By integrating Infra Check with Patch Management, organizations can achieve a comprehensive view of their 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3" name="Picture 452"/>
          <p:cNvPicPr/>
          <p:nvPr/>
        </p:nvPicPr>
        <p:blipFill>
          <a:blip r:embed="rId9"/>
          <a:stretch/>
        </p:blipFill>
        <p:spPr>
          <a:xfrm>
            <a:off x="534960" y="60753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TextBox 453"/>
          <p:cNvSpPr txBox="1"/>
          <p:nvPr/>
        </p:nvSpPr>
        <p:spPr>
          <a:xfrm>
            <a:off x="986040" y="5500080"/>
            <a:ext cx="4234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infrastructure, ensuring both security and operational stability.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TextBox 454"/>
          <p:cNvSpPr txBox="1"/>
          <p:nvPr/>
        </p:nvSpPr>
        <p:spPr>
          <a:xfrm>
            <a:off x="718560" y="606708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6" name="Picture 455"/>
          <p:cNvPicPr/>
          <p:nvPr/>
        </p:nvPicPr>
        <p:blipFill>
          <a:blip r:embed="rId10"/>
          <a:stretch/>
        </p:blipFill>
        <p:spPr>
          <a:xfrm>
            <a:off x="-835560" y="-83556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7" name="Picture 456"/>
          <p:cNvPicPr/>
          <p:nvPr/>
        </p:nvPicPr>
        <p:blipFill>
          <a:blip r:embed="rId11"/>
          <a:stretch/>
        </p:blipFill>
        <p:spPr>
          <a:xfrm>
            <a:off x="8607240" y="432864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8" name="Picture 457"/>
          <p:cNvPicPr/>
          <p:nvPr/>
        </p:nvPicPr>
        <p:blipFill>
          <a:blip r:embed="rId12"/>
          <a:stretch/>
        </p:blipFill>
        <p:spPr>
          <a:xfrm>
            <a:off x="417960" y="125352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9" name="Picture 458"/>
          <p:cNvPicPr/>
          <p:nvPr/>
        </p:nvPicPr>
        <p:blipFill>
          <a:blip r:embed="rId13"/>
          <a:stretch/>
        </p:blipFill>
        <p:spPr>
          <a:xfrm>
            <a:off x="6936120" y="514764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0" name="Picture 459"/>
          <p:cNvPicPr/>
          <p:nvPr/>
        </p:nvPicPr>
        <p:blipFill>
          <a:blip r:embed="rId14"/>
          <a:stretch/>
        </p:blipFill>
        <p:spPr>
          <a:xfrm>
            <a:off x="0" y="0"/>
            <a:ext cx="10696320" cy="641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Box 460"/>
          <p:cNvSpPr txBox="1"/>
          <p:nvPr/>
        </p:nvSpPr>
        <p:spPr>
          <a:xfrm>
            <a:off x="9898920" y="6067080"/>
            <a:ext cx="26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7/10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Picture 461"/>
          <p:cNvPicPr/>
          <p:nvPr/>
        </p:nvPicPr>
        <p:blipFill>
          <a:blip r:embed="rId2"/>
          <a:stretch/>
        </p:blipFill>
        <p:spPr>
          <a:xfrm>
            <a:off x="0" y="0"/>
            <a:ext cx="10696320" cy="63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Freeform: Shape 462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4" name="Picture 463"/>
          <p:cNvPicPr/>
          <p:nvPr/>
        </p:nvPicPr>
        <p:blipFill>
          <a:blip r:embed="rId3"/>
          <a:stretch/>
        </p:blipFill>
        <p:spPr>
          <a:xfrm>
            <a:off x="568080" y="4671360"/>
            <a:ext cx="9593280" cy="11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Freeform: Shape 464"/>
          <p:cNvSpPr/>
          <p:nvPr/>
        </p:nvSpPr>
        <p:spPr>
          <a:xfrm>
            <a:off x="534600" y="4671360"/>
            <a:ext cx="33840" cy="1136880"/>
          </a:xfrm>
          <a:custGeom>
            <a:avLst/>
            <a:gdLst/>
            <a:ahLst/>
            <a:cxnLst/>
            <a:rect l="0" t="0" r="r" b="b"/>
            <a:pathLst>
              <a:path w="94" h="3158">
                <a:moveTo>
                  <a:pt x="0" y="0"/>
                </a:moveTo>
                <a:lnTo>
                  <a:pt x="94" y="0"/>
                </a:lnTo>
                <a:lnTo>
                  <a:pt x="94" y="3158"/>
                </a:lnTo>
                <a:lnTo>
                  <a:pt x="0" y="315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534960" y="389520"/>
            <a:ext cx="394416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EOL/EOSL Management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TextBox 466"/>
          <p:cNvSpPr txBox="1"/>
          <p:nvPr/>
        </p:nvSpPr>
        <p:spPr>
          <a:xfrm>
            <a:off x="534960" y="1272600"/>
            <a:ext cx="9542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End-of-Life (EOL) and End-of-Service-Life (EOSL) are distinct stages where a manufacturer ceases to market, sell, or support a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TextBox 467"/>
          <p:cNvSpPr txBox="1"/>
          <p:nvPr/>
        </p:nvSpPr>
        <p:spPr>
          <a:xfrm>
            <a:off x="534960" y="1514880"/>
            <a:ext cx="9426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product. Eﬀective management of these lifecycle milestones is critical to avoiding security risks and operational disruptions.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reeform: Shape 468"/>
          <p:cNvSpPr/>
          <p:nvPr/>
        </p:nvSpPr>
        <p:spPr>
          <a:xfrm>
            <a:off x="534600" y="2364840"/>
            <a:ext cx="251280" cy="334440"/>
          </a:xfrm>
          <a:custGeom>
            <a:avLst/>
            <a:gdLst/>
            <a:ahLst/>
            <a:cxnLst/>
            <a:rect l="0" t="0" r="r" b="b"/>
            <a:pathLst>
              <a:path w="698" h="929">
                <a:moveTo>
                  <a:pt x="0" y="581"/>
                </a:moveTo>
                <a:lnTo>
                  <a:pt x="0" y="348"/>
                </a:lnTo>
                <a:cubicBezTo>
                  <a:pt x="0" y="325"/>
                  <a:pt x="2" y="302"/>
                  <a:pt x="7" y="280"/>
                </a:cubicBezTo>
                <a:cubicBezTo>
                  <a:pt x="11" y="258"/>
                  <a:pt x="18" y="236"/>
                  <a:pt x="27" y="215"/>
                </a:cubicBezTo>
                <a:cubicBezTo>
                  <a:pt x="35" y="194"/>
                  <a:pt x="46" y="174"/>
                  <a:pt x="59" y="155"/>
                </a:cubicBezTo>
                <a:cubicBezTo>
                  <a:pt x="72" y="136"/>
                  <a:pt x="86" y="118"/>
                  <a:pt x="102" y="102"/>
                </a:cubicBezTo>
                <a:cubicBezTo>
                  <a:pt x="118" y="86"/>
                  <a:pt x="136" y="71"/>
                  <a:pt x="155" y="58"/>
                </a:cubicBezTo>
                <a:cubicBezTo>
                  <a:pt x="174" y="46"/>
                  <a:pt x="194" y="35"/>
                  <a:pt x="215" y="26"/>
                </a:cubicBezTo>
                <a:cubicBezTo>
                  <a:pt x="236" y="18"/>
                  <a:pt x="259" y="11"/>
                  <a:pt x="281" y="6"/>
                </a:cubicBezTo>
                <a:cubicBezTo>
                  <a:pt x="304" y="2"/>
                  <a:pt x="326" y="0"/>
                  <a:pt x="349" y="0"/>
                </a:cubicBezTo>
                <a:cubicBezTo>
                  <a:pt x="372" y="0"/>
                  <a:pt x="395" y="2"/>
                  <a:pt x="417" y="6"/>
                </a:cubicBezTo>
                <a:cubicBezTo>
                  <a:pt x="440" y="11"/>
                  <a:pt x="461" y="18"/>
                  <a:pt x="483" y="26"/>
                </a:cubicBezTo>
                <a:cubicBezTo>
                  <a:pt x="504" y="35"/>
                  <a:pt x="524" y="46"/>
                  <a:pt x="543" y="58"/>
                </a:cubicBezTo>
                <a:cubicBezTo>
                  <a:pt x="562" y="71"/>
                  <a:pt x="579" y="86"/>
                  <a:pt x="596" y="102"/>
                </a:cubicBezTo>
                <a:cubicBezTo>
                  <a:pt x="612" y="118"/>
                  <a:pt x="626" y="136"/>
                  <a:pt x="639" y="155"/>
                </a:cubicBezTo>
                <a:cubicBezTo>
                  <a:pt x="652" y="174"/>
                  <a:pt x="662" y="194"/>
                  <a:pt x="671" y="215"/>
                </a:cubicBezTo>
                <a:cubicBezTo>
                  <a:pt x="680" y="236"/>
                  <a:pt x="686" y="258"/>
                  <a:pt x="691" y="280"/>
                </a:cubicBezTo>
                <a:cubicBezTo>
                  <a:pt x="695" y="302"/>
                  <a:pt x="698" y="325"/>
                  <a:pt x="698" y="348"/>
                </a:cubicBezTo>
                <a:lnTo>
                  <a:pt x="698" y="581"/>
                </a:lnTo>
                <a:cubicBezTo>
                  <a:pt x="698" y="604"/>
                  <a:pt x="695" y="627"/>
                  <a:pt x="691" y="649"/>
                </a:cubicBezTo>
                <a:cubicBezTo>
                  <a:pt x="686" y="671"/>
                  <a:pt x="680" y="693"/>
                  <a:pt x="671" y="714"/>
                </a:cubicBezTo>
                <a:cubicBezTo>
                  <a:pt x="662" y="735"/>
                  <a:pt x="652" y="756"/>
                  <a:pt x="639" y="775"/>
                </a:cubicBezTo>
                <a:cubicBezTo>
                  <a:pt x="626" y="794"/>
                  <a:pt x="612" y="811"/>
                  <a:pt x="596" y="827"/>
                </a:cubicBezTo>
                <a:cubicBezTo>
                  <a:pt x="579" y="843"/>
                  <a:pt x="562" y="858"/>
                  <a:pt x="543" y="871"/>
                </a:cubicBezTo>
                <a:cubicBezTo>
                  <a:pt x="524" y="883"/>
                  <a:pt x="504" y="894"/>
                  <a:pt x="483" y="903"/>
                </a:cubicBezTo>
                <a:cubicBezTo>
                  <a:pt x="461" y="912"/>
                  <a:pt x="440" y="918"/>
                  <a:pt x="417" y="923"/>
                </a:cubicBezTo>
                <a:cubicBezTo>
                  <a:pt x="395" y="927"/>
                  <a:pt x="372" y="929"/>
                  <a:pt x="349" y="929"/>
                </a:cubicBezTo>
                <a:cubicBezTo>
                  <a:pt x="326" y="929"/>
                  <a:pt x="304" y="927"/>
                  <a:pt x="281" y="923"/>
                </a:cubicBezTo>
                <a:cubicBezTo>
                  <a:pt x="259" y="918"/>
                  <a:pt x="236" y="912"/>
                  <a:pt x="215" y="903"/>
                </a:cubicBezTo>
                <a:cubicBezTo>
                  <a:pt x="194" y="894"/>
                  <a:pt x="174" y="883"/>
                  <a:pt x="155" y="871"/>
                </a:cubicBezTo>
                <a:cubicBezTo>
                  <a:pt x="136" y="858"/>
                  <a:pt x="118" y="843"/>
                  <a:pt x="102" y="827"/>
                </a:cubicBezTo>
                <a:cubicBezTo>
                  <a:pt x="86" y="811"/>
                  <a:pt x="72" y="794"/>
                  <a:pt x="59" y="775"/>
                </a:cubicBezTo>
                <a:cubicBezTo>
                  <a:pt x="46" y="756"/>
                  <a:pt x="35" y="735"/>
                  <a:pt x="27" y="714"/>
                </a:cubicBezTo>
                <a:cubicBezTo>
                  <a:pt x="18" y="693"/>
                  <a:pt x="11" y="671"/>
                  <a:pt x="7" y="649"/>
                </a:cubicBezTo>
                <a:cubicBezTo>
                  <a:pt x="2" y="627"/>
                  <a:pt x="0" y="604"/>
                  <a:pt x="0" y="58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0" name="Picture 469"/>
          <p:cNvPicPr/>
          <p:nvPr/>
        </p:nvPicPr>
        <p:blipFill>
          <a:blip r:embed="rId4"/>
          <a:stretch/>
        </p:blipFill>
        <p:spPr>
          <a:xfrm>
            <a:off x="601560" y="24570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TextBox 470"/>
          <p:cNvSpPr txBox="1"/>
          <p:nvPr/>
        </p:nvSpPr>
        <p:spPr>
          <a:xfrm>
            <a:off x="534960" y="1944720"/>
            <a:ext cx="365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46EDD5"/>
                </a:solidFill>
                <a:effectLst/>
                <a:uFillTx/>
                <a:latin typeface="DejaVuSans"/>
                <a:ea typeface="DejaVuSans"/>
              </a:rPr>
              <a:t>Strategic Lifecycle Management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TextBox 471"/>
          <p:cNvSpPr txBox="1"/>
          <p:nvPr/>
        </p:nvSpPr>
        <p:spPr>
          <a:xfrm>
            <a:off x="919080" y="2349360"/>
            <a:ext cx="1447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Centralized Inventory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TextBox 472"/>
          <p:cNvSpPr txBox="1"/>
          <p:nvPr/>
        </p:nvSpPr>
        <p:spPr>
          <a:xfrm>
            <a:off x="919080" y="2550240"/>
            <a:ext cx="3724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Maintains a comprehensive and current inventory of all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reeform: Shape 473"/>
          <p:cNvSpPr/>
          <p:nvPr/>
        </p:nvSpPr>
        <p:spPr>
          <a:xfrm>
            <a:off x="534600" y="3100320"/>
            <a:ext cx="251280" cy="334440"/>
          </a:xfrm>
          <a:custGeom>
            <a:avLst/>
            <a:gdLst/>
            <a:ahLst/>
            <a:cxnLst/>
            <a:rect l="0" t="0" r="r" b="b"/>
            <a:pathLst>
              <a:path w="698" h="929">
                <a:moveTo>
                  <a:pt x="0" y="581"/>
                </a:moveTo>
                <a:lnTo>
                  <a:pt x="0" y="349"/>
                </a:lnTo>
                <a:cubicBezTo>
                  <a:pt x="0" y="326"/>
                  <a:pt x="2" y="303"/>
                  <a:pt x="7" y="281"/>
                </a:cubicBezTo>
                <a:cubicBezTo>
                  <a:pt x="11" y="258"/>
                  <a:pt x="18" y="237"/>
                  <a:pt x="27" y="215"/>
                </a:cubicBezTo>
                <a:cubicBezTo>
                  <a:pt x="35" y="193"/>
                  <a:pt x="46" y="173"/>
                  <a:pt x="59" y="154"/>
                </a:cubicBezTo>
                <a:cubicBezTo>
                  <a:pt x="72" y="135"/>
                  <a:pt x="86" y="118"/>
                  <a:pt x="102" y="102"/>
                </a:cubicBezTo>
                <a:cubicBezTo>
                  <a:pt x="118" y="85"/>
                  <a:pt x="136" y="71"/>
                  <a:pt x="155" y="58"/>
                </a:cubicBezTo>
                <a:cubicBezTo>
                  <a:pt x="174" y="46"/>
                  <a:pt x="194" y="35"/>
                  <a:pt x="215" y="26"/>
                </a:cubicBezTo>
                <a:cubicBezTo>
                  <a:pt x="236" y="17"/>
                  <a:pt x="259" y="11"/>
                  <a:pt x="281" y="6"/>
                </a:cubicBezTo>
                <a:cubicBezTo>
                  <a:pt x="304" y="2"/>
                  <a:pt x="326" y="0"/>
                  <a:pt x="349" y="0"/>
                </a:cubicBezTo>
                <a:cubicBezTo>
                  <a:pt x="372" y="0"/>
                  <a:pt x="395" y="2"/>
                  <a:pt x="417" y="6"/>
                </a:cubicBezTo>
                <a:cubicBezTo>
                  <a:pt x="440" y="11"/>
                  <a:pt x="461" y="17"/>
                  <a:pt x="483" y="26"/>
                </a:cubicBezTo>
                <a:cubicBezTo>
                  <a:pt x="504" y="35"/>
                  <a:pt x="524" y="46"/>
                  <a:pt x="543" y="58"/>
                </a:cubicBezTo>
                <a:cubicBezTo>
                  <a:pt x="562" y="71"/>
                  <a:pt x="579" y="85"/>
                  <a:pt x="596" y="102"/>
                </a:cubicBezTo>
                <a:cubicBezTo>
                  <a:pt x="612" y="118"/>
                  <a:pt x="626" y="135"/>
                  <a:pt x="639" y="154"/>
                </a:cubicBezTo>
                <a:cubicBezTo>
                  <a:pt x="652" y="173"/>
                  <a:pt x="662" y="193"/>
                  <a:pt x="671" y="215"/>
                </a:cubicBezTo>
                <a:cubicBezTo>
                  <a:pt x="680" y="237"/>
                  <a:pt x="686" y="258"/>
                  <a:pt x="691" y="281"/>
                </a:cubicBezTo>
                <a:cubicBezTo>
                  <a:pt x="695" y="303"/>
                  <a:pt x="698" y="326"/>
                  <a:pt x="698" y="349"/>
                </a:cubicBezTo>
                <a:lnTo>
                  <a:pt x="698" y="581"/>
                </a:lnTo>
                <a:cubicBezTo>
                  <a:pt x="698" y="604"/>
                  <a:pt x="695" y="626"/>
                  <a:pt x="691" y="649"/>
                </a:cubicBezTo>
                <a:cubicBezTo>
                  <a:pt x="686" y="671"/>
                  <a:pt x="680" y="693"/>
                  <a:pt x="671" y="714"/>
                </a:cubicBezTo>
                <a:cubicBezTo>
                  <a:pt x="662" y="735"/>
                  <a:pt x="652" y="755"/>
                  <a:pt x="639" y="774"/>
                </a:cubicBezTo>
                <a:cubicBezTo>
                  <a:pt x="626" y="793"/>
                  <a:pt x="612" y="811"/>
                  <a:pt x="596" y="827"/>
                </a:cubicBezTo>
                <a:cubicBezTo>
                  <a:pt x="579" y="843"/>
                  <a:pt x="562" y="858"/>
                  <a:pt x="543" y="870"/>
                </a:cubicBezTo>
                <a:cubicBezTo>
                  <a:pt x="524" y="883"/>
                  <a:pt x="504" y="894"/>
                  <a:pt x="483" y="903"/>
                </a:cubicBezTo>
                <a:cubicBezTo>
                  <a:pt x="461" y="911"/>
                  <a:pt x="440" y="918"/>
                  <a:pt x="417" y="922"/>
                </a:cubicBezTo>
                <a:cubicBezTo>
                  <a:pt x="395" y="927"/>
                  <a:pt x="372" y="929"/>
                  <a:pt x="349" y="929"/>
                </a:cubicBezTo>
                <a:cubicBezTo>
                  <a:pt x="326" y="929"/>
                  <a:pt x="304" y="927"/>
                  <a:pt x="281" y="922"/>
                </a:cubicBezTo>
                <a:cubicBezTo>
                  <a:pt x="259" y="918"/>
                  <a:pt x="236" y="911"/>
                  <a:pt x="215" y="903"/>
                </a:cubicBezTo>
                <a:cubicBezTo>
                  <a:pt x="194" y="894"/>
                  <a:pt x="174" y="883"/>
                  <a:pt x="155" y="870"/>
                </a:cubicBezTo>
                <a:cubicBezTo>
                  <a:pt x="136" y="858"/>
                  <a:pt x="118" y="843"/>
                  <a:pt x="102" y="827"/>
                </a:cubicBezTo>
                <a:cubicBezTo>
                  <a:pt x="86" y="811"/>
                  <a:pt x="72" y="793"/>
                  <a:pt x="59" y="774"/>
                </a:cubicBezTo>
                <a:cubicBezTo>
                  <a:pt x="46" y="755"/>
                  <a:pt x="35" y="735"/>
                  <a:pt x="27" y="714"/>
                </a:cubicBezTo>
                <a:cubicBezTo>
                  <a:pt x="18" y="693"/>
                  <a:pt x="11" y="671"/>
                  <a:pt x="7" y="649"/>
                </a:cubicBezTo>
                <a:cubicBezTo>
                  <a:pt x="2" y="626"/>
                  <a:pt x="0" y="604"/>
                  <a:pt x="0" y="58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5" name="Picture 474"/>
          <p:cNvPicPr/>
          <p:nvPr/>
        </p:nvPicPr>
        <p:blipFill>
          <a:blip r:embed="rId5"/>
          <a:stretch/>
        </p:blipFill>
        <p:spPr>
          <a:xfrm>
            <a:off x="601560" y="319212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Box 475"/>
          <p:cNvSpPr txBox="1"/>
          <p:nvPr/>
        </p:nvSpPr>
        <p:spPr>
          <a:xfrm>
            <a:off x="919080" y="2750760"/>
            <a:ext cx="2026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hardware and software assets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TextBox 476"/>
          <p:cNvSpPr txBox="1"/>
          <p:nvPr/>
        </p:nvSpPr>
        <p:spPr>
          <a:xfrm>
            <a:off x="919080" y="3084840"/>
            <a:ext cx="12470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Proactive Tracking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TextBox 477"/>
          <p:cNvSpPr txBox="1"/>
          <p:nvPr/>
        </p:nvSpPr>
        <p:spPr>
          <a:xfrm>
            <a:off x="919080" y="3285360"/>
            <a:ext cx="39999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Actively tracks and ﬂags devices and software approaching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reeform: Shape 478"/>
          <p:cNvSpPr/>
          <p:nvPr/>
        </p:nvSpPr>
        <p:spPr>
          <a:xfrm>
            <a:off x="534600" y="3835440"/>
            <a:ext cx="267840" cy="334800"/>
          </a:xfrm>
          <a:custGeom>
            <a:avLst/>
            <a:gdLst/>
            <a:ahLst/>
            <a:cxnLst/>
            <a:rect l="0" t="0" r="r" b="b"/>
            <a:pathLst>
              <a:path w="744" h="930">
                <a:moveTo>
                  <a:pt x="0" y="558"/>
                </a:moveTo>
                <a:lnTo>
                  <a:pt x="0" y="373"/>
                </a:lnTo>
                <a:cubicBezTo>
                  <a:pt x="0" y="348"/>
                  <a:pt x="3" y="324"/>
                  <a:pt x="7" y="300"/>
                </a:cubicBezTo>
                <a:cubicBezTo>
                  <a:pt x="12" y="276"/>
                  <a:pt x="19" y="253"/>
                  <a:pt x="28" y="231"/>
                </a:cubicBezTo>
                <a:cubicBezTo>
                  <a:pt x="38" y="208"/>
                  <a:pt x="49" y="187"/>
                  <a:pt x="63" y="166"/>
                </a:cubicBezTo>
                <a:cubicBezTo>
                  <a:pt x="76" y="146"/>
                  <a:pt x="92" y="127"/>
                  <a:pt x="109" y="110"/>
                </a:cubicBezTo>
                <a:cubicBezTo>
                  <a:pt x="126" y="93"/>
                  <a:pt x="145" y="77"/>
                  <a:pt x="165" y="64"/>
                </a:cubicBezTo>
                <a:cubicBezTo>
                  <a:pt x="185" y="50"/>
                  <a:pt x="207" y="39"/>
                  <a:pt x="229" y="30"/>
                </a:cubicBezTo>
                <a:cubicBezTo>
                  <a:pt x="252" y="20"/>
                  <a:pt x="275" y="12"/>
                  <a:pt x="299" y="7"/>
                </a:cubicBezTo>
                <a:cubicBezTo>
                  <a:pt x="323" y="3"/>
                  <a:pt x="347" y="0"/>
                  <a:pt x="373" y="0"/>
                </a:cubicBezTo>
                <a:cubicBezTo>
                  <a:pt x="397" y="0"/>
                  <a:pt x="421" y="3"/>
                  <a:pt x="445" y="7"/>
                </a:cubicBezTo>
                <a:cubicBezTo>
                  <a:pt x="469" y="12"/>
                  <a:pt x="492" y="20"/>
                  <a:pt x="515" y="30"/>
                </a:cubicBezTo>
                <a:cubicBezTo>
                  <a:pt x="537" y="39"/>
                  <a:pt x="559" y="50"/>
                  <a:pt x="579" y="64"/>
                </a:cubicBezTo>
                <a:cubicBezTo>
                  <a:pt x="599" y="77"/>
                  <a:pt x="618" y="93"/>
                  <a:pt x="635" y="110"/>
                </a:cubicBezTo>
                <a:cubicBezTo>
                  <a:pt x="652" y="127"/>
                  <a:pt x="668" y="146"/>
                  <a:pt x="681" y="166"/>
                </a:cubicBezTo>
                <a:cubicBezTo>
                  <a:pt x="695" y="187"/>
                  <a:pt x="706" y="208"/>
                  <a:pt x="716" y="231"/>
                </a:cubicBezTo>
                <a:cubicBezTo>
                  <a:pt x="725" y="253"/>
                  <a:pt x="732" y="276"/>
                  <a:pt x="737" y="300"/>
                </a:cubicBezTo>
                <a:cubicBezTo>
                  <a:pt x="742" y="324"/>
                  <a:pt x="744" y="348"/>
                  <a:pt x="744" y="373"/>
                </a:cubicBezTo>
                <a:lnTo>
                  <a:pt x="744" y="558"/>
                </a:lnTo>
                <a:cubicBezTo>
                  <a:pt x="744" y="583"/>
                  <a:pt x="742" y="607"/>
                  <a:pt x="737" y="631"/>
                </a:cubicBezTo>
                <a:cubicBezTo>
                  <a:pt x="732" y="655"/>
                  <a:pt x="725" y="678"/>
                  <a:pt x="716" y="701"/>
                </a:cubicBezTo>
                <a:cubicBezTo>
                  <a:pt x="706" y="723"/>
                  <a:pt x="695" y="744"/>
                  <a:pt x="681" y="765"/>
                </a:cubicBezTo>
                <a:cubicBezTo>
                  <a:pt x="668" y="785"/>
                  <a:pt x="652" y="804"/>
                  <a:pt x="635" y="821"/>
                </a:cubicBezTo>
                <a:cubicBezTo>
                  <a:pt x="618" y="838"/>
                  <a:pt x="599" y="854"/>
                  <a:pt x="579" y="867"/>
                </a:cubicBezTo>
                <a:cubicBezTo>
                  <a:pt x="559" y="881"/>
                  <a:pt x="537" y="892"/>
                  <a:pt x="515" y="902"/>
                </a:cubicBezTo>
                <a:cubicBezTo>
                  <a:pt x="492" y="911"/>
                  <a:pt x="469" y="918"/>
                  <a:pt x="445" y="923"/>
                </a:cubicBezTo>
                <a:cubicBezTo>
                  <a:pt x="421" y="927"/>
                  <a:pt x="397" y="930"/>
                  <a:pt x="373" y="930"/>
                </a:cubicBezTo>
                <a:cubicBezTo>
                  <a:pt x="347" y="930"/>
                  <a:pt x="323" y="927"/>
                  <a:pt x="299" y="923"/>
                </a:cubicBezTo>
                <a:cubicBezTo>
                  <a:pt x="275" y="918"/>
                  <a:pt x="252" y="911"/>
                  <a:pt x="229" y="902"/>
                </a:cubicBezTo>
                <a:cubicBezTo>
                  <a:pt x="207" y="892"/>
                  <a:pt x="185" y="881"/>
                  <a:pt x="165" y="867"/>
                </a:cubicBezTo>
                <a:cubicBezTo>
                  <a:pt x="145" y="854"/>
                  <a:pt x="126" y="838"/>
                  <a:pt x="109" y="821"/>
                </a:cubicBezTo>
                <a:cubicBezTo>
                  <a:pt x="92" y="804"/>
                  <a:pt x="76" y="785"/>
                  <a:pt x="63" y="765"/>
                </a:cubicBezTo>
                <a:cubicBezTo>
                  <a:pt x="49" y="744"/>
                  <a:pt x="38" y="723"/>
                  <a:pt x="28" y="701"/>
                </a:cubicBezTo>
                <a:cubicBezTo>
                  <a:pt x="19" y="678"/>
                  <a:pt x="12" y="655"/>
                  <a:pt x="7" y="631"/>
                </a:cubicBezTo>
                <a:cubicBezTo>
                  <a:pt x="3" y="607"/>
                  <a:pt x="0" y="583"/>
                  <a:pt x="0" y="558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80" name="Picture 479"/>
          <p:cNvPicPr/>
          <p:nvPr/>
        </p:nvPicPr>
        <p:blipFill>
          <a:blip r:embed="rId6"/>
          <a:stretch/>
        </p:blipFill>
        <p:spPr>
          <a:xfrm>
            <a:off x="601560" y="3927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TextBox 480"/>
          <p:cNvSpPr txBox="1"/>
          <p:nvPr/>
        </p:nvSpPr>
        <p:spPr>
          <a:xfrm>
            <a:off x="919080" y="3485880"/>
            <a:ext cx="1608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their EOL or EOSL dates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TextBox 481"/>
          <p:cNvSpPr txBox="1"/>
          <p:nvPr/>
        </p:nvSpPr>
        <p:spPr>
          <a:xfrm>
            <a:off x="936000" y="3820320"/>
            <a:ext cx="146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Contingency Planning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TextBox 482"/>
          <p:cNvSpPr txBox="1"/>
          <p:nvPr/>
        </p:nvSpPr>
        <p:spPr>
          <a:xfrm>
            <a:off x="936000" y="4020840"/>
            <a:ext cx="3611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Enables strategic planning for hardware and software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reeform: Shape 483"/>
          <p:cNvSpPr/>
          <p:nvPr/>
        </p:nvSpPr>
        <p:spPr>
          <a:xfrm>
            <a:off x="5548680" y="1930320"/>
            <a:ext cx="4613400" cy="2473920"/>
          </a:xfrm>
          <a:custGeom>
            <a:avLst/>
            <a:gdLst/>
            <a:ahLst/>
            <a:cxnLst/>
            <a:rect l="0" t="0" r="r" b="b"/>
            <a:pathLst>
              <a:path w="12815" h="6872">
                <a:moveTo>
                  <a:pt x="0" y="66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2629" y="0"/>
                </a:lnTo>
                <a:cubicBezTo>
                  <a:pt x="12641" y="0"/>
                  <a:pt x="12653" y="1"/>
                  <a:pt x="12665" y="3"/>
                </a:cubicBezTo>
                <a:cubicBezTo>
                  <a:pt x="12677" y="6"/>
                  <a:pt x="12689" y="9"/>
                  <a:pt x="12700" y="14"/>
                </a:cubicBezTo>
                <a:cubicBezTo>
                  <a:pt x="12711" y="19"/>
                  <a:pt x="12722" y="24"/>
                  <a:pt x="12732" y="31"/>
                </a:cubicBezTo>
                <a:cubicBezTo>
                  <a:pt x="12742" y="38"/>
                  <a:pt x="12752" y="45"/>
                  <a:pt x="12760" y="54"/>
                </a:cubicBezTo>
                <a:cubicBezTo>
                  <a:pt x="12769" y="63"/>
                  <a:pt x="12776" y="72"/>
                  <a:pt x="12783" y="82"/>
                </a:cubicBezTo>
                <a:cubicBezTo>
                  <a:pt x="12790" y="92"/>
                  <a:pt x="12796" y="103"/>
                  <a:pt x="12800" y="114"/>
                </a:cubicBezTo>
                <a:cubicBezTo>
                  <a:pt x="12805" y="126"/>
                  <a:pt x="12809" y="137"/>
                  <a:pt x="12811" y="149"/>
                </a:cubicBezTo>
                <a:cubicBezTo>
                  <a:pt x="12813" y="161"/>
                  <a:pt x="12815" y="173"/>
                  <a:pt x="12815" y="185"/>
                </a:cubicBezTo>
                <a:lnTo>
                  <a:pt x="12815" y="6686"/>
                </a:lnTo>
                <a:cubicBezTo>
                  <a:pt x="12815" y="6698"/>
                  <a:pt x="12813" y="6710"/>
                  <a:pt x="12811" y="6722"/>
                </a:cubicBezTo>
                <a:cubicBezTo>
                  <a:pt x="12809" y="6734"/>
                  <a:pt x="12805" y="6746"/>
                  <a:pt x="12800" y="6757"/>
                </a:cubicBezTo>
                <a:cubicBezTo>
                  <a:pt x="12796" y="6768"/>
                  <a:pt x="12790" y="6779"/>
                  <a:pt x="12783" y="6789"/>
                </a:cubicBezTo>
                <a:cubicBezTo>
                  <a:pt x="12776" y="6799"/>
                  <a:pt x="12769" y="6809"/>
                  <a:pt x="12760" y="6817"/>
                </a:cubicBezTo>
                <a:cubicBezTo>
                  <a:pt x="12752" y="6826"/>
                  <a:pt x="12742" y="6834"/>
                  <a:pt x="12732" y="6840"/>
                </a:cubicBezTo>
                <a:cubicBezTo>
                  <a:pt x="12722" y="6847"/>
                  <a:pt x="12711" y="6853"/>
                  <a:pt x="12700" y="6858"/>
                </a:cubicBezTo>
                <a:cubicBezTo>
                  <a:pt x="12689" y="6862"/>
                  <a:pt x="12677" y="6866"/>
                  <a:pt x="12665" y="6868"/>
                </a:cubicBezTo>
                <a:cubicBezTo>
                  <a:pt x="12653" y="6871"/>
                  <a:pt x="12641" y="6872"/>
                  <a:pt x="12629" y="6872"/>
                </a:cubicBezTo>
                <a:lnTo>
                  <a:pt x="186" y="6872"/>
                </a:lnTo>
                <a:cubicBezTo>
                  <a:pt x="173" y="6872"/>
                  <a:pt x="161" y="6871"/>
                  <a:pt x="149" y="6868"/>
                </a:cubicBezTo>
                <a:cubicBezTo>
                  <a:pt x="137" y="6866"/>
                  <a:pt x="126" y="6862"/>
                  <a:pt x="115" y="6858"/>
                </a:cubicBezTo>
                <a:cubicBezTo>
                  <a:pt x="103" y="6853"/>
                  <a:pt x="93" y="6847"/>
                  <a:pt x="83" y="6840"/>
                </a:cubicBezTo>
                <a:cubicBezTo>
                  <a:pt x="72" y="6834"/>
                  <a:pt x="63" y="6826"/>
                  <a:pt x="54" y="6817"/>
                </a:cubicBezTo>
                <a:cubicBezTo>
                  <a:pt x="46" y="6809"/>
                  <a:pt x="38" y="6799"/>
                  <a:pt x="31" y="6789"/>
                </a:cubicBezTo>
                <a:cubicBezTo>
                  <a:pt x="24" y="6779"/>
                  <a:pt x="19" y="6768"/>
                  <a:pt x="14" y="6757"/>
                </a:cubicBezTo>
                <a:cubicBezTo>
                  <a:pt x="9" y="6746"/>
                  <a:pt x="6" y="6734"/>
                  <a:pt x="4" y="6722"/>
                </a:cubicBezTo>
                <a:cubicBezTo>
                  <a:pt x="1" y="6710"/>
                  <a:pt x="0" y="6698"/>
                  <a:pt x="0" y="6686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TextBox 484"/>
          <p:cNvSpPr txBox="1"/>
          <p:nvPr/>
        </p:nvSpPr>
        <p:spPr>
          <a:xfrm>
            <a:off x="936000" y="4221360"/>
            <a:ext cx="709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transitions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6" name="Picture 485"/>
          <p:cNvPicPr/>
          <p:nvPr/>
        </p:nvPicPr>
        <p:blipFill>
          <a:blip r:embed="rId7"/>
          <a:stretch/>
        </p:blipFill>
        <p:spPr>
          <a:xfrm>
            <a:off x="5749560" y="3300840"/>
            <a:ext cx="417816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TextBox 486"/>
          <p:cNvSpPr txBox="1"/>
          <p:nvPr/>
        </p:nvSpPr>
        <p:spPr>
          <a:xfrm>
            <a:off x="5749560" y="2151360"/>
            <a:ext cx="29397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IT Asset Lifecycle Management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8" name="Picture 487"/>
          <p:cNvPicPr/>
          <p:nvPr/>
        </p:nvPicPr>
        <p:blipFill>
          <a:blip r:embed="rId8"/>
          <a:stretch/>
        </p:blipFill>
        <p:spPr>
          <a:xfrm>
            <a:off x="768960" y="5239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Box 488"/>
          <p:cNvSpPr txBox="1"/>
          <p:nvPr/>
        </p:nvSpPr>
        <p:spPr>
          <a:xfrm>
            <a:off x="768960" y="4892400"/>
            <a:ext cx="4238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Beneﬁts of Proactive EOL/EOSL Management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TextBox 489"/>
          <p:cNvSpPr txBox="1"/>
          <p:nvPr/>
        </p:nvSpPr>
        <p:spPr>
          <a:xfrm>
            <a:off x="1002960" y="5224320"/>
            <a:ext cx="26334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Mitigates security risks associated with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1" name="Picture 490"/>
          <p:cNvPicPr/>
          <p:nvPr/>
        </p:nvPicPr>
        <p:blipFill>
          <a:blip r:embed="rId9"/>
          <a:stretch/>
        </p:blipFill>
        <p:spPr>
          <a:xfrm>
            <a:off x="3877560" y="523980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TextBox 491"/>
          <p:cNvSpPr txBox="1"/>
          <p:nvPr/>
        </p:nvSpPr>
        <p:spPr>
          <a:xfrm>
            <a:off x="1002960" y="5424840"/>
            <a:ext cx="1322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unsupported assets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TextBox 492"/>
          <p:cNvSpPr txBox="1"/>
          <p:nvPr/>
        </p:nvSpPr>
        <p:spPr>
          <a:xfrm>
            <a:off x="4128120" y="5224320"/>
            <a:ext cx="22536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Prevents costly, rushed hardware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4" name="Picture 493"/>
          <p:cNvPicPr/>
          <p:nvPr/>
        </p:nvPicPr>
        <p:blipFill>
          <a:blip r:embed="rId10"/>
          <a:stretch/>
        </p:blipFill>
        <p:spPr>
          <a:xfrm>
            <a:off x="6986160" y="5239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TextBox 494"/>
          <p:cNvSpPr txBox="1"/>
          <p:nvPr/>
        </p:nvSpPr>
        <p:spPr>
          <a:xfrm>
            <a:off x="4128120" y="5424840"/>
            <a:ext cx="919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replacements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TextBox 495"/>
          <p:cNvSpPr txBox="1"/>
          <p:nvPr/>
        </p:nvSpPr>
        <p:spPr>
          <a:xfrm>
            <a:off x="7220160" y="5224320"/>
            <a:ext cx="2421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Enables controlled transition to new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7" name="Picture 496"/>
          <p:cNvPicPr/>
          <p:nvPr/>
        </p:nvPicPr>
        <p:blipFill>
          <a:blip r:embed="rId11"/>
          <a:stretch/>
        </p:blipFill>
        <p:spPr>
          <a:xfrm>
            <a:off x="534960" y="603360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TextBox 497"/>
          <p:cNvSpPr txBox="1"/>
          <p:nvPr/>
        </p:nvSpPr>
        <p:spPr>
          <a:xfrm>
            <a:off x="7220160" y="5424840"/>
            <a:ext cx="855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technologies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TextBox 498"/>
          <p:cNvSpPr txBox="1"/>
          <p:nvPr/>
        </p:nvSpPr>
        <p:spPr>
          <a:xfrm>
            <a:off x="718560" y="602532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0" name="Picture 499"/>
          <p:cNvPicPr/>
          <p:nvPr/>
        </p:nvPicPr>
        <p:blipFill>
          <a:blip r:embed="rId12"/>
          <a:stretch/>
        </p:blipFill>
        <p:spPr>
          <a:xfrm>
            <a:off x="-835560" y="-83556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1" name="Picture 500"/>
          <p:cNvPicPr/>
          <p:nvPr/>
        </p:nvPicPr>
        <p:blipFill>
          <a:blip r:embed="rId13"/>
          <a:stretch/>
        </p:blipFill>
        <p:spPr>
          <a:xfrm>
            <a:off x="8607240" y="428688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2" name="Picture 501"/>
          <p:cNvPicPr/>
          <p:nvPr/>
        </p:nvPicPr>
        <p:blipFill>
          <a:blip r:embed="rId14"/>
          <a:stretch/>
        </p:blipFill>
        <p:spPr>
          <a:xfrm>
            <a:off x="417960" y="125352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3" name="Picture 502"/>
          <p:cNvPicPr/>
          <p:nvPr/>
        </p:nvPicPr>
        <p:blipFill>
          <a:blip r:embed="rId15"/>
          <a:stretch/>
        </p:blipFill>
        <p:spPr>
          <a:xfrm>
            <a:off x="6936120" y="510588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4" name="Picture 503"/>
          <p:cNvPicPr/>
          <p:nvPr/>
        </p:nvPicPr>
        <p:blipFill>
          <a:blip r:embed="rId16"/>
          <a:stretch/>
        </p:blipFill>
        <p:spPr>
          <a:xfrm>
            <a:off x="0" y="0"/>
            <a:ext cx="10696320" cy="63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Freeform: Shape 504"/>
          <p:cNvSpPr/>
          <p:nvPr/>
        </p:nvSpPr>
        <p:spPr>
          <a:xfrm>
            <a:off x="5749200" y="2765880"/>
            <a:ext cx="4212000" cy="33840"/>
          </a:xfrm>
          <a:custGeom>
            <a:avLst/>
            <a:gdLst/>
            <a:ahLst/>
            <a:cxnLst/>
            <a:rect l="0" t="0" r="r" b="b"/>
            <a:pathLst>
              <a:path w="11700" h="94">
                <a:moveTo>
                  <a:pt x="0" y="0"/>
                </a:moveTo>
                <a:lnTo>
                  <a:pt x="11700" y="0"/>
                </a:lnTo>
                <a:lnTo>
                  <a:pt x="11700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reeform: Shape 505"/>
          <p:cNvSpPr/>
          <p:nvPr/>
        </p:nvSpPr>
        <p:spPr>
          <a:xfrm>
            <a:off x="5749200" y="2498400"/>
            <a:ext cx="1053360" cy="602280"/>
          </a:xfrm>
          <a:custGeom>
            <a:avLst/>
            <a:gdLst/>
            <a:ahLst/>
            <a:cxnLst/>
            <a:rect l="0" t="0" r="r" b="b"/>
            <a:pathLst>
              <a:path w="2926" h="1673">
                <a:moveTo>
                  <a:pt x="0" y="1487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6" y="14"/>
                </a:cubicBezTo>
                <a:cubicBezTo>
                  <a:pt x="127" y="10"/>
                  <a:pt x="139" y="6"/>
                  <a:pt x="151" y="4"/>
                </a:cubicBezTo>
                <a:cubicBezTo>
                  <a:pt x="163" y="1"/>
                  <a:pt x="175" y="0"/>
                  <a:pt x="187" y="0"/>
                </a:cubicBezTo>
                <a:lnTo>
                  <a:pt x="2740" y="0"/>
                </a:lnTo>
                <a:cubicBezTo>
                  <a:pt x="2752" y="0"/>
                  <a:pt x="2764" y="1"/>
                  <a:pt x="2776" y="4"/>
                </a:cubicBezTo>
                <a:cubicBezTo>
                  <a:pt x="2788" y="6"/>
                  <a:pt x="2800" y="10"/>
                  <a:pt x="2811" y="14"/>
                </a:cubicBezTo>
                <a:cubicBezTo>
                  <a:pt x="2823" y="19"/>
                  <a:pt x="2833" y="25"/>
                  <a:pt x="2843" y="32"/>
                </a:cubicBezTo>
                <a:cubicBezTo>
                  <a:pt x="2854" y="38"/>
                  <a:pt x="2863" y="46"/>
                  <a:pt x="2872" y="55"/>
                </a:cubicBezTo>
                <a:cubicBezTo>
                  <a:pt x="2880" y="63"/>
                  <a:pt x="2888" y="73"/>
                  <a:pt x="2895" y="83"/>
                </a:cubicBezTo>
                <a:cubicBezTo>
                  <a:pt x="2901" y="93"/>
                  <a:pt x="2907" y="104"/>
                  <a:pt x="2912" y="115"/>
                </a:cubicBezTo>
                <a:cubicBezTo>
                  <a:pt x="2916" y="126"/>
                  <a:pt x="2920" y="138"/>
                  <a:pt x="2922" y="150"/>
                </a:cubicBezTo>
                <a:cubicBezTo>
                  <a:pt x="2925" y="162"/>
                  <a:pt x="2926" y="174"/>
                  <a:pt x="2926" y="186"/>
                </a:cubicBezTo>
                <a:lnTo>
                  <a:pt x="2926" y="1487"/>
                </a:lnTo>
                <a:cubicBezTo>
                  <a:pt x="2926" y="1499"/>
                  <a:pt x="2925" y="1511"/>
                  <a:pt x="2922" y="1523"/>
                </a:cubicBezTo>
                <a:cubicBezTo>
                  <a:pt x="2920" y="1535"/>
                  <a:pt x="2916" y="1547"/>
                  <a:pt x="2912" y="1558"/>
                </a:cubicBezTo>
                <a:cubicBezTo>
                  <a:pt x="2907" y="1569"/>
                  <a:pt x="2901" y="1580"/>
                  <a:pt x="2895" y="1590"/>
                </a:cubicBezTo>
                <a:cubicBezTo>
                  <a:pt x="2888" y="1600"/>
                  <a:pt x="2880" y="1610"/>
                  <a:pt x="2872" y="1618"/>
                </a:cubicBezTo>
                <a:cubicBezTo>
                  <a:pt x="2863" y="1627"/>
                  <a:pt x="2854" y="1634"/>
                  <a:pt x="2843" y="1641"/>
                </a:cubicBezTo>
                <a:cubicBezTo>
                  <a:pt x="2833" y="1648"/>
                  <a:pt x="2823" y="1654"/>
                  <a:pt x="2811" y="1658"/>
                </a:cubicBezTo>
                <a:cubicBezTo>
                  <a:pt x="2800" y="1663"/>
                  <a:pt x="2788" y="1667"/>
                  <a:pt x="2776" y="1669"/>
                </a:cubicBezTo>
                <a:cubicBezTo>
                  <a:pt x="2764" y="1671"/>
                  <a:pt x="2752" y="1673"/>
                  <a:pt x="2740" y="1673"/>
                </a:cubicBezTo>
                <a:lnTo>
                  <a:pt x="187" y="1673"/>
                </a:lnTo>
                <a:cubicBezTo>
                  <a:pt x="175" y="1673"/>
                  <a:pt x="163" y="1671"/>
                  <a:pt x="151" y="1669"/>
                </a:cubicBezTo>
                <a:cubicBezTo>
                  <a:pt x="139" y="1667"/>
                  <a:pt x="127" y="1663"/>
                  <a:pt x="116" y="1658"/>
                </a:cubicBezTo>
                <a:cubicBezTo>
                  <a:pt x="103" y="1654"/>
                  <a:pt x="93" y="1648"/>
                  <a:pt x="83" y="1641"/>
                </a:cubicBezTo>
                <a:cubicBezTo>
                  <a:pt x="72" y="1634"/>
                  <a:pt x="63" y="1627"/>
                  <a:pt x="54" y="1618"/>
                </a:cubicBezTo>
                <a:cubicBezTo>
                  <a:pt x="46" y="1610"/>
                  <a:pt x="38" y="1600"/>
                  <a:pt x="31" y="1590"/>
                </a:cubicBezTo>
                <a:cubicBezTo>
                  <a:pt x="25" y="1580"/>
                  <a:pt x="19" y="1569"/>
                  <a:pt x="14" y="1558"/>
                </a:cubicBezTo>
                <a:cubicBezTo>
                  <a:pt x="10" y="1547"/>
                  <a:pt x="6" y="1535"/>
                  <a:pt x="4" y="1523"/>
                </a:cubicBezTo>
                <a:cubicBezTo>
                  <a:pt x="1" y="1511"/>
                  <a:pt x="0" y="1499"/>
                  <a:pt x="0" y="1487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07" name="Picture 506"/>
          <p:cNvPicPr/>
          <p:nvPr/>
        </p:nvPicPr>
        <p:blipFill>
          <a:blip r:embed="rId17"/>
          <a:stretch/>
        </p:blipFill>
        <p:spPr>
          <a:xfrm>
            <a:off x="6175440" y="259884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TextBox 507"/>
          <p:cNvSpPr txBox="1"/>
          <p:nvPr/>
        </p:nvSpPr>
        <p:spPr>
          <a:xfrm>
            <a:off x="9898920" y="6025320"/>
            <a:ext cx="26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8/10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Freeform: Shape 508"/>
          <p:cNvSpPr/>
          <p:nvPr/>
        </p:nvSpPr>
        <p:spPr>
          <a:xfrm>
            <a:off x="6802200" y="2498400"/>
            <a:ext cx="1053360" cy="602280"/>
          </a:xfrm>
          <a:custGeom>
            <a:avLst/>
            <a:gdLst/>
            <a:ahLst/>
            <a:cxnLst/>
            <a:rect l="0" t="0" r="r" b="b"/>
            <a:pathLst>
              <a:path w="2926" h="1673">
                <a:moveTo>
                  <a:pt x="0" y="14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6" y="14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1"/>
                  <a:pt x="174" y="0"/>
                  <a:pt x="187" y="0"/>
                </a:cubicBezTo>
                <a:lnTo>
                  <a:pt x="2740" y="0"/>
                </a:lnTo>
                <a:cubicBezTo>
                  <a:pt x="2752" y="0"/>
                  <a:pt x="2764" y="1"/>
                  <a:pt x="2776" y="4"/>
                </a:cubicBezTo>
                <a:cubicBezTo>
                  <a:pt x="2788" y="6"/>
                  <a:pt x="2800" y="10"/>
                  <a:pt x="2811" y="14"/>
                </a:cubicBezTo>
                <a:cubicBezTo>
                  <a:pt x="2822" y="19"/>
                  <a:pt x="2833" y="25"/>
                  <a:pt x="2843" y="32"/>
                </a:cubicBezTo>
                <a:cubicBezTo>
                  <a:pt x="2853" y="38"/>
                  <a:pt x="2863" y="46"/>
                  <a:pt x="2871" y="55"/>
                </a:cubicBezTo>
                <a:cubicBezTo>
                  <a:pt x="2880" y="63"/>
                  <a:pt x="2888" y="73"/>
                  <a:pt x="2894" y="83"/>
                </a:cubicBezTo>
                <a:cubicBezTo>
                  <a:pt x="2901" y="93"/>
                  <a:pt x="2907" y="104"/>
                  <a:pt x="2912" y="115"/>
                </a:cubicBezTo>
                <a:cubicBezTo>
                  <a:pt x="2916" y="126"/>
                  <a:pt x="2920" y="138"/>
                  <a:pt x="2922" y="150"/>
                </a:cubicBezTo>
                <a:cubicBezTo>
                  <a:pt x="2925" y="162"/>
                  <a:pt x="2926" y="174"/>
                  <a:pt x="2926" y="186"/>
                </a:cubicBezTo>
                <a:lnTo>
                  <a:pt x="2926" y="1487"/>
                </a:lnTo>
                <a:cubicBezTo>
                  <a:pt x="2926" y="1499"/>
                  <a:pt x="2925" y="1511"/>
                  <a:pt x="2922" y="1523"/>
                </a:cubicBezTo>
                <a:cubicBezTo>
                  <a:pt x="2920" y="1535"/>
                  <a:pt x="2916" y="1547"/>
                  <a:pt x="2912" y="1558"/>
                </a:cubicBezTo>
                <a:cubicBezTo>
                  <a:pt x="2907" y="1569"/>
                  <a:pt x="2901" y="1580"/>
                  <a:pt x="2894" y="1590"/>
                </a:cubicBezTo>
                <a:cubicBezTo>
                  <a:pt x="2888" y="1600"/>
                  <a:pt x="2880" y="1610"/>
                  <a:pt x="2871" y="1618"/>
                </a:cubicBezTo>
                <a:cubicBezTo>
                  <a:pt x="2863" y="1627"/>
                  <a:pt x="2853" y="1634"/>
                  <a:pt x="2843" y="1641"/>
                </a:cubicBezTo>
                <a:cubicBezTo>
                  <a:pt x="2833" y="1648"/>
                  <a:pt x="2822" y="1654"/>
                  <a:pt x="2811" y="1658"/>
                </a:cubicBezTo>
                <a:cubicBezTo>
                  <a:pt x="2800" y="1663"/>
                  <a:pt x="2788" y="1667"/>
                  <a:pt x="2776" y="1669"/>
                </a:cubicBezTo>
                <a:cubicBezTo>
                  <a:pt x="2764" y="1671"/>
                  <a:pt x="2752" y="1673"/>
                  <a:pt x="2740" y="1673"/>
                </a:cubicBezTo>
                <a:lnTo>
                  <a:pt x="187" y="1673"/>
                </a:lnTo>
                <a:cubicBezTo>
                  <a:pt x="174" y="1673"/>
                  <a:pt x="162" y="1671"/>
                  <a:pt x="150" y="1669"/>
                </a:cubicBezTo>
                <a:cubicBezTo>
                  <a:pt x="138" y="1667"/>
                  <a:pt x="127" y="1663"/>
                  <a:pt x="116" y="1658"/>
                </a:cubicBezTo>
                <a:cubicBezTo>
                  <a:pt x="103" y="1654"/>
                  <a:pt x="93" y="1648"/>
                  <a:pt x="82" y="1641"/>
                </a:cubicBezTo>
                <a:cubicBezTo>
                  <a:pt x="72" y="1634"/>
                  <a:pt x="63" y="1627"/>
                  <a:pt x="54" y="1618"/>
                </a:cubicBezTo>
                <a:cubicBezTo>
                  <a:pt x="46" y="1610"/>
                  <a:pt x="38" y="1600"/>
                  <a:pt x="31" y="1590"/>
                </a:cubicBezTo>
                <a:cubicBezTo>
                  <a:pt x="24" y="1580"/>
                  <a:pt x="19" y="1569"/>
                  <a:pt x="14" y="1558"/>
                </a:cubicBezTo>
                <a:cubicBezTo>
                  <a:pt x="9" y="1547"/>
                  <a:pt x="6" y="1535"/>
                  <a:pt x="3" y="1523"/>
                </a:cubicBezTo>
                <a:cubicBezTo>
                  <a:pt x="1" y="1511"/>
                  <a:pt x="0" y="1499"/>
                  <a:pt x="0" y="1487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10" name="Picture 509"/>
          <p:cNvPicPr/>
          <p:nvPr/>
        </p:nvPicPr>
        <p:blipFill>
          <a:blip r:embed="rId18"/>
          <a:stretch/>
        </p:blipFill>
        <p:spPr>
          <a:xfrm>
            <a:off x="7228440" y="259884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TextBox 510"/>
          <p:cNvSpPr txBox="1"/>
          <p:nvPr/>
        </p:nvSpPr>
        <p:spPr>
          <a:xfrm>
            <a:off x="6010200" y="2849760"/>
            <a:ext cx="538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Purchase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Freeform: Shape 511"/>
          <p:cNvSpPr/>
          <p:nvPr/>
        </p:nvSpPr>
        <p:spPr>
          <a:xfrm>
            <a:off x="7855200" y="2498400"/>
            <a:ext cx="1053360" cy="602280"/>
          </a:xfrm>
          <a:custGeom>
            <a:avLst/>
            <a:gdLst/>
            <a:ahLst/>
            <a:cxnLst/>
            <a:rect l="0" t="0" r="r" b="b"/>
            <a:pathLst>
              <a:path w="2926" h="1673">
                <a:moveTo>
                  <a:pt x="0" y="14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5" y="14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2740" y="0"/>
                </a:lnTo>
                <a:cubicBezTo>
                  <a:pt x="2752" y="0"/>
                  <a:pt x="2764" y="1"/>
                  <a:pt x="2776" y="4"/>
                </a:cubicBezTo>
                <a:cubicBezTo>
                  <a:pt x="2788" y="6"/>
                  <a:pt x="2800" y="10"/>
                  <a:pt x="2811" y="14"/>
                </a:cubicBezTo>
                <a:cubicBezTo>
                  <a:pt x="2822" y="19"/>
                  <a:pt x="2833" y="25"/>
                  <a:pt x="2843" y="32"/>
                </a:cubicBezTo>
                <a:cubicBezTo>
                  <a:pt x="2853" y="38"/>
                  <a:pt x="2863" y="46"/>
                  <a:pt x="2871" y="55"/>
                </a:cubicBezTo>
                <a:cubicBezTo>
                  <a:pt x="2880" y="63"/>
                  <a:pt x="2888" y="73"/>
                  <a:pt x="2894" y="83"/>
                </a:cubicBezTo>
                <a:cubicBezTo>
                  <a:pt x="2901" y="93"/>
                  <a:pt x="2907" y="104"/>
                  <a:pt x="2911" y="115"/>
                </a:cubicBezTo>
                <a:cubicBezTo>
                  <a:pt x="2916" y="126"/>
                  <a:pt x="2920" y="138"/>
                  <a:pt x="2922" y="150"/>
                </a:cubicBezTo>
                <a:cubicBezTo>
                  <a:pt x="2924" y="162"/>
                  <a:pt x="2926" y="174"/>
                  <a:pt x="2926" y="186"/>
                </a:cubicBezTo>
                <a:lnTo>
                  <a:pt x="2926" y="1487"/>
                </a:lnTo>
                <a:cubicBezTo>
                  <a:pt x="2926" y="1499"/>
                  <a:pt x="2924" y="1511"/>
                  <a:pt x="2922" y="1523"/>
                </a:cubicBezTo>
                <a:cubicBezTo>
                  <a:pt x="2920" y="1535"/>
                  <a:pt x="2916" y="1547"/>
                  <a:pt x="2911" y="1558"/>
                </a:cubicBezTo>
                <a:cubicBezTo>
                  <a:pt x="2907" y="1569"/>
                  <a:pt x="2901" y="1580"/>
                  <a:pt x="2894" y="1590"/>
                </a:cubicBezTo>
                <a:cubicBezTo>
                  <a:pt x="2888" y="1600"/>
                  <a:pt x="2880" y="1610"/>
                  <a:pt x="2871" y="1618"/>
                </a:cubicBezTo>
                <a:cubicBezTo>
                  <a:pt x="2863" y="1627"/>
                  <a:pt x="2853" y="1634"/>
                  <a:pt x="2843" y="1641"/>
                </a:cubicBezTo>
                <a:cubicBezTo>
                  <a:pt x="2833" y="1648"/>
                  <a:pt x="2822" y="1654"/>
                  <a:pt x="2811" y="1658"/>
                </a:cubicBezTo>
                <a:cubicBezTo>
                  <a:pt x="2800" y="1663"/>
                  <a:pt x="2788" y="1667"/>
                  <a:pt x="2776" y="1669"/>
                </a:cubicBezTo>
                <a:cubicBezTo>
                  <a:pt x="2764" y="1671"/>
                  <a:pt x="2752" y="1673"/>
                  <a:pt x="2740" y="1673"/>
                </a:cubicBezTo>
                <a:lnTo>
                  <a:pt x="186" y="1673"/>
                </a:lnTo>
                <a:cubicBezTo>
                  <a:pt x="174" y="1673"/>
                  <a:pt x="162" y="1671"/>
                  <a:pt x="150" y="1669"/>
                </a:cubicBezTo>
                <a:cubicBezTo>
                  <a:pt x="138" y="1667"/>
                  <a:pt x="127" y="1663"/>
                  <a:pt x="115" y="1658"/>
                </a:cubicBezTo>
                <a:cubicBezTo>
                  <a:pt x="103" y="1654"/>
                  <a:pt x="92" y="1648"/>
                  <a:pt x="82" y="1641"/>
                </a:cubicBezTo>
                <a:cubicBezTo>
                  <a:pt x="72" y="1634"/>
                  <a:pt x="63" y="1627"/>
                  <a:pt x="54" y="1618"/>
                </a:cubicBezTo>
                <a:cubicBezTo>
                  <a:pt x="46" y="1610"/>
                  <a:pt x="38" y="1600"/>
                  <a:pt x="31" y="1590"/>
                </a:cubicBezTo>
                <a:cubicBezTo>
                  <a:pt x="24" y="1580"/>
                  <a:pt x="19" y="1569"/>
                  <a:pt x="14" y="1558"/>
                </a:cubicBezTo>
                <a:cubicBezTo>
                  <a:pt x="9" y="1547"/>
                  <a:pt x="6" y="1535"/>
                  <a:pt x="3" y="1523"/>
                </a:cubicBezTo>
                <a:cubicBezTo>
                  <a:pt x="1" y="1511"/>
                  <a:pt x="0" y="1499"/>
                  <a:pt x="0" y="1487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13" name="Picture 512"/>
          <p:cNvPicPr/>
          <p:nvPr/>
        </p:nvPicPr>
        <p:blipFill>
          <a:blip r:embed="rId19"/>
          <a:stretch/>
        </p:blipFill>
        <p:spPr>
          <a:xfrm>
            <a:off x="8298360" y="25988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TextBox 513"/>
          <p:cNvSpPr txBox="1"/>
          <p:nvPr/>
        </p:nvSpPr>
        <p:spPr>
          <a:xfrm>
            <a:off x="6971040" y="2849760"/>
            <a:ext cx="718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Deployment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Freeform: Shape 514"/>
          <p:cNvSpPr/>
          <p:nvPr/>
        </p:nvSpPr>
        <p:spPr>
          <a:xfrm>
            <a:off x="8908200" y="2498400"/>
            <a:ext cx="1053000" cy="602280"/>
          </a:xfrm>
          <a:custGeom>
            <a:avLst/>
            <a:gdLst/>
            <a:ahLst/>
            <a:cxnLst/>
            <a:rect l="0" t="0" r="r" b="b"/>
            <a:pathLst>
              <a:path w="2925" h="1673">
                <a:moveTo>
                  <a:pt x="0" y="148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5" y="14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2740" y="0"/>
                </a:lnTo>
                <a:cubicBezTo>
                  <a:pt x="2752" y="0"/>
                  <a:pt x="2764" y="1"/>
                  <a:pt x="2776" y="4"/>
                </a:cubicBezTo>
                <a:cubicBezTo>
                  <a:pt x="2788" y="6"/>
                  <a:pt x="2800" y="10"/>
                  <a:pt x="2811" y="14"/>
                </a:cubicBezTo>
                <a:cubicBezTo>
                  <a:pt x="2822" y="19"/>
                  <a:pt x="2833" y="25"/>
                  <a:pt x="2843" y="32"/>
                </a:cubicBezTo>
                <a:cubicBezTo>
                  <a:pt x="2853" y="38"/>
                  <a:pt x="2862" y="46"/>
                  <a:pt x="2871" y="55"/>
                </a:cubicBezTo>
                <a:cubicBezTo>
                  <a:pt x="2880" y="63"/>
                  <a:pt x="2887" y="73"/>
                  <a:pt x="2894" y="83"/>
                </a:cubicBezTo>
                <a:cubicBezTo>
                  <a:pt x="2901" y="93"/>
                  <a:pt x="2907" y="104"/>
                  <a:pt x="2911" y="115"/>
                </a:cubicBezTo>
                <a:cubicBezTo>
                  <a:pt x="2916" y="126"/>
                  <a:pt x="2920" y="138"/>
                  <a:pt x="2922" y="150"/>
                </a:cubicBezTo>
                <a:cubicBezTo>
                  <a:pt x="2924" y="162"/>
                  <a:pt x="2925" y="174"/>
                  <a:pt x="2925" y="186"/>
                </a:cubicBezTo>
                <a:lnTo>
                  <a:pt x="2925" y="1487"/>
                </a:lnTo>
                <a:cubicBezTo>
                  <a:pt x="2925" y="1499"/>
                  <a:pt x="2924" y="1511"/>
                  <a:pt x="2922" y="1523"/>
                </a:cubicBezTo>
                <a:cubicBezTo>
                  <a:pt x="2920" y="1535"/>
                  <a:pt x="2916" y="1547"/>
                  <a:pt x="2911" y="1558"/>
                </a:cubicBezTo>
                <a:cubicBezTo>
                  <a:pt x="2907" y="1569"/>
                  <a:pt x="2901" y="1580"/>
                  <a:pt x="2894" y="1590"/>
                </a:cubicBezTo>
                <a:cubicBezTo>
                  <a:pt x="2887" y="1600"/>
                  <a:pt x="2880" y="1610"/>
                  <a:pt x="2871" y="1618"/>
                </a:cubicBezTo>
                <a:cubicBezTo>
                  <a:pt x="2862" y="1627"/>
                  <a:pt x="2853" y="1634"/>
                  <a:pt x="2843" y="1641"/>
                </a:cubicBezTo>
                <a:cubicBezTo>
                  <a:pt x="2833" y="1648"/>
                  <a:pt x="2822" y="1654"/>
                  <a:pt x="2811" y="1658"/>
                </a:cubicBezTo>
                <a:cubicBezTo>
                  <a:pt x="2800" y="1663"/>
                  <a:pt x="2788" y="1667"/>
                  <a:pt x="2776" y="1669"/>
                </a:cubicBezTo>
                <a:cubicBezTo>
                  <a:pt x="2764" y="1671"/>
                  <a:pt x="2752" y="1673"/>
                  <a:pt x="2740" y="1673"/>
                </a:cubicBezTo>
                <a:lnTo>
                  <a:pt x="186" y="1673"/>
                </a:lnTo>
                <a:cubicBezTo>
                  <a:pt x="174" y="1673"/>
                  <a:pt x="162" y="1671"/>
                  <a:pt x="150" y="1669"/>
                </a:cubicBezTo>
                <a:cubicBezTo>
                  <a:pt x="138" y="1667"/>
                  <a:pt x="127" y="1663"/>
                  <a:pt x="115" y="1658"/>
                </a:cubicBezTo>
                <a:cubicBezTo>
                  <a:pt x="103" y="1654"/>
                  <a:pt x="92" y="1648"/>
                  <a:pt x="82" y="1641"/>
                </a:cubicBezTo>
                <a:cubicBezTo>
                  <a:pt x="72" y="1634"/>
                  <a:pt x="63" y="1627"/>
                  <a:pt x="54" y="1618"/>
                </a:cubicBezTo>
                <a:cubicBezTo>
                  <a:pt x="45" y="1610"/>
                  <a:pt x="38" y="1600"/>
                  <a:pt x="31" y="1590"/>
                </a:cubicBezTo>
                <a:cubicBezTo>
                  <a:pt x="24" y="1580"/>
                  <a:pt x="18" y="1569"/>
                  <a:pt x="14" y="1558"/>
                </a:cubicBezTo>
                <a:cubicBezTo>
                  <a:pt x="9" y="1547"/>
                  <a:pt x="6" y="1535"/>
                  <a:pt x="3" y="1523"/>
                </a:cubicBezTo>
                <a:cubicBezTo>
                  <a:pt x="1" y="1511"/>
                  <a:pt x="0" y="1499"/>
                  <a:pt x="0" y="1487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16" name="Picture 515"/>
          <p:cNvPicPr/>
          <p:nvPr/>
        </p:nvPicPr>
        <p:blipFill>
          <a:blip r:embed="rId20"/>
          <a:stretch/>
        </p:blipFill>
        <p:spPr>
          <a:xfrm>
            <a:off x="9359640" y="2598840"/>
            <a:ext cx="1501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TextBox 516"/>
          <p:cNvSpPr txBox="1"/>
          <p:nvPr/>
        </p:nvSpPr>
        <p:spPr>
          <a:xfrm>
            <a:off x="8090640" y="2849760"/>
            <a:ext cx="5846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Operation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TextBox 517"/>
          <p:cNvSpPr txBox="1"/>
          <p:nvPr/>
        </p:nvSpPr>
        <p:spPr>
          <a:xfrm>
            <a:off x="9146520" y="2849760"/>
            <a:ext cx="5785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EOL/EOSL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Picture 518"/>
          <p:cNvPicPr/>
          <p:nvPr/>
        </p:nvPicPr>
        <p:blipFill>
          <a:blip r:embed="rId2"/>
          <a:stretch/>
        </p:blipFill>
        <p:spPr>
          <a:xfrm>
            <a:off x="0" y="0"/>
            <a:ext cx="10696320" cy="63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Freeform: Shape 519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TextBox 520"/>
          <p:cNvSpPr txBox="1"/>
          <p:nvPr/>
        </p:nvSpPr>
        <p:spPr>
          <a:xfrm>
            <a:off x="534960" y="389520"/>
            <a:ext cx="410868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Compliance &amp; Reporting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TextBox 521"/>
          <p:cNvSpPr txBox="1"/>
          <p:nvPr/>
        </p:nvSpPr>
        <p:spPr>
          <a:xfrm>
            <a:off x="534960" y="1272600"/>
            <a:ext cx="9348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The Infra Tracking system simpliﬁes compliance reporting with clear records of patch status, vulnerability remediation, and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reeform: Shape 522"/>
          <p:cNvSpPr/>
          <p:nvPr/>
        </p:nvSpPr>
        <p:spPr>
          <a:xfrm>
            <a:off x="534600" y="1930320"/>
            <a:ext cx="326160" cy="401400"/>
          </a:xfrm>
          <a:custGeom>
            <a:avLst/>
            <a:gdLst/>
            <a:ahLst/>
            <a:cxnLst/>
            <a:rect l="0" t="0" r="r" b="b"/>
            <a:pathLst>
              <a:path w="906" h="1115">
                <a:moveTo>
                  <a:pt x="0" y="661"/>
                </a:moveTo>
                <a:lnTo>
                  <a:pt x="0" y="452"/>
                </a:lnTo>
                <a:cubicBezTo>
                  <a:pt x="0" y="423"/>
                  <a:pt x="3" y="393"/>
                  <a:pt x="9" y="364"/>
                </a:cubicBezTo>
                <a:cubicBezTo>
                  <a:pt x="15" y="335"/>
                  <a:pt x="23" y="307"/>
                  <a:pt x="35" y="279"/>
                </a:cubicBezTo>
                <a:cubicBezTo>
                  <a:pt x="46" y="252"/>
                  <a:pt x="60" y="226"/>
                  <a:pt x="76" y="201"/>
                </a:cubicBezTo>
                <a:cubicBezTo>
                  <a:pt x="93" y="176"/>
                  <a:pt x="112" y="153"/>
                  <a:pt x="133" y="132"/>
                </a:cubicBezTo>
                <a:cubicBezTo>
                  <a:pt x="154" y="111"/>
                  <a:pt x="177" y="93"/>
                  <a:pt x="201" y="76"/>
                </a:cubicBezTo>
                <a:cubicBezTo>
                  <a:pt x="226" y="59"/>
                  <a:pt x="252" y="46"/>
                  <a:pt x="280" y="34"/>
                </a:cubicBezTo>
                <a:cubicBezTo>
                  <a:pt x="307" y="23"/>
                  <a:pt x="335" y="14"/>
                  <a:pt x="364" y="8"/>
                </a:cubicBezTo>
                <a:cubicBezTo>
                  <a:pt x="394" y="3"/>
                  <a:pt x="423" y="0"/>
                  <a:pt x="453" y="0"/>
                </a:cubicBezTo>
                <a:cubicBezTo>
                  <a:pt x="483" y="0"/>
                  <a:pt x="512" y="3"/>
                  <a:pt x="541" y="8"/>
                </a:cubicBezTo>
                <a:cubicBezTo>
                  <a:pt x="570" y="14"/>
                  <a:pt x="599" y="23"/>
                  <a:pt x="626" y="34"/>
                </a:cubicBezTo>
                <a:cubicBezTo>
                  <a:pt x="653" y="46"/>
                  <a:pt x="680" y="59"/>
                  <a:pt x="704" y="76"/>
                </a:cubicBezTo>
                <a:cubicBezTo>
                  <a:pt x="729" y="93"/>
                  <a:pt x="752" y="111"/>
                  <a:pt x="773" y="132"/>
                </a:cubicBezTo>
                <a:cubicBezTo>
                  <a:pt x="795" y="153"/>
                  <a:pt x="814" y="176"/>
                  <a:pt x="830" y="201"/>
                </a:cubicBezTo>
                <a:cubicBezTo>
                  <a:pt x="847" y="226"/>
                  <a:pt x="861" y="252"/>
                  <a:pt x="872" y="279"/>
                </a:cubicBezTo>
                <a:cubicBezTo>
                  <a:pt x="883" y="307"/>
                  <a:pt x="892" y="335"/>
                  <a:pt x="898" y="364"/>
                </a:cubicBezTo>
                <a:cubicBezTo>
                  <a:pt x="904" y="393"/>
                  <a:pt x="906" y="423"/>
                  <a:pt x="906" y="452"/>
                </a:cubicBezTo>
                <a:lnTo>
                  <a:pt x="906" y="661"/>
                </a:lnTo>
                <a:cubicBezTo>
                  <a:pt x="906" y="691"/>
                  <a:pt x="904" y="720"/>
                  <a:pt x="898" y="750"/>
                </a:cubicBezTo>
                <a:cubicBezTo>
                  <a:pt x="892" y="780"/>
                  <a:pt x="883" y="808"/>
                  <a:pt x="872" y="836"/>
                </a:cubicBezTo>
                <a:cubicBezTo>
                  <a:pt x="861" y="863"/>
                  <a:pt x="847" y="889"/>
                  <a:pt x="830" y="914"/>
                </a:cubicBezTo>
                <a:cubicBezTo>
                  <a:pt x="814" y="938"/>
                  <a:pt x="795" y="961"/>
                  <a:pt x="773" y="982"/>
                </a:cubicBezTo>
                <a:cubicBezTo>
                  <a:pt x="752" y="1003"/>
                  <a:pt x="729" y="1022"/>
                  <a:pt x="704" y="1039"/>
                </a:cubicBezTo>
                <a:cubicBezTo>
                  <a:pt x="680" y="1055"/>
                  <a:pt x="653" y="1069"/>
                  <a:pt x="626" y="1080"/>
                </a:cubicBezTo>
                <a:cubicBezTo>
                  <a:pt x="599" y="1092"/>
                  <a:pt x="570" y="1100"/>
                  <a:pt x="541" y="1106"/>
                </a:cubicBezTo>
                <a:cubicBezTo>
                  <a:pt x="512" y="1112"/>
                  <a:pt x="483" y="1115"/>
                  <a:pt x="453" y="1115"/>
                </a:cubicBezTo>
                <a:cubicBezTo>
                  <a:pt x="423" y="1115"/>
                  <a:pt x="394" y="1112"/>
                  <a:pt x="364" y="1106"/>
                </a:cubicBezTo>
                <a:cubicBezTo>
                  <a:pt x="335" y="1100"/>
                  <a:pt x="307" y="1092"/>
                  <a:pt x="280" y="1080"/>
                </a:cubicBezTo>
                <a:cubicBezTo>
                  <a:pt x="252" y="1069"/>
                  <a:pt x="226" y="1055"/>
                  <a:pt x="201" y="1039"/>
                </a:cubicBezTo>
                <a:cubicBezTo>
                  <a:pt x="177" y="1022"/>
                  <a:pt x="154" y="1003"/>
                  <a:pt x="133" y="982"/>
                </a:cubicBezTo>
                <a:cubicBezTo>
                  <a:pt x="112" y="961"/>
                  <a:pt x="93" y="938"/>
                  <a:pt x="76" y="914"/>
                </a:cubicBezTo>
                <a:cubicBezTo>
                  <a:pt x="60" y="889"/>
                  <a:pt x="46" y="863"/>
                  <a:pt x="35" y="836"/>
                </a:cubicBezTo>
                <a:cubicBezTo>
                  <a:pt x="23" y="808"/>
                  <a:pt x="15" y="780"/>
                  <a:pt x="9" y="750"/>
                </a:cubicBezTo>
                <a:cubicBezTo>
                  <a:pt x="3" y="720"/>
                  <a:pt x="0" y="691"/>
                  <a:pt x="0" y="661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24" name="Picture 523"/>
          <p:cNvPicPr/>
          <p:nvPr/>
        </p:nvPicPr>
        <p:blipFill>
          <a:blip r:embed="rId3"/>
          <a:stretch/>
        </p:blipFill>
        <p:spPr>
          <a:xfrm>
            <a:off x="635040" y="203076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TextBox 524"/>
          <p:cNvSpPr txBox="1"/>
          <p:nvPr/>
        </p:nvSpPr>
        <p:spPr>
          <a:xfrm>
            <a:off x="534960" y="1514880"/>
            <a:ext cx="95702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asset lifecycles. Through powerful reporting capabilities, stakeholders gain actionable insights for informed security decisions.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TextBox 525"/>
          <p:cNvSpPr txBox="1"/>
          <p:nvPr/>
        </p:nvSpPr>
        <p:spPr>
          <a:xfrm>
            <a:off x="994320" y="1950840"/>
            <a:ext cx="19803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Audit-Ready Records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994320" y="2215800"/>
            <a:ext cx="3372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Maintains clear, auditable records of patch status,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reeform: Shape 527"/>
          <p:cNvSpPr/>
          <p:nvPr/>
        </p:nvSpPr>
        <p:spPr>
          <a:xfrm>
            <a:off x="534600" y="2799360"/>
            <a:ext cx="393120" cy="401400"/>
          </a:xfrm>
          <a:custGeom>
            <a:avLst/>
            <a:gdLst/>
            <a:ahLst/>
            <a:cxnLst/>
            <a:rect l="0" t="0" r="r" b="b"/>
            <a:pathLst>
              <a:path w="1092" h="1115">
                <a:moveTo>
                  <a:pt x="0" y="569"/>
                </a:moveTo>
                <a:lnTo>
                  <a:pt x="0" y="545"/>
                </a:lnTo>
                <a:cubicBezTo>
                  <a:pt x="0" y="510"/>
                  <a:pt x="4" y="474"/>
                  <a:pt x="11" y="439"/>
                </a:cubicBezTo>
                <a:cubicBezTo>
                  <a:pt x="18" y="404"/>
                  <a:pt x="28" y="370"/>
                  <a:pt x="42" y="337"/>
                </a:cubicBezTo>
                <a:cubicBezTo>
                  <a:pt x="55" y="304"/>
                  <a:pt x="72" y="272"/>
                  <a:pt x="92" y="242"/>
                </a:cubicBezTo>
                <a:cubicBezTo>
                  <a:pt x="112" y="213"/>
                  <a:pt x="135" y="185"/>
                  <a:pt x="161" y="160"/>
                </a:cubicBezTo>
                <a:cubicBezTo>
                  <a:pt x="186" y="134"/>
                  <a:pt x="214" y="112"/>
                  <a:pt x="244" y="92"/>
                </a:cubicBezTo>
                <a:cubicBezTo>
                  <a:pt x="273" y="72"/>
                  <a:pt x="305" y="55"/>
                  <a:pt x="338" y="41"/>
                </a:cubicBezTo>
                <a:cubicBezTo>
                  <a:pt x="371" y="28"/>
                  <a:pt x="405" y="17"/>
                  <a:pt x="440" y="10"/>
                </a:cubicBezTo>
                <a:cubicBezTo>
                  <a:pt x="475" y="3"/>
                  <a:pt x="511" y="0"/>
                  <a:pt x="547" y="0"/>
                </a:cubicBezTo>
                <a:cubicBezTo>
                  <a:pt x="582" y="0"/>
                  <a:pt x="618" y="3"/>
                  <a:pt x="653" y="10"/>
                </a:cubicBezTo>
                <a:cubicBezTo>
                  <a:pt x="688" y="17"/>
                  <a:pt x="722" y="28"/>
                  <a:pt x="755" y="41"/>
                </a:cubicBezTo>
                <a:cubicBezTo>
                  <a:pt x="788" y="55"/>
                  <a:pt x="820" y="72"/>
                  <a:pt x="850" y="92"/>
                </a:cubicBezTo>
                <a:cubicBezTo>
                  <a:pt x="879" y="112"/>
                  <a:pt x="907" y="134"/>
                  <a:pt x="932" y="160"/>
                </a:cubicBezTo>
                <a:cubicBezTo>
                  <a:pt x="958" y="185"/>
                  <a:pt x="980" y="213"/>
                  <a:pt x="1000" y="242"/>
                </a:cubicBezTo>
                <a:cubicBezTo>
                  <a:pt x="1020" y="272"/>
                  <a:pt x="1037" y="304"/>
                  <a:pt x="1051" y="337"/>
                </a:cubicBezTo>
                <a:cubicBezTo>
                  <a:pt x="1064" y="370"/>
                  <a:pt x="1075" y="404"/>
                  <a:pt x="1082" y="439"/>
                </a:cubicBezTo>
                <a:cubicBezTo>
                  <a:pt x="1089" y="474"/>
                  <a:pt x="1092" y="510"/>
                  <a:pt x="1092" y="545"/>
                </a:cubicBezTo>
                <a:lnTo>
                  <a:pt x="1092" y="569"/>
                </a:lnTo>
                <a:cubicBezTo>
                  <a:pt x="1092" y="605"/>
                  <a:pt x="1089" y="641"/>
                  <a:pt x="1082" y="676"/>
                </a:cubicBezTo>
                <a:cubicBezTo>
                  <a:pt x="1075" y="711"/>
                  <a:pt x="1064" y="745"/>
                  <a:pt x="1051" y="778"/>
                </a:cubicBezTo>
                <a:cubicBezTo>
                  <a:pt x="1037" y="811"/>
                  <a:pt x="1020" y="843"/>
                  <a:pt x="1000" y="873"/>
                </a:cubicBezTo>
                <a:cubicBezTo>
                  <a:pt x="980" y="902"/>
                  <a:pt x="958" y="930"/>
                  <a:pt x="932" y="955"/>
                </a:cubicBezTo>
                <a:cubicBezTo>
                  <a:pt x="907" y="981"/>
                  <a:pt x="879" y="1003"/>
                  <a:pt x="850" y="1023"/>
                </a:cubicBezTo>
                <a:cubicBezTo>
                  <a:pt x="820" y="1043"/>
                  <a:pt x="788" y="1060"/>
                  <a:pt x="755" y="1074"/>
                </a:cubicBezTo>
                <a:cubicBezTo>
                  <a:pt x="722" y="1087"/>
                  <a:pt x="688" y="1098"/>
                  <a:pt x="653" y="1105"/>
                </a:cubicBezTo>
                <a:cubicBezTo>
                  <a:pt x="618" y="1112"/>
                  <a:pt x="582" y="1115"/>
                  <a:pt x="547" y="1115"/>
                </a:cubicBezTo>
                <a:cubicBezTo>
                  <a:pt x="511" y="1115"/>
                  <a:pt x="475" y="1112"/>
                  <a:pt x="440" y="1105"/>
                </a:cubicBezTo>
                <a:cubicBezTo>
                  <a:pt x="405" y="1098"/>
                  <a:pt x="371" y="1087"/>
                  <a:pt x="338" y="1074"/>
                </a:cubicBezTo>
                <a:cubicBezTo>
                  <a:pt x="305" y="1060"/>
                  <a:pt x="273" y="1043"/>
                  <a:pt x="244" y="1023"/>
                </a:cubicBezTo>
                <a:cubicBezTo>
                  <a:pt x="214" y="1003"/>
                  <a:pt x="186" y="981"/>
                  <a:pt x="161" y="955"/>
                </a:cubicBezTo>
                <a:cubicBezTo>
                  <a:pt x="135" y="930"/>
                  <a:pt x="112" y="902"/>
                  <a:pt x="92" y="873"/>
                </a:cubicBezTo>
                <a:cubicBezTo>
                  <a:pt x="72" y="843"/>
                  <a:pt x="55" y="811"/>
                  <a:pt x="42" y="778"/>
                </a:cubicBezTo>
                <a:cubicBezTo>
                  <a:pt x="28" y="745"/>
                  <a:pt x="18" y="711"/>
                  <a:pt x="11" y="676"/>
                </a:cubicBezTo>
                <a:cubicBezTo>
                  <a:pt x="4" y="641"/>
                  <a:pt x="0" y="605"/>
                  <a:pt x="0" y="569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29" name="Picture 528"/>
          <p:cNvPicPr/>
          <p:nvPr/>
        </p:nvPicPr>
        <p:blipFill>
          <a:blip r:embed="rId4"/>
          <a:stretch/>
        </p:blipFill>
        <p:spPr>
          <a:xfrm>
            <a:off x="635040" y="289980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TextBox 529"/>
          <p:cNvSpPr txBox="1"/>
          <p:nvPr/>
        </p:nvSpPr>
        <p:spPr>
          <a:xfrm>
            <a:off x="994320" y="2416320"/>
            <a:ext cx="39416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vulnerability remediation, and asset lifecycles (EOL/EOSL).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TextBox 530"/>
          <p:cNvSpPr txBox="1"/>
          <p:nvPr/>
        </p:nvSpPr>
        <p:spPr>
          <a:xfrm>
            <a:off x="1061280" y="2819880"/>
            <a:ext cx="20710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Customizable Reports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1061280" y="3084840"/>
            <a:ext cx="3807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Generate reports in multiple formats (Excel, PowerPoint)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TextBox 532"/>
          <p:cNvSpPr txBox="1"/>
          <p:nvPr/>
        </p:nvSpPr>
        <p:spPr>
          <a:xfrm>
            <a:off x="1061280" y="3285360"/>
            <a:ext cx="3888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with customizable content to meet speciﬁc organizational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reeform: Shape 533"/>
          <p:cNvSpPr/>
          <p:nvPr/>
        </p:nvSpPr>
        <p:spPr>
          <a:xfrm>
            <a:off x="534600" y="3868920"/>
            <a:ext cx="368280" cy="401400"/>
          </a:xfrm>
          <a:custGeom>
            <a:avLst/>
            <a:gdLst/>
            <a:ahLst/>
            <a:cxnLst/>
            <a:rect l="0" t="0" r="r" b="b"/>
            <a:pathLst>
              <a:path w="1023" h="1115">
                <a:moveTo>
                  <a:pt x="0" y="604"/>
                </a:moveTo>
                <a:lnTo>
                  <a:pt x="0" y="511"/>
                </a:lnTo>
                <a:cubicBezTo>
                  <a:pt x="0" y="477"/>
                  <a:pt x="3" y="444"/>
                  <a:pt x="10" y="411"/>
                </a:cubicBezTo>
                <a:cubicBezTo>
                  <a:pt x="16" y="378"/>
                  <a:pt x="26" y="346"/>
                  <a:pt x="39" y="315"/>
                </a:cubicBezTo>
                <a:cubicBezTo>
                  <a:pt x="53" y="284"/>
                  <a:pt x="69" y="255"/>
                  <a:pt x="87" y="227"/>
                </a:cubicBezTo>
                <a:cubicBezTo>
                  <a:pt x="106" y="199"/>
                  <a:pt x="127" y="173"/>
                  <a:pt x="151" y="150"/>
                </a:cubicBezTo>
                <a:cubicBezTo>
                  <a:pt x="174" y="126"/>
                  <a:pt x="200" y="105"/>
                  <a:pt x="228" y="86"/>
                </a:cubicBezTo>
                <a:cubicBezTo>
                  <a:pt x="256" y="68"/>
                  <a:pt x="285" y="52"/>
                  <a:pt x="316" y="39"/>
                </a:cubicBezTo>
                <a:cubicBezTo>
                  <a:pt x="347" y="26"/>
                  <a:pt x="379" y="16"/>
                  <a:pt x="412" y="10"/>
                </a:cubicBezTo>
                <a:cubicBezTo>
                  <a:pt x="445" y="3"/>
                  <a:pt x="478" y="0"/>
                  <a:pt x="512" y="0"/>
                </a:cubicBezTo>
                <a:cubicBezTo>
                  <a:pt x="545" y="0"/>
                  <a:pt x="579" y="3"/>
                  <a:pt x="611" y="10"/>
                </a:cubicBezTo>
                <a:cubicBezTo>
                  <a:pt x="644" y="16"/>
                  <a:pt x="676" y="26"/>
                  <a:pt x="707" y="39"/>
                </a:cubicBezTo>
                <a:cubicBezTo>
                  <a:pt x="738" y="52"/>
                  <a:pt x="768" y="68"/>
                  <a:pt x="796" y="86"/>
                </a:cubicBezTo>
                <a:cubicBezTo>
                  <a:pt x="823" y="105"/>
                  <a:pt x="849" y="126"/>
                  <a:pt x="873" y="150"/>
                </a:cubicBezTo>
                <a:cubicBezTo>
                  <a:pt x="897" y="173"/>
                  <a:pt x="918" y="199"/>
                  <a:pt x="936" y="227"/>
                </a:cubicBezTo>
                <a:cubicBezTo>
                  <a:pt x="955" y="255"/>
                  <a:pt x="971" y="284"/>
                  <a:pt x="984" y="315"/>
                </a:cubicBezTo>
                <a:cubicBezTo>
                  <a:pt x="996" y="346"/>
                  <a:pt x="1006" y="378"/>
                  <a:pt x="1013" y="411"/>
                </a:cubicBezTo>
                <a:cubicBezTo>
                  <a:pt x="1019" y="444"/>
                  <a:pt x="1023" y="477"/>
                  <a:pt x="1023" y="511"/>
                </a:cubicBezTo>
                <a:lnTo>
                  <a:pt x="1023" y="604"/>
                </a:lnTo>
                <a:cubicBezTo>
                  <a:pt x="1023" y="637"/>
                  <a:pt x="1019" y="670"/>
                  <a:pt x="1013" y="703"/>
                </a:cubicBezTo>
                <a:cubicBezTo>
                  <a:pt x="1006" y="736"/>
                  <a:pt x="996" y="768"/>
                  <a:pt x="984" y="799"/>
                </a:cubicBezTo>
                <a:cubicBezTo>
                  <a:pt x="971" y="830"/>
                  <a:pt x="955" y="860"/>
                  <a:pt x="936" y="887"/>
                </a:cubicBezTo>
                <a:cubicBezTo>
                  <a:pt x="918" y="915"/>
                  <a:pt x="897" y="941"/>
                  <a:pt x="873" y="966"/>
                </a:cubicBezTo>
                <a:cubicBezTo>
                  <a:pt x="849" y="990"/>
                  <a:pt x="823" y="1011"/>
                  <a:pt x="796" y="1029"/>
                </a:cubicBezTo>
                <a:cubicBezTo>
                  <a:pt x="768" y="1048"/>
                  <a:pt x="738" y="1064"/>
                  <a:pt x="707" y="1076"/>
                </a:cubicBezTo>
                <a:cubicBezTo>
                  <a:pt x="676" y="1089"/>
                  <a:pt x="644" y="1099"/>
                  <a:pt x="611" y="1106"/>
                </a:cubicBezTo>
                <a:cubicBezTo>
                  <a:pt x="579" y="1112"/>
                  <a:pt x="545" y="1115"/>
                  <a:pt x="512" y="1115"/>
                </a:cubicBezTo>
                <a:cubicBezTo>
                  <a:pt x="478" y="1115"/>
                  <a:pt x="445" y="1112"/>
                  <a:pt x="412" y="1106"/>
                </a:cubicBezTo>
                <a:cubicBezTo>
                  <a:pt x="379" y="1099"/>
                  <a:pt x="347" y="1089"/>
                  <a:pt x="316" y="1076"/>
                </a:cubicBezTo>
                <a:cubicBezTo>
                  <a:pt x="285" y="1064"/>
                  <a:pt x="256" y="1048"/>
                  <a:pt x="228" y="1029"/>
                </a:cubicBezTo>
                <a:cubicBezTo>
                  <a:pt x="200" y="1011"/>
                  <a:pt x="174" y="990"/>
                  <a:pt x="151" y="966"/>
                </a:cubicBezTo>
                <a:cubicBezTo>
                  <a:pt x="127" y="941"/>
                  <a:pt x="106" y="915"/>
                  <a:pt x="87" y="887"/>
                </a:cubicBezTo>
                <a:cubicBezTo>
                  <a:pt x="69" y="860"/>
                  <a:pt x="53" y="830"/>
                  <a:pt x="39" y="799"/>
                </a:cubicBezTo>
                <a:cubicBezTo>
                  <a:pt x="26" y="768"/>
                  <a:pt x="16" y="736"/>
                  <a:pt x="10" y="703"/>
                </a:cubicBezTo>
                <a:cubicBezTo>
                  <a:pt x="3" y="670"/>
                  <a:pt x="0" y="637"/>
                  <a:pt x="0" y="604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5" name="Picture 534"/>
          <p:cNvPicPr/>
          <p:nvPr/>
        </p:nvPicPr>
        <p:blipFill>
          <a:blip r:embed="rId5"/>
          <a:stretch/>
        </p:blipFill>
        <p:spPr>
          <a:xfrm>
            <a:off x="635040" y="39693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6" name="TextBox 535"/>
          <p:cNvSpPr txBox="1"/>
          <p:nvPr/>
        </p:nvSpPr>
        <p:spPr>
          <a:xfrm>
            <a:off x="1061280" y="3485880"/>
            <a:ext cx="448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needs.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1036080" y="3889440"/>
            <a:ext cx="17582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Visual Dashboards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1036080" y="4154400"/>
            <a:ext cx="3881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Provides management dashboards with real-time insights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1036080" y="4355280"/>
            <a:ext cx="3398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into infrastructure health, vulnerability status,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reeform: Shape 539"/>
          <p:cNvSpPr/>
          <p:nvPr/>
        </p:nvSpPr>
        <p:spPr>
          <a:xfrm>
            <a:off x="534600" y="4938480"/>
            <a:ext cx="368280" cy="401760"/>
          </a:xfrm>
          <a:custGeom>
            <a:avLst/>
            <a:gdLst/>
            <a:ahLst/>
            <a:cxnLst/>
            <a:rect l="0" t="0" r="r" b="b"/>
            <a:pathLst>
              <a:path w="1023" h="1116">
                <a:moveTo>
                  <a:pt x="0" y="605"/>
                </a:moveTo>
                <a:lnTo>
                  <a:pt x="0" y="512"/>
                </a:lnTo>
                <a:cubicBezTo>
                  <a:pt x="0" y="479"/>
                  <a:pt x="3" y="445"/>
                  <a:pt x="10" y="412"/>
                </a:cubicBezTo>
                <a:cubicBezTo>
                  <a:pt x="16" y="380"/>
                  <a:pt x="26" y="348"/>
                  <a:pt x="39" y="317"/>
                </a:cubicBezTo>
                <a:cubicBezTo>
                  <a:pt x="53" y="286"/>
                  <a:pt x="69" y="256"/>
                  <a:pt x="87" y="228"/>
                </a:cubicBezTo>
                <a:cubicBezTo>
                  <a:pt x="106" y="199"/>
                  <a:pt x="127" y="174"/>
                  <a:pt x="151" y="150"/>
                </a:cubicBezTo>
                <a:cubicBezTo>
                  <a:pt x="174" y="126"/>
                  <a:pt x="200" y="105"/>
                  <a:pt x="228" y="86"/>
                </a:cubicBezTo>
                <a:cubicBezTo>
                  <a:pt x="256" y="68"/>
                  <a:pt x="285" y="52"/>
                  <a:pt x="316" y="39"/>
                </a:cubicBezTo>
                <a:cubicBezTo>
                  <a:pt x="347" y="26"/>
                  <a:pt x="379" y="17"/>
                  <a:pt x="412" y="10"/>
                </a:cubicBezTo>
                <a:cubicBezTo>
                  <a:pt x="445" y="4"/>
                  <a:pt x="478" y="0"/>
                  <a:pt x="512" y="0"/>
                </a:cubicBezTo>
                <a:cubicBezTo>
                  <a:pt x="545" y="0"/>
                  <a:pt x="579" y="4"/>
                  <a:pt x="611" y="10"/>
                </a:cubicBezTo>
                <a:cubicBezTo>
                  <a:pt x="644" y="17"/>
                  <a:pt x="676" y="26"/>
                  <a:pt x="707" y="39"/>
                </a:cubicBezTo>
                <a:cubicBezTo>
                  <a:pt x="738" y="52"/>
                  <a:pt x="768" y="68"/>
                  <a:pt x="796" y="86"/>
                </a:cubicBezTo>
                <a:cubicBezTo>
                  <a:pt x="823" y="105"/>
                  <a:pt x="849" y="126"/>
                  <a:pt x="873" y="150"/>
                </a:cubicBezTo>
                <a:cubicBezTo>
                  <a:pt x="897" y="174"/>
                  <a:pt x="918" y="199"/>
                  <a:pt x="936" y="228"/>
                </a:cubicBezTo>
                <a:cubicBezTo>
                  <a:pt x="955" y="256"/>
                  <a:pt x="971" y="286"/>
                  <a:pt x="984" y="317"/>
                </a:cubicBezTo>
                <a:cubicBezTo>
                  <a:pt x="996" y="348"/>
                  <a:pt x="1006" y="380"/>
                  <a:pt x="1013" y="412"/>
                </a:cubicBezTo>
                <a:cubicBezTo>
                  <a:pt x="1019" y="445"/>
                  <a:pt x="1023" y="479"/>
                  <a:pt x="1023" y="512"/>
                </a:cubicBezTo>
                <a:lnTo>
                  <a:pt x="1023" y="605"/>
                </a:lnTo>
                <a:cubicBezTo>
                  <a:pt x="1023" y="638"/>
                  <a:pt x="1019" y="672"/>
                  <a:pt x="1013" y="705"/>
                </a:cubicBezTo>
                <a:cubicBezTo>
                  <a:pt x="1006" y="737"/>
                  <a:pt x="996" y="769"/>
                  <a:pt x="984" y="800"/>
                </a:cubicBezTo>
                <a:cubicBezTo>
                  <a:pt x="971" y="831"/>
                  <a:pt x="955" y="861"/>
                  <a:pt x="936" y="889"/>
                </a:cubicBezTo>
                <a:cubicBezTo>
                  <a:pt x="918" y="917"/>
                  <a:pt x="897" y="942"/>
                  <a:pt x="873" y="966"/>
                </a:cubicBezTo>
                <a:cubicBezTo>
                  <a:pt x="849" y="990"/>
                  <a:pt x="823" y="1011"/>
                  <a:pt x="796" y="1030"/>
                </a:cubicBezTo>
                <a:cubicBezTo>
                  <a:pt x="768" y="1048"/>
                  <a:pt x="738" y="1064"/>
                  <a:pt x="707" y="1077"/>
                </a:cubicBezTo>
                <a:cubicBezTo>
                  <a:pt x="676" y="1090"/>
                  <a:pt x="644" y="1099"/>
                  <a:pt x="611" y="1106"/>
                </a:cubicBezTo>
                <a:cubicBezTo>
                  <a:pt x="579" y="1112"/>
                  <a:pt x="545" y="1116"/>
                  <a:pt x="512" y="1116"/>
                </a:cubicBezTo>
                <a:cubicBezTo>
                  <a:pt x="478" y="1116"/>
                  <a:pt x="445" y="1112"/>
                  <a:pt x="412" y="1106"/>
                </a:cubicBezTo>
                <a:cubicBezTo>
                  <a:pt x="379" y="1099"/>
                  <a:pt x="347" y="1090"/>
                  <a:pt x="316" y="1077"/>
                </a:cubicBezTo>
                <a:cubicBezTo>
                  <a:pt x="285" y="1064"/>
                  <a:pt x="256" y="1048"/>
                  <a:pt x="228" y="1030"/>
                </a:cubicBezTo>
                <a:cubicBezTo>
                  <a:pt x="200" y="1011"/>
                  <a:pt x="174" y="990"/>
                  <a:pt x="151" y="966"/>
                </a:cubicBezTo>
                <a:cubicBezTo>
                  <a:pt x="127" y="942"/>
                  <a:pt x="106" y="917"/>
                  <a:pt x="87" y="889"/>
                </a:cubicBezTo>
                <a:cubicBezTo>
                  <a:pt x="69" y="861"/>
                  <a:pt x="53" y="831"/>
                  <a:pt x="39" y="800"/>
                </a:cubicBezTo>
                <a:cubicBezTo>
                  <a:pt x="26" y="769"/>
                  <a:pt x="16" y="737"/>
                  <a:pt x="10" y="705"/>
                </a:cubicBezTo>
                <a:cubicBezTo>
                  <a:pt x="3" y="672"/>
                  <a:pt x="0" y="638"/>
                  <a:pt x="0" y="605"/>
                </a:cubicBezTo>
                <a:close/>
              </a:path>
            </a:pathLst>
          </a:custGeom>
          <a:solidFill>
            <a:srgbClr val="1E40A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41" name="Picture 540"/>
          <p:cNvPicPr/>
          <p:nvPr/>
        </p:nvPicPr>
        <p:blipFill>
          <a:blip r:embed="rId6"/>
          <a:stretch/>
        </p:blipFill>
        <p:spPr>
          <a:xfrm>
            <a:off x="635040" y="50389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TextBox 541"/>
          <p:cNvSpPr txBox="1"/>
          <p:nvPr/>
        </p:nvSpPr>
        <p:spPr>
          <a:xfrm>
            <a:off x="1036080" y="4555800"/>
            <a:ext cx="12441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compliance levels.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1036080" y="4959360"/>
            <a:ext cx="18226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Actionable Insights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TextBox 543"/>
          <p:cNvSpPr txBox="1"/>
          <p:nvPr/>
        </p:nvSpPr>
        <p:spPr>
          <a:xfrm>
            <a:off x="1036080" y="5224320"/>
            <a:ext cx="3884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Highlights outstanding vulnerabilities and tracks progress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1036080" y="5424840"/>
            <a:ext cx="3700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over time, ensuring teams can make informed security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reeform: Shape 545"/>
          <p:cNvSpPr/>
          <p:nvPr/>
        </p:nvSpPr>
        <p:spPr>
          <a:xfrm>
            <a:off x="5548680" y="2373120"/>
            <a:ext cx="4613400" cy="2991960"/>
          </a:xfrm>
          <a:custGeom>
            <a:avLst/>
            <a:gdLst/>
            <a:ahLst/>
            <a:cxnLst/>
            <a:rect l="0" t="0" r="r" b="b"/>
            <a:pathLst>
              <a:path w="12815" h="8311">
                <a:moveTo>
                  <a:pt x="14" y="115"/>
                </a:moveTo>
                <a:cubicBezTo>
                  <a:pt x="24" y="92"/>
                  <a:pt x="37" y="72"/>
                  <a:pt x="54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7" y="5"/>
                  <a:pt x="161" y="0"/>
                  <a:pt x="186" y="0"/>
                </a:cubicBezTo>
                <a:lnTo>
                  <a:pt x="12629" y="0"/>
                </a:lnTo>
                <a:cubicBezTo>
                  <a:pt x="12654" y="0"/>
                  <a:pt x="12677" y="5"/>
                  <a:pt x="12700" y="14"/>
                </a:cubicBezTo>
                <a:cubicBezTo>
                  <a:pt x="12723" y="24"/>
                  <a:pt x="12743" y="37"/>
                  <a:pt x="12760" y="54"/>
                </a:cubicBezTo>
                <a:cubicBezTo>
                  <a:pt x="12778" y="72"/>
                  <a:pt x="12791" y="92"/>
                  <a:pt x="12800" y="115"/>
                </a:cubicBezTo>
                <a:cubicBezTo>
                  <a:pt x="12810" y="137"/>
                  <a:pt x="12815" y="161"/>
                  <a:pt x="12815" y="186"/>
                </a:cubicBezTo>
                <a:lnTo>
                  <a:pt x="12815" y="8126"/>
                </a:lnTo>
                <a:cubicBezTo>
                  <a:pt x="12815" y="8150"/>
                  <a:pt x="12810" y="8174"/>
                  <a:pt x="12800" y="8197"/>
                </a:cubicBezTo>
                <a:cubicBezTo>
                  <a:pt x="12791" y="8219"/>
                  <a:pt x="12778" y="8239"/>
                  <a:pt x="12760" y="8257"/>
                </a:cubicBezTo>
                <a:cubicBezTo>
                  <a:pt x="12743" y="8274"/>
                  <a:pt x="12723" y="8288"/>
                  <a:pt x="12700" y="8297"/>
                </a:cubicBezTo>
                <a:cubicBezTo>
                  <a:pt x="12677" y="8307"/>
                  <a:pt x="12653" y="8311"/>
                  <a:pt x="12629" y="8311"/>
                </a:cubicBezTo>
                <a:lnTo>
                  <a:pt x="186" y="8311"/>
                </a:lnTo>
                <a:cubicBezTo>
                  <a:pt x="161" y="8311"/>
                  <a:pt x="137" y="8307"/>
                  <a:pt x="115" y="8297"/>
                </a:cubicBezTo>
                <a:cubicBezTo>
                  <a:pt x="92" y="8288"/>
                  <a:pt x="72" y="8274"/>
                  <a:pt x="54" y="8257"/>
                </a:cubicBezTo>
                <a:cubicBezTo>
                  <a:pt x="37" y="8239"/>
                  <a:pt x="24" y="8219"/>
                  <a:pt x="14" y="8197"/>
                </a:cubicBezTo>
                <a:cubicBezTo>
                  <a:pt x="5" y="8174"/>
                  <a:pt x="0" y="8150"/>
                  <a:pt x="0" y="8126"/>
                </a:cubicBez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lose/>
              </a:path>
            </a:pathLst>
          </a:custGeom>
          <a:solidFill>
            <a:srgbClr val="0F172A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reeform: Shape 546"/>
          <p:cNvSpPr/>
          <p:nvPr/>
        </p:nvSpPr>
        <p:spPr>
          <a:xfrm>
            <a:off x="5548680" y="2373120"/>
            <a:ext cx="4613400" cy="2991960"/>
          </a:xfrm>
          <a:custGeom>
            <a:avLst/>
            <a:gdLst/>
            <a:ahLst/>
            <a:cxnLst/>
            <a:rect l="0" t="0" r="r" b="b"/>
            <a:pathLst>
              <a:path w="12815" h="8311">
                <a:moveTo>
                  <a:pt x="0" y="8126"/>
                </a:moveTo>
                <a:lnTo>
                  <a:pt x="0" y="186"/>
                </a:lnTo>
                <a:cubicBezTo>
                  <a:pt x="0" y="161"/>
                  <a:pt x="5" y="137"/>
                  <a:pt x="14" y="115"/>
                </a:cubicBezTo>
                <a:cubicBezTo>
                  <a:pt x="24" y="92"/>
                  <a:pt x="37" y="72"/>
                  <a:pt x="54" y="54"/>
                </a:cubicBezTo>
                <a:cubicBezTo>
                  <a:pt x="72" y="37"/>
                  <a:pt x="92" y="24"/>
                  <a:pt x="115" y="14"/>
                </a:cubicBezTo>
                <a:cubicBezTo>
                  <a:pt x="137" y="5"/>
                  <a:pt x="161" y="0"/>
                  <a:pt x="186" y="0"/>
                </a:cubicBezTo>
                <a:lnTo>
                  <a:pt x="12629" y="0"/>
                </a:lnTo>
                <a:cubicBezTo>
                  <a:pt x="12653" y="0"/>
                  <a:pt x="12677" y="5"/>
                  <a:pt x="12700" y="14"/>
                </a:cubicBezTo>
                <a:cubicBezTo>
                  <a:pt x="12723" y="24"/>
                  <a:pt x="12743" y="37"/>
                  <a:pt x="12760" y="54"/>
                </a:cubicBezTo>
                <a:cubicBezTo>
                  <a:pt x="12778" y="72"/>
                  <a:pt x="12791" y="92"/>
                  <a:pt x="12800" y="115"/>
                </a:cubicBezTo>
                <a:cubicBezTo>
                  <a:pt x="12810" y="137"/>
                  <a:pt x="12815" y="161"/>
                  <a:pt x="12815" y="186"/>
                </a:cubicBezTo>
                <a:lnTo>
                  <a:pt x="12815" y="8126"/>
                </a:lnTo>
                <a:cubicBezTo>
                  <a:pt x="12815" y="8150"/>
                  <a:pt x="12810" y="8174"/>
                  <a:pt x="12800" y="8197"/>
                </a:cubicBezTo>
                <a:cubicBezTo>
                  <a:pt x="12791" y="8219"/>
                  <a:pt x="12778" y="8239"/>
                  <a:pt x="12760" y="8257"/>
                </a:cubicBezTo>
                <a:cubicBezTo>
                  <a:pt x="12743" y="8274"/>
                  <a:pt x="12723" y="8288"/>
                  <a:pt x="12700" y="8297"/>
                </a:cubicBezTo>
                <a:cubicBezTo>
                  <a:pt x="12677" y="8307"/>
                  <a:pt x="12653" y="8311"/>
                  <a:pt x="12629" y="8311"/>
                </a:cubicBezTo>
                <a:lnTo>
                  <a:pt x="186" y="8311"/>
                </a:lnTo>
                <a:cubicBezTo>
                  <a:pt x="161" y="8311"/>
                  <a:pt x="137" y="8307"/>
                  <a:pt x="115" y="8297"/>
                </a:cubicBezTo>
                <a:cubicBezTo>
                  <a:pt x="92" y="8288"/>
                  <a:pt x="72" y="8274"/>
                  <a:pt x="54" y="8257"/>
                </a:cubicBezTo>
                <a:cubicBezTo>
                  <a:pt x="37" y="8239"/>
                  <a:pt x="24" y="8219"/>
                  <a:pt x="14" y="8197"/>
                </a:cubicBezTo>
                <a:cubicBezTo>
                  <a:pt x="5" y="8174"/>
                  <a:pt x="0" y="8150"/>
                  <a:pt x="0" y="8126"/>
                </a:cubicBezTo>
                <a:moveTo>
                  <a:pt x="23" y="186"/>
                </a:moveTo>
                <a:lnTo>
                  <a:pt x="23" y="8126"/>
                </a:lnTo>
                <a:cubicBezTo>
                  <a:pt x="23" y="8136"/>
                  <a:pt x="24" y="8147"/>
                  <a:pt x="26" y="8157"/>
                </a:cubicBezTo>
                <a:cubicBezTo>
                  <a:pt x="28" y="8168"/>
                  <a:pt x="31" y="8178"/>
                  <a:pt x="36" y="8188"/>
                </a:cubicBezTo>
                <a:cubicBezTo>
                  <a:pt x="40" y="8198"/>
                  <a:pt x="45" y="8207"/>
                  <a:pt x="51" y="8216"/>
                </a:cubicBezTo>
                <a:cubicBezTo>
                  <a:pt x="56" y="8225"/>
                  <a:pt x="63" y="8233"/>
                  <a:pt x="71" y="8240"/>
                </a:cubicBezTo>
                <a:cubicBezTo>
                  <a:pt x="78" y="8248"/>
                  <a:pt x="87" y="8255"/>
                  <a:pt x="95" y="8261"/>
                </a:cubicBezTo>
                <a:cubicBezTo>
                  <a:pt x="104" y="8267"/>
                  <a:pt x="114" y="8272"/>
                  <a:pt x="123" y="8276"/>
                </a:cubicBezTo>
                <a:cubicBezTo>
                  <a:pt x="133" y="8280"/>
                  <a:pt x="144" y="8283"/>
                  <a:pt x="154" y="8285"/>
                </a:cubicBezTo>
                <a:cubicBezTo>
                  <a:pt x="164" y="8287"/>
                  <a:pt x="175" y="8288"/>
                  <a:pt x="186" y="8288"/>
                </a:cubicBezTo>
                <a:lnTo>
                  <a:pt x="12629" y="8288"/>
                </a:lnTo>
                <a:cubicBezTo>
                  <a:pt x="12640" y="8288"/>
                  <a:pt x="12650" y="8287"/>
                  <a:pt x="12661" y="8285"/>
                </a:cubicBezTo>
                <a:cubicBezTo>
                  <a:pt x="12671" y="8283"/>
                  <a:pt x="12681" y="8280"/>
                  <a:pt x="12691" y="8276"/>
                </a:cubicBezTo>
                <a:cubicBezTo>
                  <a:pt x="12701" y="8272"/>
                  <a:pt x="12710" y="8267"/>
                  <a:pt x="12719" y="8261"/>
                </a:cubicBezTo>
                <a:cubicBezTo>
                  <a:pt x="12728" y="8255"/>
                  <a:pt x="12736" y="8248"/>
                  <a:pt x="12744" y="8240"/>
                </a:cubicBezTo>
                <a:cubicBezTo>
                  <a:pt x="12751" y="8233"/>
                  <a:pt x="12758" y="8225"/>
                  <a:pt x="12764" y="8216"/>
                </a:cubicBezTo>
                <a:cubicBezTo>
                  <a:pt x="12770" y="8207"/>
                  <a:pt x="12775" y="8198"/>
                  <a:pt x="12779" y="8188"/>
                </a:cubicBezTo>
                <a:cubicBezTo>
                  <a:pt x="12783" y="8178"/>
                  <a:pt x="12786" y="8168"/>
                  <a:pt x="12788" y="8157"/>
                </a:cubicBezTo>
                <a:cubicBezTo>
                  <a:pt x="12790" y="8147"/>
                  <a:pt x="12791" y="8136"/>
                  <a:pt x="12791" y="8126"/>
                </a:cubicBezTo>
                <a:lnTo>
                  <a:pt x="12791" y="186"/>
                </a:lnTo>
                <a:cubicBezTo>
                  <a:pt x="12791" y="175"/>
                  <a:pt x="12790" y="164"/>
                  <a:pt x="12788" y="154"/>
                </a:cubicBezTo>
                <a:cubicBezTo>
                  <a:pt x="12786" y="144"/>
                  <a:pt x="12783" y="133"/>
                  <a:pt x="12779" y="124"/>
                </a:cubicBezTo>
                <a:cubicBezTo>
                  <a:pt x="12775" y="114"/>
                  <a:pt x="12770" y="104"/>
                  <a:pt x="12764" y="95"/>
                </a:cubicBezTo>
                <a:cubicBezTo>
                  <a:pt x="12758" y="87"/>
                  <a:pt x="12751" y="78"/>
                  <a:pt x="12744" y="71"/>
                </a:cubicBezTo>
                <a:cubicBezTo>
                  <a:pt x="12736" y="63"/>
                  <a:pt x="12728" y="57"/>
                  <a:pt x="12719" y="51"/>
                </a:cubicBezTo>
                <a:cubicBezTo>
                  <a:pt x="12710" y="45"/>
                  <a:pt x="12701" y="40"/>
                  <a:pt x="12691" y="36"/>
                </a:cubicBezTo>
                <a:cubicBezTo>
                  <a:pt x="12681" y="32"/>
                  <a:pt x="12671" y="28"/>
                  <a:pt x="12661" y="26"/>
                </a:cubicBezTo>
                <a:cubicBezTo>
                  <a:pt x="12650" y="24"/>
                  <a:pt x="12640" y="23"/>
                  <a:pt x="12629" y="23"/>
                </a:cubicBezTo>
                <a:lnTo>
                  <a:pt x="186" y="23"/>
                </a:lnTo>
                <a:cubicBezTo>
                  <a:pt x="175" y="23"/>
                  <a:pt x="164" y="24"/>
                  <a:pt x="154" y="26"/>
                </a:cubicBezTo>
                <a:cubicBezTo>
                  <a:pt x="144" y="28"/>
                  <a:pt x="133" y="32"/>
                  <a:pt x="123" y="36"/>
                </a:cubicBezTo>
                <a:cubicBezTo>
                  <a:pt x="114" y="40"/>
                  <a:pt x="104" y="45"/>
                  <a:pt x="95" y="51"/>
                </a:cubicBezTo>
                <a:cubicBezTo>
                  <a:pt x="87" y="57"/>
                  <a:pt x="78" y="63"/>
                  <a:pt x="71" y="71"/>
                </a:cubicBezTo>
                <a:cubicBezTo>
                  <a:pt x="63" y="78"/>
                  <a:pt x="56" y="87"/>
                  <a:pt x="51" y="95"/>
                </a:cubicBezTo>
                <a:cubicBezTo>
                  <a:pt x="45" y="104"/>
                  <a:pt x="40" y="114"/>
                  <a:pt x="36" y="124"/>
                </a:cubicBezTo>
                <a:cubicBezTo>
                  <a:pt x="31" y="133"/>
                  <a:pt x="28" y="144"/>
                  <a:pt x="26" y="154"/>
                </a:cubicBezTo>
                <a:cubicBezTo>
                  <a:pt x="24" y="164"/>
                  <a:pt x="23" y="175"/>
                  <a:pt x="23" y="186"/>
                </a:cubicBezTo>
                <a:close/>
              </a:path>
            </a:pathLst>
          </a:custGeom>
          <a:solidFill>
            <a:srgbClr val="2DD4B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reeform: Shape 547"/>
          <p:cNvSpPr/>
          <p:nvPr/>
        </p:nvSpPr>
        <p:spPr>
          <a:xfrm>
            <a:off x="5690880" y="4119840"/>
            <a:ext cx="4329000" cy="1103400"/>
          </a:xfrm>
          <a:custGeom>
            <a:avLst/>
            <a:gdLst/>
            <a:ahLst/>
            <a:cxnLst/>
            <a:rect l="0" t="0" r="r" b="b"/>
            <a:pathLst>
              <a:path w="12025" h="3065">
                <a:moveTo>
                  <a:pt x="0" y="2972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5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11932" y="0"/>
                </a:lnTo>
                <a:cubicBezTo>
                  <a:pt x="11944" y="0"/>
                  <a:pt x="11956" y="2"/>
                  <a:pt x="11968" y="7"/>
                </a:cubicBezTo>
                <a:cubicBezTo>
                  <a:pt x="11979" y="11"/>
                  <a:pt x="11989" y="18"/>
                  <a:pt x="11998" y="27"/>
                </a:cubicBezTo>
                <a:cubicBezTo>
                  <a:pt x="12006" y="35"/>
                  <a:pt x="12013" y="45"/>
                  <a:pt x="12018" y="57"/>
                </a:cubicBezTo>
                <a:cubicBezTo>
                  <a:pt x="12023" y="68"/>
                  <a:pt x="12025" y="80"/>
                  <a:pt x="12025" y="92"/>
                </a:cubicBezTo>
                <a:lnTo>
                  <a:pt x="12025" y="2972"/>
                </a:lnTo>
                <a:cubicBezTo>
                  <a:pt x="12025" y="2984"/>
                  <a:pt x="12023" y="2996"/>
                  <a:pt x="12018" y="3007"/>
                </a:cubicBezTo>
                <a:cubicBezTo>
                  <a:pt x="12013" y="3019"/>
                  <a:pt x="12006" y="3029"/>
                  <a:pt x="11998" y="3037"/>
                </a:cubicBezTo>
                <a:cubicBezTo>
                  <a:pt x="11989" y="3046"/>
                  <a:pt x="11979" y="3053"/>
                  <a:pt x="11968" y="3058"/>
                </a:cubicBezTo>
                <a:cubicBezTo>
                  <a:pt x="11956" y="3062"/>
                  <a:pt x="11944" y="3065"/>
                  <a:pt x="11932" y="3065"/>
                </a:cubicBezTo>
                <a:lnTo>
                  <a:pt x="92" y="3065"/>
                </a:lnTo>
                <a:cubicBezTo>
                  <a:pt x="80" y="3065"/>
                  <a:pt x="68" y="3062"/>
                  <a:pt x="57" y="3058"/>
                </a:cubicBezTo>
                <a:cubicBezTo>
                  <a:pt x="46" y="3053"/>
                  <a:pt x="35" y="3046"/>
                  <a:pt x="27" y="3037"/>
                </a:cubicBezTo>
                <a:cubicBezTo>
                  <a:pt x="18" y="3029"/>
                  <a:pt x="11" y="3019"/>
                  <a:pt x="7" y="3007"/>
                </a:cubicBezTo>
                <a:cubicBezTo>
                  <a:pt x="2" y="2996"/>
                  <a:pt x="0" y="2984"/>
                  <a:pt x="0" y="2972"/>
                </a:cubicBezTo>
                <a:close/>
              </a:path>
            </a:pathLst>
          </a:custGeom>
          <a:solidFill>
            <a:srgbClr val="1F2937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TextBox 548"/>
          <p:cNvSpPr txBox="1"/>
          <p:nvPr/>
        </p:nvSpPr>
        <p:spPr>
          <a:xfrm>
            <a:off x="1036080" y="5625360"/>
            <a:ext cx="666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decisions.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reeform: Shape 549"/>
          <p:cNvSpPr/>
          <p:nvPr/>
        </p:nvSpPr>
        <p:spPr>
          <a:xfrm>
            <a:off x="8690760" y="2531880"/>
            <a:ext cx="518400" cy="200880"/>
          </a:xfrm>
          <a:custGeom>
            <a:avLst/>
            <a:gdLst/>
            <a:ahLst/>
            <a:cxnLst/>
            <a:rect l="0" t="0" r="r" b="b"/>
            <a:pathLst>
              <a:path w="1440" h="558">
                <a:moveTo>
                  <a:pt x="0" y="279"/>
                </a:move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2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8"/>
                  <a:pt x="172" y="21"/>
                </a:cubicBezTo>
                <a:cubicBezTo>
                  <a:pt x="189" y="14"/>
                  <a:pt x="206" y="9"/>
                  <a:pt x="224" y="5"/>
                </a:cubicBezTo>
                <a:cubicBezTo>
                  <a:pt x="242" y="2"/>
                  <a:pt x="260" y="0"/>
                  <a:pt x="279" y="0"/>
                </a:cubicBezTo>
                <a:lnTo>
                  <a:pt x="1162" y="0"/>
                </a:lnTo>
                <a:cubicBezTo>
                  <a:pt x="1180" y="0"/>
                  <a:pt x="1198" y="2"/>
                  <a:pt x="1216" y="5"/>
                </a:cubicBezTo>
                <a:cubicBezTo>
                  <a:pt x="1234" y="9"/>
                  <a:pt x="1251" y="14"/>
                  <a:pt x="1268" y="21"/>
                </a:cubicBezTo>
                <a:cubicBezTo>
                  <a:pt x="1285" y="28"/>
                  <a:pt x="1301" y="37"/>
                  <a:pt x="1316" y="47"/>
                </a:cubicBezTo>
                <a:cubicBezTo>
                  <a:pt x="1332" y="57"/>
                  <a:pt x="1346" y="69"/>
                  <a:pt x="1359" y="82"/>
                </a:cubicBezTo>
                <a:cubicBezTo>
                  <a:pt x="1372" y="95"/>
                  <a:pt x="1383" y="109"/>
                  <a:pt x="1393" y="124"/>
                </a:cubicBezTo>
                <a:cubicBezTo>
                  <a:pt x="1404" y="139"/>
                  <a:pt x="1412" y="155"/>
                  <a:pt x="1419" y="172"/>
                </a:cubicBezTo>
                <a:cubicBezTo>
                  <a:pt x="1426" y="189"/>
                  <a:pt x="1431" y="206"/>
                  <a:pt x="1435" y="224"/>
                </a:cubicBezTo>
                <a:cubicBezTo>
                  <a:pt x="1439" y="242"/>
                  <a:pt x="1440" y="260"/>
                  <a:pt x="1440" y="279"/>
                </a:cubicBezTo>
                <a:cubicBezTo>
                  <a:pt x="1440" y="297"/>
                  <a:pt x="1439" y="315"/>
                  <a:pt x="1435" y="333"/>
                </a:cubicBezTo>
                <a:cubicBezTo>
                  <a:pt x="1431" y="351"/>
                  <a:pt x="1426" y="368"/>
                  <a:pt x="1419" y="385"/>
                </a:cubicBezTo>
                <a:cubicBezTo>
                  <a:pt x="1412" y="402"/>
                  <a:pt x="1404" y="418"/>
                  <a:pt x="1393" y="433"/>
                </a:cubicBezTo>
                <a:cubicBezTo>
                  <a:pt x="1383" y="449"/>
                  <a:pt x="1372" y="463"/>
                  <a:pt x="1359" y="476"/>
                </a:cubicBezTo>
                <a:cubicBezTo>
                  <a:pt x="1346" y="490"/>
                  <a:pt x="1332" y="501"/>
                  <a:pt x="1316" y="511"/>
                </a:cubicBezTo>
                <a:cubicBezTo>
                  <a:pt x="1301" y="521"/>
                  <a:pt x="1285" y="530"/>
                  <a:pt x="1268" y="537"/>
                </a:cubicBezTo>
                <a:cubicBezTo>
                  <a:pt x="1251" y="544"/>
                  <a:pt x="1234" y="549"/>
                  <a:pt x="1216" y="553"/>
                </a:cubicBezTo>
                <a:cubicBezTo>
                  <a:pt x="1198" y="556"/>
                  <a:pt x="1180" y="558"/>
                  <a:pt x="1162" y="558"/>
                </a:cubicBezTo>
                <a:lnTo>
                  <a:pt x="279" y="558"/>
                </a:lnTo>
                <a:cubicBezTo>
                  <a:pt x="260" y="558"/>
                  <a:pt x="242" y="556"/>
                  <a:pt x="224" y="553"/>
                </a:cubicBezTo>
                <a:cubicBezTo>
                  <a:pt x="206" y="549"/>
                  <a:pt x="189" y="544"/>
                  <a:pt x="172" y="537"/>
                </a:cubicBezTo>
                <a:cubicBezTo>
                  <a:pt x="155" y="530"/>
                  <a:pt x="139" y="521"/>
                  <a:pt x="124" y="511"/>
                </a:cubicBezTo>
                <a:cubicBezTo>
                  <a:pt x="109" y="501"/>
                  <a:pt x="95" y="490"/>
                  <a:pt x="82" y="476"/>
                </a:cubicBezTo>
                <a:cubicBezTo>
                  <a:pt x="69" y="463"/>
                  <a:pt x="57" y="449"/>
                  <a:pt x="47" y="433"/>
                </a:cubicBezTo>
                <a:cubicBezTo>
                  <a:pt x="37" y="418"/>
                  <a:pt x="28" y="402"/>
                  <a:pt x="21" y="385"/>
                </a:cubicBezTo>
                <a:cubicBezTo>
                  <a:pt x="14" y="368"/>
                  <a:pt x="9" y="351"/>
                  <a:pt x="5" y="333"/>
                </a:cubicBezTo>
                <a:cubicBezTo>
                  <a:pt x="2" y="315"/>
                  <a:pt x="0" y="297"/>
                  <a:pt x="0" y="279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5690880" y="2535840"/>
            <a:ext cx="21747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Compliance Dashboard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reeform: Shape 551"/>
          <p:cNvSpPr/>
          <p:nvPr/>
        </p:nvSpPr>
        <p:spPr>
          <a:xfrm>
            <a:off x="9342720" y="2531880"/>
            <a:ext cx="677160" cy="200880"/>
          </a:xfrm>
          <a:custGeom>
            <a:avLst/>
            <a:gdLst/>
            <a:ahLst/>
            <a:cxnLst/>
            <a:rect l="0" t="0" r="r" b="b"/>
            <a:pathLst>
              <a:path w="1881" h="558">
                <a:moveTo>
                  <a:pt x="0" y="279"/>
                </a:moveTo>
                <a:cubicBezTo>
                  <a:pt x="0" y="260"/>
                  <a:pt x="1" y="242"/>
                  <a:pt x="5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6" y="139"/>
                  <a:pt x="47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4" y="69"/>
                  <a:pt x="108" y="57"/>
                  <a:pt x="123" y="47"/>
                </a:cubicBezTo>
                <a:cubicBezTo>
                  <a:pt x="139" y="37"/>
                  <a:pt x="155" y="28"/>
                  <a:pt x="172" y="21"/>
                </a:cubicBezTo>
                <a:cubicBezTo>
                  <a:pt x="189" y="14"/>
                  <a:pt x="206" y="9"/>
                  <a:pt x="224" y="5"/>
                </a:cubicBezTo>
                <a:cubicBezTo>
                  <a:pt x="242" y="2"/>
                  <a:pt x="260" y="0"/>
                  <a:pt x="278" y="0"/>
                </a:cubicBezTo>
                <a:lnTo>
                  <a:pt x="1602" y="0"/>
                </a:lnTo>
                <a:cubicBezTo>
                  <a:pt x="1621" y="0"/>
                  <a:pt x="1639" y="2"/>
                  <a:pt x="1657" y="5"/>
                </a:cubicBezTo>
                <a:cubicBezTo>
                  <a:pt x="1675" y="9"/>
                  <a:pt x="1692" y="14"/>
                  <a:pt x="1709" y="21"/>
                </a:cubicBezTo>
                <a:cubicBezTo>
                  <a:pt x="1726" y="28"/>
                  <a:pt x="1742" y="37"/>
                  <a:pt x="1757" y="47"/>
                </a:cubicBezTo>
                <a:cubicBezTo>
                  <a:pt x="1772" y="57"/>
                  <a:pt x="1786" y="69"/>
                  <a:pt x="1799" y="82"/>
                </a:cubicBezTo>
                <a:cubicBezTo>
                  <a:pt x="1812" y="95"/>
                  <a:pt x="1824" y="109"/>
                  <a:pt x="1834" y="124"/>
                </a:cubicBezTo>
                <a:cubicBezTo>
                  <a:pt x="1844" y="139"/>
                  <a:pt x="1853" y="155"/>
                  <a:pt x="1860" y="172"/>
                </a:cubicBezTo>
                <a:cubicBezTo>
                  <a:pt x="1867" y="189"/>
                  <a:pt x="1872" y="206"/>
                  <a:pt x="1876" y="224"/>
                </a:cubicBezTo>
                <a:cubicBezTo>
                  <a:pt x="1879" y="242"/>
                  <a:pt x="1881" y="260"/>
                  <a:pt x="1881" y="279"/>
                </a:cubicBezTo>
                <a:cubicBezTo>
                  <a:pt x="1881" y="297"/>
                  <a:pt x="1879" y="315"/>
                  <a:pt x="1876" y="333"/>
                </a:cubicBezTo>
                <a:cubicBezTo>
                  <a:pt x="1872" y="351"/>
                  <a:pt x="1867" y="368"/>
                  <a:pt x="1860" y="385"/>
                </a:cubicBezTo>
                <a:cubicBezTo>
                  <a:pt x="1853" y="402"/>
                  <a:pt x="1844" y="418"/>
                  <a:pt x="1834" y="433"/>
                </a:cubicBezTo>
                <a:cubicBezTo>
                  <a:pt x="1824" y="449"/>
                  <a:pt x="1812" y="463"/>
                  <a:pt x="1799" y="476"/>
                </a:cubicBezTo>
                <a:cubicBezTo>
                  <a:pt x="1786" y="490"/>
                  <a:pt x="1772" y="501"/>
                  <a:pt x="1757" y="511"/>
                </a:cubicBezTo>
                <a:cubicBezTo>
                  <a:pt x="1742" y="521"/>
                  <a:pt x="1726" y="530"/>
                  <a:pt x="1709" y="537"/>
                </a:cubicBezTo>
                <a:cubicBezTo>
                  <a:pt x="1692" y="544"/>
                  <a:pt x="1675" y="549"/>
                  <a:pt x="1657" y="553"/>
                </a:cubicBezTo>
                <a:cubicBezTo>
                  <a:pt x="1639" y="556"/>
                  <a:pt x="1621" y="558"/>
                  <a:pt x="1602" y="558"/>
                </a:cubicBezTo>
                <a:lnTo>
                  <a:pt x="278" y="558"/>
                </a:lnTo>
                <a:cubicBezTo>
                  <a:pt x="260" y="558"/>
                  <a:pt x="242" y="556"/>
                  <a:pt x="224" y="553"/>
                </a:cubicBezTo>
                <a:cubicBezTo>
                  <a:pt x="206" y="549"/>
                  <a:pt x="189" y="544"/>
                  <a:pt x="172" y="537"/>
                </a:cubicBezTo>
                <a:cubicBezTo>
                  <a:pt x="155" y="530"/>
                  <a:pt x="139" y="521"/>
                  <a:pt x="123" y="511"/>
                </a:cubicBezTo>
                <a:cubicBezTo>
                  <a:pt x="108" y="501"/>
                  <a:pt x="94" y="490"/>
                  <a:pt x="81" y="476"/>
                </a:cubicBezTo>
                <a:cubicBezTo>
                  <a:pt x="68" y="463"/>
                  <a:pt x="57" y="449"/>
                  <a:pt x="47" y="433"/>
                </a:cubicBezTo>
                <a:cubicBezTo>
                  <a:pt x="36" y="418"/>
                  <a:pt x="28" y="402"/>
                  <a:pt x="21" y="385"/>
                </a:cubicBezTo>
                <a:cubicBezTo>
                  <a:pt x="14" y="368"/>
                  <a:pt x="9" y="351"/>
                  <a:pt x="5" y="333"/>
                </a:cubicBezTo>
                <a:cubicBezTo>
                  <a:pt x="1" y="315"/>
                  <a:pt x="0" y="297"/>
                  <a:pt x="0" y="279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8758080" y="2572560"/>
            <a:ext cx="3859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6EE7B7"/>
                </a:solidFill>
                <a:effectLst/>
                <a:uFillTx/>
                <a:latin typeface="DejaVuSans"/>
                <a:ea typeface="DejaVuSans"/>
              </a:rPr>
              <a:t>Custom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reeform: Shape 553"/>
          <p:cNvSpPr/>
          <p:nvPr/>
        </p:nvSpPr>
        <p:spPr>
          <a:xfrm>
            <a:off x="5690880" y="2882880"/>
            <a:ext cx="1312200" cy="1103400"/>
          </a:xfrm>
          <a:custGeom>
            <a:avLst/>
            <a:gdLst/>
            <a:ahLst/>
            <a:cxnLst/>
            <a:rect l="0" t="0" r="r" b="b"/>
            <a:pathLst>
              <a:path w="3645" h="3065">
                <a:moveTo>
                  <a:pt x="0" y="2972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3552" y="0"/>
                </a:lnTo>
                <a:cubicBezTo>
                  <a:pt x="3564" y="0"/>
                  <a:pt x="3576" y="2"/>
                  <a:pt x="3588" y="7"/>
                </a:cubicBezTo>
                <a:cubicBezTo>
                  <a:pt x="3599" y="12"/>
                  <a:pt x="3609" y="18"/>
                  <a:pt x="3618" y="27"/>
                </a:cubicBezTo>
                <a:cubicBezTo>
                  <a:pt x="3627" y="36"/>
                  <a:pt x="3633" y="46"/>
                  <a:pt x="3638" y="57"/>
                </a:cubicBezTo>
                <a:cubicBezTo>
                  <a:pt x="3643" y="69"/>
                  <a:pt x="3645" y="81"/>
                  <a:pt x="3645" y="93"/>
                </a:cubicBezTo>
                <a:lnTo>
                  <a:pt x="3645" y="2972"/>
                </a:lnTo>
                <a:cubicBezTo>
                  <a:pt x="3645" y="2985"/>
                  <a:pt x="3643" y="2996"/>
                  <a:pt x="3638" y="3008"/>
                </a:cubicBezTo>
                <a:cubicBezTo>
                  <a:pt x="3633" y="3019"/>
                  <a:pt x="3627" y="3029"/>
                  <a:pt x="3618" y="3038"/>
                </a:cubicBezTo>
                <a:cubicBezTo>
                  <a:pt x="3609" y="3047"/>
                  <a:pt x="3599" y="3053"/>
                  <a:pt x="3588" y="3058"/>
                </a:cubicBezTo>
                <a:cubicBezTo>
                  <a:pt x="3576" y="3063"/>
                  <a:pt x="3564" y="3065"/>
                  <a:pt x="3552" y="3065"/>
                </a:cubicBezTo>
                <a:lnTo>
                  <a:pt x="92" y="3065"/>
                </a:lnTo>
                <a:cubicBezTo>
                  <a:pt x="80" y="3065"/>
                  <a:pt x="68" y="3063"/>
                  <a:pt x="57" y="3058"/>
                </a:cubicBezTo>
                <a:cubicBezTo>
                  <a:pt x="46" y="3053"/>
                  <a:pt x="35" y="3047"/>
                  <a:pt x="27" y="3038"/>
                </a:cubicBezTo>
                <a:cubicBezTo>
                  <a:pt x="18" y="3029"/>
                  <a:pt x="11" y="3019"/>
                  <a:pt x="7" y="3008"/>
                </a:cubicBezTo>
                <a:cubicBezTo>
                  <a:pt x="2" y="2996"/>
                  <a:pt x="0" y="2985"/>
                  <a:pt x="0" y="2972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55" name="Picture 554"/>
          <p:cNvPicPr/>
          <p:nvPr/>
        </p:nvPicPr>
        <p:blipFill>
          <a:blip r:embed="rId7"/>
          <a:stretch/>
        </p:blipFill>
        <p:spPr>
          <a:xfrm>
            <a:off x="6242400" y="29833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TextBox 555"/>
          <p:cNvSpPr txBox="1"/>
          <p:nvPr/>
        </p:nvSpPr>
        <p:spPr>
          <a:xfrm>
            <a:off x="9410040" y="2572560"/>
            <a:ext cx="545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90" b="0" u="none" strike="noStrike">
                <a:solidFill>
                  <a:srgbClr val="93C5FD"/>
                </a:solidFill>
                <a:effectLst/>
                <a:uFillTx/>
                <a:latin typeface="DejaVuSans"/>
                <a:ea typeface="DejaVuSans"/>
              </a:rPr>
              <a:t>Exportable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TextBox 556"/>
          <p:cNvSpPr txBox="1"/>
          <p:nvPr/>
        </p:nvSpPr>
        <p:spPr>
          <a:xfrm>
            <a:off x="6198840" y="3268800"/>
            <a:ext cx="2944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TextBox 557"/>
          <p:cNvSpPr txBox="1"/>
          <p:nvPr/>
        </p:nvSpPr>
        <p:spPr>
          <a:xfrm>
            <a:off x="5869440" y="3469320"/>
            <a:ext cx="9558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Remediation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reeform: Shape 558"/>
          <p:cNvSpPr/>
          <p:nvPr/>
        </p:nvSpPr>
        <p:spPr>
          <a:xfrm>
            <a:off x="7270200" y="2882880"/>
            <a:ext cx="1303920" cy="1103400"/>
          </a:xfrm>
          <a:custGeom>
            <a:avLst/>
            <a:gdLst/>
            <a:ahLst/>
            <a:cxnLst/>
            <a:rect l="0" t="0" r="r" b="b"/>
            <a:pathLst>
              <a:path w="3622" h="3065">
                <a:moveTo>
                  <a:pt x="0" y="2972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3529" y="0"/>
                </a:lnTo>
                <a:cubicBezTo>
                  <a:pt x="3542" y="0"/>
                  <a:pt x="3553" y="2"/>
                  <a:pt x="3565" y="7"/>
                </a:cubicBezTo>
                <a:cubicBezTo>
                  <a:pt x="3576" y="12"/>
                  <a:pt x="3586" y="18"/>
                  <a:pt x="3595" y="27"/>
                </a:cubicBezTo>
                <a:cubicBezTo>
                  <a:pt x="3604" y="36"/>
                  <a:pt x="3610" y="46"/>
                  <a:pt x="3615" y="57"/>
                </a:cubicBezTo>
                <a:cubicBezTo>
                  <a:pt x="3620" y="69"/>
                  <a:pt x="3622" y="81"/>
                  <a:pt x="3622" y="93"/>
                </a:cubicBezTo>
                <a:lnTo>
                  <a:pt x="3622" y="2972"/>
                </a:lnTo>
                <a:cubicBezTo>
                  <a:pt x="3622" y="2985"/>
                  <a:pt x="3620" y="2996"/>
                  <a:pt x="3615" y="3008"/>
                </a:cubicBezTo>
                <a:cubicBezTo>
                  <a:pt x="3610" y="3019"/>
                  <a:pt x="3604" y="3029"/>
                  <a:pt x="3595" y="3038"/>
                </a:cubicBezTo>
                <a:cubicBezTo>
                  <a:pt x="3586" y="3047"/>
                  <a:pt x="3576" y="3053"/>
                  <a:pt x="3565" y="3058"/>
                </a:cubicBezTo>
                <a:cubicBezTo>
                  <a:pt x="3553" y="3063"/>
                  <a:pt x="3542" y="3065"/>
                  <a:pt x="3529" y="3065"/>
                </a:cubicBezTo>
                <a:lnTo>
                  <a:pt x="93" y="3065"/>
                </a:lnTo>
                <a:cubicBezTo>
                  <a:pt x="80" y="3065"/>
                  <a:pt x="69" y="3063"/>
                  <a:pt x="57" y="3058"/>
                </a:cubicBezTo>
                <a:cubicBezTo>
                  <a:pt x="46" y="3053"/>
                  <a:pt x="36" y="3047"/>
                  <a:pt x="27" y="3038"/>
                </a:cubicBezTo>
                <a:cubicBezTo>
                  <a:pt x="18" y="3029"/>
                  <a:pt x="12" y="3019"/>
                  <a:pt x="7" y="3008"/>
                </a:cubicBezTo>
                <a:cubicBezTo>
                  <a:pt x="2" y="2996"/>
                  <a:pt x="0" y="2985"/>
                  <a:pt x="0" y="2972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60" name="Picture 559"/>
          <p:cNvPicPr/>
          <p:nvPr/>
        </p:nvPicPr>
        <p:blipFill>
          <a:blip r:embed="rId8"/>
          <a:stretch/>
        </p:blipFill>
        <p:spPr>
          <a:xfrm>
            <a:off x="7821720" y="29833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TextBox 560"/>
          <p:cNvSpPr txBox="1"/>
          <p:nvPr/>
        </p:nvSpPr>
        <p:spPr>
          <a:xfrm>
            <a:off x="6145560" y="3672360"/>
            <a:ext cx="4021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4D399"/>
                </a:solidFill>
                <a:effectLst/>
                <a:uFillTx/>
                <a:latin typeface="DejaVuSans"/>
                <a:ea typeface="DejaVuSans"/>
              </a:rPr>
              <a:t>98%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TextBox 561"/>
          <p:cNvSpPr txBox="1"/>
          <p:nvPr/>
        </p:nvSpPr>
        <p:spPr>
          <a:xfrm>
            <a:off x="7559280" y="3268800"/>
            <a:ext cx="7282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EOL/EOSL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reeform: Shape 562"/>
          <p:cNvSpPr/>
          <p:nvPr/>
        </p:nvSpPr>
        <p:spPr>
          <a:xfrm>
            <a:off x="8707680" y="2882880"/>
            <a:ext cx="1312200" cy="1103400"/>
          </a:xfrm>
          <a:custGeom>
            <a:avLst/>
            <a:gdLst/>
            <a:ahLst/>
            <a:cxnLst/>
            <a:rect l="0" t="0" r="r" b="b"/>
            <a:pathLst>
              <a:path w="3645" h="3065">
                <a:moveTo>
                  <a:pt x="0" y="2972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3552" y="0"/>
                </a:lnTo>
                <a:cubicBezTo>
                  <a:pt x="3564" y="0"/>
                  <a:pt x="3576" y="2"/>
                  <a:pt x="3588" y="7"/>
                </a:cubicBezTo>
                <a:cubicBezTo>
                  <a:pt x="3599" y="12"/>
                  <a:pt x="3609" y="18"/>
                  <a:pt x="3618" y="27"/>
                </a:cubicBezTo>
                <a:cubicBezTo>
                  <a:pt x="3626" y="36"/>
                  <a:pt x="3633" y="46"/>
                  <a:pt x="3638" y="57"/>
                </a:cubicBezTo>
                <a:cubicBezTo>
                  <a:pt x="3643" y="69"/>
                  <a:pt x="3645" y="81"/>
                  <a:pt x="3645" y="93"/>
                </a:cubicBezTo>
                <a:lnTo>
                  <a:pt x="3645" y="2972"/>
                </a:lnTo>
                <a:cubicBezTo>
                  <a:pt x="3645" y="2985"/>
                  <a:pt x="3643" y="2996"/>
                  <a:pt x="3638" y="3008"/>
                </a:cubicBezTo>
                <a:cubicBezTo>
                  <a:pt x="3633" y="3019"/>
                  <a:pt x="3626" y="3029"/>
                  <a:pt x="3618" y="3038"/>
                </a:cubicBezTo>
                <a:cubicBezTo>
                  <a:pt x="3609" y="3047"/>
                  <a:pt x="3599" y="3053"/>
                  <a:pt x="3588" y="3058"/>
                </a:cubicBezTo>
                <a:cubicBezTo>
                  <a:pt x="3576" y="3063"/>
                  <a:pt x="3564" y="3065"/>
                  <a:pt x="3552" y="3065"/>
                </a:cubicBezTo>
                <a:lnTo>
                  <a:pt x="92" y="3065"/>
                </a:lnTo>
                <a:cubicBezTo>
                  <a:pt x="80" y="3065"/>
                  <a:pt x="68" y="3063"/>
                  <a:pt x="57" y="3058"/>
                </a:cubicBezTo>
                <a:cubicBezTo>
                  <a:pt x="45" y="3053"/>
                  <a:pt x="35" y="3047"/>
                  <a:pt x="27" y="3038"/>
                </a:cubicBezTo>
                <a:cubicBezTo>
                  <a:pt x="18" y="3029"/>
                  <a:pt x="11" y="3019"/>
                  <a:pt x="7" y="3008"/>
                </a:cubicBezTo>
                <a:cubicBezTo>
                  <a:pt x="2" y="2996"/>
                  <a:pt x="0" y="2985"/>
                  <a:pt x="0" y="2972"/>
                </a:cubicBezTo>
                <a:close/>
              </a:path>
            </a:pathLst>
          </a:custGeom>
          <a:solidFill>
            <a:srgbClr val="1E3A8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64" name="Picture 563"/>
          <p:cNvPicPr/>
          <p:nvPr/>
        </p:nvPicPr>
        <p:blipFill>
          <a:blip r:embed="rId9"/>
          <a:stretch/>
        </p:blipFill>
        <p:spPr>
          <a:xfrm>
            <a:off x="9267480" y="298332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TextBox 564"/>
          <p:cNvSpPr txBox="1"/>
          <p:nvPr/>
        </p:nvSpPr>
        <p:spPr>
          <a:xfrm>
            <a:off x="7780320" y="3471840"/>
            <a:ext cx="285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4D399"/>
                </a:solidFill>
                <a:effectLst/>
                <a:uFillTx/>
                <a:latin typeface="DejaVuSans"/>
                <a:ea typeface="DejaVuSans"/>
              </a:rPr>
              <a:t>0%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929080" y="3268800"/>
            <a:ext cx="8755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Compliance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9106920" y="3471840"/>
            <a:ext cx="5187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34D399"/>
                </a:solidFill>
                <a:effectLst/>
                <a:uFillTx/>
                <a:latin typeface="DejaVuSans"/>
                <a:ea typeface="DejaVuSans"/>
              </a:rPr>
              <a:t>100%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5791320" y="4238280"/>
            <a:ext cx="1279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Recent Activities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5791320" y="4504320"/>
            <a:ext cx="1735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Patch deployment for servers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9281160" y="4504320"/>
            <a:ext cx="640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34D399"/>
                </a:solidFill>
                <a:effectLst/>
                <a:uFillTx/>
                <a:latin typeface="DejaVuSans"/>
                <a:ea typeface="DejaVuSans"/>
              </a:rPr>
              <a:t>Completed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TextBox 570"/>
          <p:cNvSpPr txBox="1"/>
          <p:nvPr/>
        </p:nvSpPr>
        <p:spPr>
          <a:xfrm>
            <a:off x="5791320" y="4738320"/>
            <a:ext cx="1667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CVE-2025-1234 remediation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TextBox 571"/>
          <p:cNvSpPr txBox="1"/>
          <p:nvPr/>
        </p:nvSpPr>
        <p:spPr>
          <a:xfrm>
            <a:off x="9281160" y="4738320"/>
            <a:ext cx="640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34D399"/>
                </a:solidFill>
                <a:effectLst/>
                <a:uFillTx/>
                <a:latin typeface="DejaVuSans"/>
                <a:ea typeface="DejaVuSans"/>
              </a:rPr>
              <a:t>Completed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TextBox 572"/>
          <p:cNvSpPr txBox="1"/>
          <p:nvPr/>
        </p:nvSpPr>
        <p:spPr>
          <a:xfrm>
            <a:off x="5791320" y="4972320"/>
            <a:ext cx="1524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System health monitoring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4" name="Picture 573"/>
          <p:cNvPicPr/>
          <p:nvPr/>
        </p:nvPicPr>
        <p:blipFill>
          <a:blip r:embed="rId10"/>
          <a:stretch/>
        </p:blipFill>
        <p:spPr>
          <a:xfrm>
            <a:off x="534960" y="603360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TextBox 574"/>
          <p:cNvSpPr txBox="1"/>
          <p:nvPr/>
        </p:nvSpPr>
        <p:spPr>
          <a:xfrm>
            <a:off x="9268560" y="4972320"/>
            <a:ext cx="658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60A5FA"/>
                </a:solidFill>
                <a:effectLst/>
                <a:uFillTx/>
                <a:latin typeface="DejaVuSans"/>
                <a:ea typeface="DejaVuSans"/>
              </a:rPr>
              <a:t>In progress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TextBox 575"/>
          <p:cNvSpPr txBox="1"/>
          <p:nvPr/>
        </p:nvSpPr>
        <p:spPr>
          <a:xfrm>
            <a:off x="718560" y="602532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7" name="Picture 576"/>
          <p:cNvPicPr/>
          <p:nvPr/>
        </p:nvPicPr>
        <p:blipFill>
          <a:blip r:embed="rId11"/>
          <a:stretch/>
        </p:blipFill>
        <p:spPr>
          <a:xfrm>
            <a:off x="-835560" y="-83556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8" name="Picture 577"/>
          <p:cNvPicPr/>
          <p:nvPr/>
        </p:nvPicPr>
        <p:blipFill>
          <a:blip r:embed="rId12"/>
          <a:stretch/>
        </p:blipFill>
        <p:spPr>
          <a:xfrm>
            <a:off x="8607240" y="428688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9" name="Picture 578"/>
          <p:cNvPicPr/>
          <p:nvPr/>
        </p:nvPicPr>
        <p:blipFill>
          <a:blip r:embed="rId13"/>
          <a:stretch/>
        </p:blipFill>
        <p:spPr>
          <a:xfrm>
            <a:off x="417960" y="125352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Picture 579"/>
          <p:cNvPicPr/>
          <p:nvPr/>
        </p:nvPicPr>
        <p:blipFill>
          <a:blip r:embed="rId14"/>
          <a:stretch/>
        </p:blipFill>
        <p:spPr>
          <a:xfrm>
            <a:off x="6936120" y="510588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1" name="Picture 580"/>
          <p:cNvPicPr/>
          <p:nvPr/>
        </p:nvPicPr>
        <p:blipFill>
          <a:blip r:embed="rId15"/>
          <a:stretch/>
        </p:blipFill>
        <p:spPr>
          <a:xfrm>
            <a:off x="0" y="0"/>
            <a:ext cx="10696320" cy="63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TextBox 581"/>
          <p:cNvSpPr txBox="1"/>
          <p:nvPr/>
        </p:nvSpPr>
        <p:spPr>
          <a:xfrm>
            <a:off x="9898920" y="6025320"/>
            <a:ext cx="26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9/10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Picture 582"/>
          <p:cNvPicPr/>
          <p:nvPr/>
        </p:nvPicPr>
        <p:blipFill>
          <a:blip r:embed="rId2"/>
          <a:stretch/>
        </p:blipFill>
        <p:spPr>
          <a:xfrm>
            <a:off x="0" y="0"/>
            <a:ext cx="10696320" cy="65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Freeform: Shape 583"/>
          <p:cNvSpPr/>
          <p:nvPr/>
        </p:nvSpPr>
        <p:spPr>
          <a:xfrm>
            <a:off x="534600" y="802080"/>
            <a:ext cx="668880" cy="33840"/>
          </a:xfrm>
          <a:custGeom>
            <a:avLst/>
            <a:gdLst/>
            <a:ahLst/>
            <a:cxnLst/>
            <a:rect l="0" t="0" r="r" b="b"/>
            <a:pathLst>
              <a:path w="1858" h="94">
                <a:moveTo>
                  <a:pt x="0" y="0"/>
                </a:moveTo>
                <a:lnTo>
                  <a:pt x="1858" y="0"/>
                </a:lnTo>
                <a:lnTo>
                  <a:pt x="1858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00D5B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reeform: Shape 584"/>
          <p:cNvSpPr/>
          <p:nvPr/>
        </p:nvSpPr>
        <p:spPr>
          <a:xfrm>
            <a:off x="551520" y="1637640"/>
            <a:ext cx="9610560" cy="1981080"/>
          </a:xfrm>
          <a:custGeom>
            <a:avLst/>
            <a:gdLst/>
            <a:ahLst/>
            <a:cxnLst/>
            <a:rect l="0" t="0" r="r" b="b"/>
            <a:pathLst>
              <a:path w="26696" h="5503">
                <a:moveTo>
                  <a:pt x="0" y="5317"/>
                </a:moveTo>
                <a:lnTo>
                  <a:pt x="0" y="186"/>
                </a:lnTo>
                <a:cubicBezTo>
                  <a:pt x="0" y="174"/>
                  <a:pt x="0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4"/>
                  <a:pt x="18" y="93"/>
                  <a:pt x="23" y="83"/>
                </a:cubicBezTo>
                <a:cubicBezTo>
                  <a:pt x="28" y="73"/>
                  <a:pt x="34" y="63"/>
                  <a:pt x="40" y="55"/>
                </a:cubicBezTo>
                <a:cubicBezTo>
                  <a:pt x="47" y="46"/>
                  <a:pt x="54" y="38"/>
                  <a:pt x="61" y="32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26510" y="0"/>
                </a:lnTo>
                <a:cubicBezTo>
                  <a:pt x="26522" y="0"/>
                  <a:pt x="26534" y="1"/>
                  <a:pt x="26546" y="4"/>
                </a:cubicBezTo>
                <a:cubicBezTo>
                  <a:pt x="26558" y="6"/>
                  <a:pt x="26570" y="10"/>
                  <a:pt x="26581" y="14"/>
                </a:cubicBezTo>
                <a:cubicBezTo>
                  <a:pt x="26592" y="19"/>
                  <a:pt x="26603" y="25"/>
                  <a:pt x="26613" y="32"/>
                </a:cubicBezTo>
                <a:cubicBezTo>
                  <a:pt x="26623" y="38"/>
                  <a:pt x="26633" y="46"/>
                  <a:pt x="26641" y="55"/>
                </a:cubicBezTo>
                <a:cubicBezTo>
                  <a:pt x="26650" y="63"/>
                  <a:pt x="26657" y="73"/>
                  <a:pt x="26664" y="83"/>
                </a:cubicBezTo>
                <a:cubicBezTo>
                  <a:pt x="26671" y="93"/>
                  <a:pt x="26677" y="104"/>
                  <a:pt x="26681" y="115"/>
                </a:cubicBezTo>
                <a:cubicBezTo>
                  <a:pt x="26686" y="126"/>
                  <a:pt x="26690" y="138"/>
                  <a:pt x="26692" y="150"/>
                </a:cubicBezTo>
                <a:cubicBezTo>
                  <a:pt x="26694" y="162"/>
                  <a:pt x="26696" y="174"/>
                  <a:pt x="26696" y="186"/>
                </a:cubicBezTo>
                <a:lnTo>
                  <a:pt x="26696" y="5317"/>
                </a:lnTo>
                <a:cubicBezTo>
                  <a:pt x="26696" y="5329"/>
                  <a:pt x="26694" y="5341"/>
                  <a:pt x="26692" y="5353"/>
                </a:cubicBezTo>
                <a:cubicBezTo>
                  <a:pt x="26690" y="5365"/>
                  <a:pt x="26686" y="5377"/>
                  <a:pt x="26681" y="5388"/>
                </a:cubicBezTo>
                <a:cubicBezTo>
                  <a:pt x="26677" y="5399"/>
                  <a:pt x="26671" y="5410"/>
                  <a:pt x="26664" y="5420"/>
                </a:cubicBezTo>
                <a:cubicBezTo>
                  <a:pt x="26657" y="5430"/>
                  <a:pt x="26650" y="5440"/>
                  <a:pt x="26641" y="5448"/>
                </a:cubicBezTo>
                <a:cubicBezTo>
                  <a:pt x="26633" y="5457"/>
                  <a:pt x="26623" y="5465"/>
                  <a:pt x="26613" y="5471"/>
                </a:cubicBezTo>
                <a:cubicBezTo>
                  <a:pt x="26603" y="5478"/>
                  <a:pt x="26592" y="5484"/>
                  <a:pt x="26581" y="5489"/>
                </a:cubicBezTo>
                <a:cubicBezTo>
                  <a:pt x="26570" y="5493"/>
                  <a:pt x="26558" y="5497"/>
                  <a:pt x="26546" y="5499"/>
                </a:cubicBezTo>
                <a:cubicBezTo>
                  <a:pt x="26534" y="5502"/>
                  <a:pt x="26522" y="5503"/>
                  <a:pt x="26510" y="5503"/>
                </a:cubicBezTo>
                <a:lnTo>
                  <a:pt x="139" y="5503"/>
                </a:lnTo>
                <a:cubicBezTo>
                  <a:pt x="130" y="5503"/>
                  <a:pt x="121" y="5502"/>
                  <a:pt x="112" y="5499"/>
                </a:cubicBezTo>
                <a:cubicBezTo>
                  <a:pt x="103" y="5497"/>
                  <a:pt x="94" y="5493"/>
                  <a:pt x="86" y="5489"/>
                </a:cubicBezTo>
                <a:cubicBezTo>
                  <a:pt x="77" y="5484"/>
                  <a:pt x="69" y="5478"/>
                  <a:pt x="61" y="5471"/>
                </a:cubicBezTo>
                <a:cubicBezTo>
                  <a:pt x="54" y="5465"/>
                  <a:pt x="47" y="5457"/>
                  <a:pt x="40" y="5448"/>
                </a:cubicBezTo>
                <a:cubicBezTo>
                  <a:pt x="34" y="5440"/>
                  <a:pt x="28" y="5430"/>
                  <a:pt x="23" y="5420"/>
                </a:cubicBezTo>
                <a:cubicBezTo>
                  <a:pt x="18" y="5410"/>
                  <a:pt x="14" y="5399"/>
                  <a:pt x="10" y="5388"/>
                </a:cubicBezTo>
                <a:cubicBezTo>
                  <a:pt x="7" y="5377"/>
                  <a:pt x="4" y="5365"/>
                  <a:pt x="2" y="5353"/>
                </a:cubicBezTo>
                <a:cubicBezTo>
                  <a:pt x="0" y="5341"/>
                  <a:pt x="0" y="5329"/>
                  <a:pt x="0" y="5317"/>
                </a:cubicBezTo>
                <a:close/>
              </a:path>
            </a:pathLst>
          </a:custGeom>
          <a:solidFill>
            <a:srgbClr val="1E3A8A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Freeform: Shape 585"/>
          <p:cNvSpPr/>
          <p:nvPr/>
        </p:nvSpPr>
        <p:spPr>
          <a:xfrm>
            <a:off x="534600" y="1637640"/>
            <a:ext cx="67320" cy="1981080"/>
          </a:xfrm>
          <a:custGeom>
            <a:avLst/>
            <a:gdLst/>
            <a:ahLst/>
            <a:cxnLst/>
            <a:rect l="0" t="0" r="r" b="b"/>
            <a:pathLst>
              <a:path w="187" h="5503">
                <a:moveTo>
                  <a:pt x="0" y="0"/>
                </a:moveTo>
                <a:lnTo>
                  <a:pt x="187" y="0"/>
                </a:lnTo>
                <a:lnTo>
                  <a:pt x="187" y="5503"/>
                </a:lnTo>
                <a:lnTo>
                  <a:pt x="0" y="550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7" name="Picture 586"/>
          <p:cNvPicPr/>
          <p:nvPr/>
        </p:nvPicPr>
        <p:blipFill>
          <a:blip r:embed="rId3"/>
          <a:stretch/>
        </p:blipFill>
        <p:spPr>
          <a:xfrm>
            <a:off x="534960" y="1270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TextBox 587"/>
          <p:cNvSpPr txBox="1"/>
          <p:nvPr/>
        </p:nvSpPr>
        <p:spPr>
          <a:xfrm>
            <a:off x="534960" y="389520"/>
            <a:ext cx="512568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7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Conclusion &amp; Future Roadmap</a:t>
            </a:r>
            <a:endParaRPr lang="en-US" sz="2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TextBox 588"/>
          <p:cNvSpPr txBox="1"/>
          <p:nvPr/>
        </p:nvSpPr>
        <p:spPr>
          <a:xfrm>
            <a:off x="835560" y="1251360"/>
            <a:ext cx="1843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46EDD5"/>
                </a:solidFill>
                <a:effectLst/>
                <a:uFillTx/>
                <a:latin typeface="DejaVuSans"/>
                <a:ea typeface="DejaVuSans"/>
              </a:rPr>
              <a:t>System Beneﬁts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TextBox 589"/>
          <p:cNvSpPr txBox="1"/>
          <p:nvPr/>
        </p:nvSpPr>
        <p:spPr>
          <a:xfrm>
            <a:off x="768960" y="1874520"/>
            <a:ext cx="90705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The Infra Tracking system oﬀers a comprehensive and centralized solution for maintaining a secure, compliant, and up-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TextBox 590"/>
          <p:cNvSpPr txBox="1"/>
          <p:nvPr/>
        </p:nvSpPr>
        <p:spPr>
          <a:xfrm>
            <a:off x="768960" y="2116800"/>
            <a:ext cx="8943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to-date IT infrastructure. By integrating robust Patch Management and continuous Infrastructure Checks, the platform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TextBox 591"/>
          <p:cNvSpPr txBox="1"/>
          <p:nvPr/>
        </p:nvSpPr>
        <p:spPr>
          <a:xfrm>
            <a:off x="768960" y="2367360"/>
            <a:ext cx="8997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eﬀectively addresses critical challenges such as tracking Common Vulnerabilities and Exposures (CVEs) and managing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3" name="Picture 592"/>
          <p:cNvPicPr/>
          <p:nvPr/>
        </p:nvPicPr>
        <p:blipFill>
          <a:blip r:embed="rId4"/>
          <a:stretch/>
        </p:blipFill>
        <p:spPr>
          <a:xfrm>
            <a:off x="768960" y="3050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TextBox 593"/>
          <p:cNvSpPr txBox="1"/>
          <p:nvPr/>
        </p:nvSpPr>
        <p:spPr>
          <a:xfrm>
            <a:off x="768960" y="2609640"/>
            <a:ext cx="4372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80" b="0" u="none" strike="noStrike">
                <a:solidFill>
                  <a:srgbClr val="E5E7EB"/>
                </a:solidFill>
                <a:effectLst/>
                <a:uFillTx/>
                <a:latin typeface="DejaVuSans"/>
                <a:ea typeface="DejaVuSans"/>
              </a:rPr>
              <a:t>End-of-Life (EOL) and End-of-Service-Life (EOSL) statuses.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TextBox 594"/>
          <p:cNvSpPr txBox="1"/>
          <p:nvPr/>
        </p:nvSpPr>
        <p:spPr>
          <a:xfrm>
            <a:off x="1002960" y="3034800"/>
            <a:ext cx="2169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Minimizes security risks through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6" name="Picture 595"/>
          <p:cNvPicPr/>
          <p:nvPr/>
        </p:nvPicPr>
        <p:blipFill>
          <a:blip r:embed="rId5"/>
          <a:stretch/>
        </p:blipFill>
        <p:spPr>
          <a:xfrm>
            <a:off x="3877560" y="305028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TextBox 596"/>
          <p:cNvSpPr txBox="1"/>
          <p:nvPr/>
        </p:nvSpPr>
        <p:spPr>
          <a:xfrm>
            <a:off x="1002960" y="3235320"/>
            <a:ext cx="2641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proactive monitoring and management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TextBox 597"/>
          <p:cNvSpPr txBox="1"/>
          <p:nvPr/>
        </p:nvSpPr>
        <p:spPr>
          <a:xfrm>
            <a:off x="4145040" y="3034800"/>
            <a:ext cx="2320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Streamlines operational workﬂows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9" name="Picture 598"/>
          <p:cNvPicPr/>
          <p:nvPr/>
        </p:nvPicPr>
        <p:blipFill>
          <a:blip r:embed="rId6"/>
          <a:stretch/>
        </p:blipFill>
        <p:spPr>
          <a:xfrm>
            <a:off x="6986160" y="305028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TextBox 599"/>
          <p:cNvSpPr txBox="1"/>
          <p:nvPr/>
        </p:nvSpPr>
        <p:spPr>
          <a:xfrm>
            <a:off x="4145040" y="3235320"/>
            <a:ext cx="2419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through automation and integration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TextBox 600"/>
          <p:cNvSpPr txBox="1"/>
          <p:nvPr/>
        </p:nvSpPr>
        <p:spPr>
          <a:xfrm>
            <a:off x="7220160" y="3034800"/>
            <a:ext cx="19681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Provides clear visibility for all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2" name="Picture 601"/>
          <p:cNvPicPr/>
          <p:nvPr/>
        </p:nvPicPr>
        <p:blipFill>
          <a:blip r:embed="rId7"/>
          <a:stretch/>
        </p:blipFill>
        <p:spPr>
          <a:xfrm>
            <a:off x="534960" y="3919320"/>
            <a:ext cx="2253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TextBox 602"/>
          <p:cNvSpPr txBox="1"/>
          <p:nvPr/>
        </p:nvSpPr>
        <p:spPr>
          <a:xfrm>
            <a:off x="7220160" y="3235320"/>
            <a:ext cx="2097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stakeholders through reporting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4" name="Picture 603"/>
          <p:cNvPicPr/>
          <p:nvPr/>
        </p:nvPicPr>
        <p:blipFill>
          <a:blip r:embed="rId8"/>
          <a:stretch/>
        </p:blipFill>
        <p:spPr>
          <a:xfrm>
            <a:off x="534960" y="4320360"/>
            <a:ext cx="3074760" cy="17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Freeform: Shape 604"/>
          <p:cNvSpPr/>
          <p:nvPr/>
        </p:nvSpPr>
        <p:spPr>
          <a:xfrm>
            <a:off x="534600" y="4286880"/>
            <a:ext cx="3075840" cy="33840"/>
          </a:xfrm>
          <a:custGeom>
            <a:avLst/>
            <a:gdLst/>
            <a:ahLst/>
            <a:cxnLst/>
            <a:rect l="0" t="0" r="r" b="b"/>
            <a:pathLst>
              <a:path w="8544" h="94">
                <a:moveTo>
                  <a:pt x="0" y="0"/>
                </a:moveTo>
                <a:lnTo>
                  <a:pt x="8544" y="0"/>
                </a:lnTo>
                <a:lnTo>
                  <a:pt x="8544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reeform: Shape 605"/>
          <p:cNvSpPr/>
          <p:nvPr/>
        </p:nvSpPr>
        <p:spPr>
          <a:xfrm>
            <a:off x="701640" y="4554360"/>
            <a:ext cx="276120" cy="334440"/>
          </a:xfrm>
          <a:custGeom>
            <a:avLst/>
            <a:gdLst/>
            <a:ahLst/>
            <a:cxnLst/>
            <a:rect l="0" t="0" r="r" b="b"/>
            <a:pathLst>
              <a:path w="767" h="929">
                <a:moveTo>
                  <a:pt x="0" y="545"/>
                </a:moveTo>
                <a:lnTo>
                  <a:pt x="0" y="383"/>
                </a:lnTo>
                <a:cubicBezTo>
                  <a:pt x="0" y="357"/>
                  <a:pt x="3" y="333"/>
                  <a:pt x="8" y="308"/>
                </a:cubicBezTo>
                <a:cubicBezTo>
                  <a:pt x="13" y="283"/>
                  <a:pt x="20" y="259"/>
                  <a:pt x="30" y="236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3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2" y="50"/>
                  <a:pt x="214" y="38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3" y="2"/>
                  <a:pt x="358" y="0"/>
                  <a:pt x="383" y="0"/>
                </a:cubicBezTo>
                <a:cubicBezTo>
                  <a:pt x="409" y="0"/>
                  <a:pt x="433" y="2"/>
                  <a:pt x="458" y="7"/>
                </a:cubicBezTo>
                <a:cubicBezTo>
                  <a:pt x="483" y="12"/>
                  <a:pt x="507" y="19"/>
                  <a:pt x="530" y="29"/>
                </a:cubicBezTo>
                <a:cubicBezTo>
                  <a:pt x="553" y="38"/>
                  <a:pt x="575" y="50"/>
                  <a:pt x="596" y="64"/>
                </a:cubicBezTo>
                <a:cubicBezTo>
                  <a:pt x="617" y="78"/>
                  <a:pt x="636" y="94"/>
                  <a:pt x="654" y="112"/>
                </a:cubicBezTo>
                <a:cubicBezTo>
                  <a:pt x="672" y="130"/>
                  <a:pt x="688" y="149"/>
                  <a:pt x="702" y="170"/>
                </a:cubicBezTo>
                <a:cubicBezTo>
                  <a:pt x="716" y="191"/>
                  <a:pt x="728" y="213"/>
                  <a:pt x="738" y="236"/>
                </a:cubicBezTo>
                <a:cubicBezTo>
                  <a:pt x="748" y="259"/>
                  <a:pt x="755" y="283"/>
                  <a:pt x="760" y="308"/>
                </a:cubicBezTo>
                <a:cubicBezTo>
                  <a:pt x="765" y="333"/>
                  <a:pt x="767" y="357"/>
                  <a:pt x="767" y="383"/>
                </a:cubicBezTo>
                <a:lnTo>
                  <a:pt x="767" y="545"/>
                </a:lnTo>
                <a:cubicBezTo>
                  <a:pt x="767" y="570"/>
                  <a:pt x="765" y="595"/>
                  <a:pt x="760" y="620"/>
                </a:cubicBezTo>
                <a:cubicBezTo>
                  <a:pt x="755" y="645"/>
                  <a:pt x="748" y="668"/>
                  <a:pt x="738" y="692"/>
                </a:cubicBezTo>
                <a:cubicBezTo>
                  <a:pt x="728" y="715"/>
                  <a:pt x="716" y="737"/>
                  <a:pt x="702" y="758"/>
                </a:cubicBezTo>
                <a:cubicBezTo>
                  <a:pt x="688" y="779"/>
                  <a:pt x="672" y="798"/>
                  <a:pt x="654" y="817"/>
                </a:cubicBezTo>
                <a:cubicBezTo>
                  <a:pt x="636" y="835"/>
                  <a:pt x="617" y="851"/>
                  <a:pt x="596" y="865"/>
                </a:cubicBezTo>
                <a:cubicBezTo>
                  <a:pt x="575" y="879"/>
                  <a:pt x="553" y="890"/>
                  <a:pt x="530" y="900"/>
                </a:cubicBezTo>
                <a:cubicBezTo>
                  <a:pt x="507" y="910"/>
                  <a:pt x="483" y="917"/>
                  <a:pt x="458" y="922"/>
                </a:cubicBezTo>
                <a:cubicBezTo>
                  <a:pt x="433" y="927"/>
                  <a:pt x="409" y="929"/>
                  <a:pt x="383" y="929"/>
                </a:cubicBezTo>
                <a:cubicBezTo>
                  <a:pt x="358" y="929"/>
                  <a:pt x="333" y="927"/>
                  <a:pt x="309" y="922"/>
                </a:cubicBezTo>
                <a:cubicBezTo>
                  <a:pt x="284" y="917"/>
                  <a:pt x="260" y="910"/>
                  <a:pt x="237" y="900"/>
                </a:cubicBezTo>
                <a:cubicBezTo>
                  <a:pt x="214" y="890"/>
                  <a:pt x="192" y="879"/>
                  <a:pt x="171" y="865"/>
                </a:cubicBezTo>
                <a:cubicBezTo>
                  <a:pt x="150" y="851"/>
                  <a:pt x="130" y="835"/>
                  <a:pt x="113" y="817"/>
                </a:cubicBezTo>
                <a:cubicBezTo>
                  <a:pt x="95" y="798"/>
                  <a:pt x="79" y="779"/>
                  <a:pt x="65" y="758"/>
                </a:cubicBezTo>
                <a:cubicBezTo>
                  <a:pt x="51" y="737"/>
                  <a:pt x="39" y="715"/>
                  <a:pt x="30" y="692"/>
                </a:cubicBezTo>
                <a:cubicBezTo>
                  <a:pt x="20" y="668"/>
                  <a:pt x="13" y="645"/>
                  <a:pt x="8" y="620"/>
                </a:cubicBezTo>
                <a:cubicBezTo>
                  <a:pt x="3" y="595"/>
                  <a:pt x="0" y="570"/>
                  <a:pt x="0" y="545"/>
                </a:cubicBezTo>
                <a:close/>
              </a:path>
            </a:pathLst>
          </a:custGeom>
          <a:solidFill>
            <a:srgbClr val="00BB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7" name="Picture 606"/>
          <p:cNvPicPr/>
          <p:nvPr/>
        </p:nvPicPr>
        <p:blipFill>
          <a:blip r:embed="rId9"/>
          <a:stretch/>
        </p:blipFill>
        <p:spPr>
          <a:xfrm>
            <a:off x="785520" y="46548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TextBox 607"/>
          <p:cNvSpPr txBox="1"/>
          <p:nvPr/>
        </p:nvSpPr>
        <p:spPr>
          <a:xfrm>
            <a:off x="860760" y="3900240"/>
            <a:ext cx="2490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1" u="none" strike="noStrike">
                <a:solidFill>
                  <a:srgbClr val="46EDD5"/>
                </a:solidFill>
                <a:effectLst/>
                <a:uFillTx/>
                <a:latin typeface="DejaVuSans"/>
                <a:ea typeface="DejaVuSans"/>
              </a:rPr>
              <a:t>Future Enhancements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TextBox 608"/>
          <p:cNvSpPr txBox="1"/>
          <p:nvPr/>
        </p:nvSpPr>
        <p:spPr>
          <a:xfrm>
            <a:off x="1077480" y="4507920"/>
            <a:ext cx="1668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Expanded Vendor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TextBox 609"/>
          <p:cNvSpPr txBox="1"/>
          <p:nvPr/>
        </p:nvSpPr>
        <p:spPr>
          <a:xfrm>
            <a:off x="1077480" y="4741920"/>
            <a:ext cx="11638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Integrations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TextBox 610"/>
          <p:cNvSpPr txBox="1"/>
          <p:nvPr/>
        </p:nvSpPr>
        <p:spPr>
          <a:xfrm>
            <a:off x="702000" y="5073840"/>
            <a:ext cx="25178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Enhancing connectivity with software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TextBox 611"/>
          <p:cNvSpPr txBox="1"/>
          <p:nvPr/>
        </p:nvSpPr>
        <p:spPr>
          <a:xfrm>
            <a:off x="702000" y="5274360"/>
            <a:ext cx="26337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and hardware vendors to provide more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TextBox 612"/>
          <p:cNvSpPr txBox="1"/>
          <p:nvPr/>
        </p:nvSpPr>
        <p:spPr>
          <a:xfrm>
            <a:off x="702000" y="5474880"/>
            <a:ext cx="2566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comprehensive lifecycle management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4" name="Picture 613"/>
          <p:cNvPicPr/>
          <p:nvPr/>
        </p:nvPicPr>
        <p:blipFill>
          <a:blip r:embed="rId10"/>
          <a:stretch/>
        </p:blipFill>
        <p:spPr>
          <a:xfrm>
            <a:off x="3810600" y="4320360"/>
            <a:ext cx="3074760" cy="17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5" name="Freeform: Shape 614"/>
          <p:cNvSpPr/>
          <p:nvPr/>
        </p:nvSpPr>
        <p:spPr>
          <a:xfrm>
            <a:off x="3810600" y="4286880"/>
            <a:ext cx="3075480" cy="33840"/>
          </a:xfrm>
          <a:custGeom>
            <a:avLst/>
            <a:gdLst/>
            <a:ahLst/>
            <a:cxnLst/>
            <a:rect l="0" t="0" r="r" b="b"/>
            <a:pathLst>
              <a:path w="8543" h="94">
                <a:moveTo>
                  <a:pt x="0" y="0"/>
                </a:moveTo>
                <a:lnTo>
                  <a:pt x="8543" y="0"/>
                </a:lnTo>
                <a:lnTo>
                  <a:pt x="8543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Freeform: Shape 615"/>
          <p:cNvSpPr/>
          <p:nvPr/>
        </p:nvSpPr>
        <p:spPr>
          <a:xfrm>
            <a:off x="3977640" y="4487400"/>
            <a:ext cx="334440" cy="334440"/>
          </a:xfrm>
          <a:custGeom>
            <a:avLst/>
            <a:gdLst/>
            <a:ahLst/>
            <a:cxnLst/>
            <a:rect l="0" t="0" r="r" b="b"/>
            <a:pathLst>
              <a:path w="929" h="929">
                <a:moveTo>
                  <a:pt x="929" y="465"/>
                </a:moveTo>
                <a:cubicBezTo>
                  <a:pt x="929" y="496"/>
                  <a:pt x="926" y="526"/>
                  <a:pt x="921" y="556"/>
                </a:cubicBezTo>
                <a:cubicBezTo>
                  <a:pt x="915" y="586"/>
                  <a:pt x="906" y="615"/>
                  <a:pt x="894" y="643"/>
                </a:cubicBezTo>
                <a:cubicBezTo>
                  <a:pt x="882" y="671"/>
                  <a:pt x="868" y="698"/>
                  <a:pt x="851" y="723"/>
                </a:cubicBezTo>
                <a:cubicBezTo>
                  <a:pt x="834" y="748"/>
                  <a:pt x="815" y="772"/>
                  <a:pt x="793" y="793"/>
                </a:cubicBezTo>
                <a:cubicBezTo>
                  <a:pt x="772" y="815"/>
                  <a:pt x="748" y="834"/>
                  <a:pt x="723" y="851"/>
                </a:cubicBezTo>
                <a:cubicBezTo>
                  <a:pt x="698" y="868"/>
                  <a:pt x="671" y="882"/>
                  <a:pt x="643" y="894"/>
                </a:cubicBezTo>
                <a:cubicBezTo>
                  <a:pt x="615" y="906"/>
                  <a:pt x="586" y="915"/>
                  <a:pt x="556" y="921"/>
                </a:cubicBezTo>
                <a:cubicBezTo>
                  <a:pt x="525" y="926"/>
                  <a:pt x="495" y="929"/>
                  <a:pt x="464" y="929"/>
                </a:cubicBezTo>
                <a:cubicBezTo>
                  <a:pt x="434" y="929"/>
                  <a:pt x="403" y="926"/>
                  <a:pt x="374" y="921"/>
                </a:cubicBezTo>
                <a:cubicBezTo>
                  <a:pt x="344" y="915"/>
                  <a:pt x="315" y="906"/>
                  <a:pt x="287" y="894"/>
                </a:cubicBezTo>
                <a:cubicBezTo>
                  <a:pt x="258" y="882"/>
                  <a:pt x="232" y="868"/>
                  <a:pt x="206" y="851"/>
                </a:cubicBezTo>
                <a:cubicBezTo>
                  <a:pt x="181" y="834"/>
                  <a:pt x="157" y="815"/>
                  <a:pt x="136" y="793"/>
                </a:cubicBezTo>
                <a:cubicBezTo>
                  <a:pt x="114" y="772"/>
                  <a:pt x="95" y="748"/>
                  <a:pt x="78" y="723"/>
                </a:cubicBezTo>
                <a:cubicBezTo>
                  <a:pt x="61" y="698"/>
                  <a:pt x="47" y="671"/>
                  <a:pt x="35" y="643"/>
                </a:cubicBezTo>
                <a:cubicBezTo>
                  <a:pt x="24" y="615"/>
                  <a:pt x="15" y="586"/>
                  <a:pt x="9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4"/>
                  <a:pt x="9" y="375"/>
                </a:cubicBezTo>
                <a:cubicBezTo>
                  <a:pt x="15" y="345"/>
                  <a:pt x="24" y="316"/>
                  <a:pt x="35" y="288"/>
                </a:cubicBezTo>
                <a:cubicBezTo>
                  <a:pt x="47" y="259"/>
                  <a:pt x="61" y="233"/>
                  <a:pt x="78" y="207"/>
                </a:cubicBezTo>
                <a:cubicBezTo>
                  <a:pt x="95" y="182"/>
                  <a:pt x="114" y="158"/>
                  <a:pt x="136" y="137"/>
                </a:cubicBezTo>
                <a:cubicBezTo>
                  <a:pt x="157" y="115"/>
                  <a:pt x="181" y="96"/>
                  <a:pt x="206" y="79"/>
                </a:cubicBezTo>
                <a:cubicBezTo>
                  <a:pt x="232" y="61"/>
                  <a:pt x="258" y="47"/>
                  <a:pt x="287" y="35"/>
                </a:cubicBezTo>
                <a:cubicBezTo>
                  <a:pt x="315" y="24"/>
                  <a:pt x="344" y="15"/>
                  <a:pt x="374" y="9"/>
                </a:cubicBezTo>
                <a:cubicBezTo>
                  <a:pt x="403" y="3"/>
                  <a:pt x="434" y="0"/>
                  <a:pt x="464" y="0"/>
                </a:cubicBezTo>
                <a:cubicBezTo>
                  <a:pt x="495" y="0"/>
                  <a:pt x="525" y="3"/>
                  <a:pt x="556" y="9"/>
                </a:cubicBezTo>
                <a:cubicBezTo>
                  <a:pt x="586" y="15"/>
                  <a:pt x="615" y="24"/>
                  <a:pt x="643" y="35"/>
                </a:cubicBezTo>
                <a:cubicBezTo>
                  <a:pt x="671" y="47"/>
                  <a:pt x="698" y="61"/>
                  <a:pt x="723" y="79"/>
                </a:cubicBezTo>
                <a:cubicBezTo>
                  <a:pt x="748" y="96"/>
                  <a:pt x="772" y="115"/>
                  <a:pt x="793" y="137"/>
                </a:cubicBezTo>
                <a:cubicBezTo>
                  <a:pt x="815" y="158"/>
                  <a:pt x="834" y="182"/>
                  <a:pt x="851" y="207"/>
                </a:cubicBezTo>
                <a:cubicBezTo>
                  <a:pt x="868" y="233"/>
                  <a:pt x="882" y="259"/>
                  <a:pt x="894" y="288"/>
                </a:cubicBezTo>
                <a:cubicBezTo>
                  <a:pt x="906" y="316"/>
                  <a:pt x="915" y="345"/>
                  <a:pt x="921" y="375"/>
                </a:cubicBezTo>
                <a:cubicBezTo>
                  <a:pt x="926" y="404"/>
                  <a:pt x="929" y="435"/>
                  <a:pt x="929" y="465"/>
                </a:cubicBezTo>
                <a:close/>
              </a:path>
            </a:pathLst>
          </a:custGeom>
          <a:solidFill>
            <a:srgbClr val="00BB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7" name="Picture 616"/>
          <p:cNvPicPr/>
          <p:nvPr/>
        </p:nvPicPr>
        <p:blipFill>
          <a:blip r:embed="rId11"/>
          <a:stretch/>
        </p:blipFill>
        <p:spPr>
          <a:xfrm>
            <a:off x="4078080" y="4587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TextBox 617"/>
          <p:cNvSpPr txBox="1"/>
          <p:nvPr/>
        </p:nvSpPr>
        <p:spPr>
          <a:xfrm>
            <a:off x="702000" y="5675400"/>
            <a:ext cx="2113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and security patch information.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TextBox 618"/>
          <p:cNvSpPr txBox="1"/>
          <p:nvPr/>
        </p:nvSpPr>
        <p:spPr>
          <a:xfrm>
            <a:off x="4412160" y="4557960"/>
            <a:ext cx="18493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Advanced Analytics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TextBox 619"/>
          <p:cNvSpPr txBox="1"/>
          <p:nvPr/>
        </p:nvSpPr>
        <p:spPr>
          <a:xfrm>
            <a:off x="3977640" y="4939920"/>
            <a:ext cx="23389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Incorporating AI-driven insights for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3977640" y="5140800"/>
            <a:ext cx="2122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predictive management to help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TextBox 621"/>
          <p:cNvSpPr txBox="1"/>
          <p:nvPr/>
        </p:nvSpPr>
        <p:spPr>
          <a:xfrm>
            <a:off x="3977640" y="5341320"/>
            <a:ext cx="23745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anticipate infrastructure needs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3" name="Picture 622"/>
          <p:cNvPicPr/>
          <p:nvPr/>
        </p:nvPicPr>
        <p:blipFill>
          <a:blip r:embed="rId12"/>
          <a:stretch/>
        </p:blipFill>
        <p:spPr>
          <a:xfrm>
            <a:off x="7086600" y="4320360"/>
            <a:ext cx="3074760" cy="170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Freeform: Shape 623"/>
          <p:cNvSpPr/>
          <p:nvPr/>
        </p:nvSpPr>
        <p:spPr>
          <a:xfrm>
            <a:off x="7086240" y="4286880"/>
            <a:ext cx="3075840" cy="33840"/>
          </a:xfrm>
          <a:custGeom>
            <a:avLst/>
            <a:gdLst/>
            <a:ahLst/>
            <a:cxnLst/>
            <a:rect l="0" t="0" r="r" b="b"/>
            <a:pathLst>
              <a:path w="8544" h="94">
                <a:moveTo>
                  <a:pt x="0" y="0"/>
                </a:moveTo>
                <a:lnTo>
                  <a:pt x="8544" y="0"/>
                </a:lnTo>
                <a:lnTo>
                  <a:pt x="8544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Freeform: Shape 624"/>
          <p:cNvSpPr/>
          <p:nvPr/>
        </p:nvSpPr>
        <p:spPr>
          <a:xfrm>
            <a:off x="7253280" y="4487400"/>
            <a:ext cx="334800" cy="334440"/>
          </a:xfrm>
          <a:custGeom>
            <a:avLst/>
            <a:gdLst/>
            <a:ahLst/>
            <a:cxnLst/>
            <a:rect l="0" t="0" r="r" b="b"/>
            <a:pathLst>
              <a:path w="930" h="929">
                <a:moveTo>
                  <a:pt x="930" y="465"/>
                </a:moveTo>
                <a:cubicBezTo>
                  <a:pt x="930" y="496"/>
                  <a:pt x="927" y="526"/>
                  <a:pt x="921" y="556"/>
                </a:cubicBezTo>
                <a:cubicBezTo>
                  <a:pt x="915" y="586"/>
                  <a:pt x="906" y="615"/>
                  <a:pt x="895" y="643"/>
                </a:cubicBezTo>
                <a:cubicBezTo>
                  <a:pt x="883" y="671"/>
                  <a:pt x="869" y="698"/>
                  <a:pt x="852" y="723"/>
                </a:cubicBezTo>
                <a:cubicBezTo>
                  <a:pt x="835" y="748"/>
                  <a:pt x="816" y="772"/>
                  <a:pt x="794" y="793"/>
                </a:cubicBezTo>
                <a:cubicBezTo>
                  <a:pt x="772" y="815"/>
                  <a:pt x="749" y="834"/>
                  <a:pt x="723" y="851"/>
                </a:cubicBezTo>
                <a:cubicBezTo>
                  <a:pt x="697" y="868"/>
                  <a:pt x="671" y="882"/>
                  <a:pt x="642" y="894"/>
                </a:cubicBezTo>
                <a:cubicBezTo>
                  <a:pt x="614" y="906"/>
                  <a:pt x="585" y="915"/>
                  <a:pt x="555" y="921"/>
                </a:cubicBezTo>
                <a:cubicBezTo>
                  <a:pt x="525" y="926"/>
                  <a:pt x="495" y="929"/>
                  <a:pt x="465" y="929"/>
                </a:cubicBezTo>
                <a:cubicBezTo>
                  <a:pt x="434" y="929"/>
                  <a:pt x="404" y="926"/>
                  <a:pt x="374" y="921"/>
                </a:cubicBezTo>
                <a:cubicBezTo>
                  <a:pt x="344" y="915"/>
                  <a:pt x="315" y="906"/>
                  <a:pt x="287" y="894"/>
                </a:cubicBezTo>
                <a:cubicBezTo>
                  <a:pt x="259" y="882"/>
                  <a:pt x="232" y="868"/>
                  <a:pt x="207" y="851"/>
                </a:cubicBezTo>
                <a:cubicBezTo>
                  <a:pt x="181" y="834"/>
                  <a:pt x="158" y="815"/>
                  <a:pt x="136" y="793"/>
                </a:cubicBezTo>
                <a:cubicBezTo>
                  <a:pt x="115" y="772"/>
                  <a:pt x="96" y="748"/>
                  <a:pt x="79" y="723"/>
                </a:cubicBezTo>
                <a:cubicBezTo>
                  <a:pt x="62" y="698"/>
                  <a:pt x="47" y="671"/>
                  <a:pt x="36" y="643"/>
                </a:cubicBezTo>
                <a:cubicBezTo>
                  <a:pt x="24" y="615"/>
                  <a:pt x="15" y="586"/>
                  <a:pt x="9" y="556"/>
                </a:cubicBezTo>
                <a:cubicBezTo>
                  <a:pt x="3" y="526"/>
                  <a:pt x="0" y="496"/>
                  <a:pt x="0" y="465"/>
                </a:cubicBezTo>
                <a:cubicBezTo>
                  <a:pt x="0" y="435"/>
                  <a:pt x="3" y="404"/>
                  <a:pt x="9" y="375"/>
                </a:cubicBezTo>
                <a:cubicBezTo>
                  <a:pt x="15" y="345"/>
                  <a:pt x="24" y="316"/>
                  <a:pt x="36" y="288"/>
                </a:cubicBezTo>
                <a:cubicBezTo>
                  <a:pt x="47" y="259"/>
                  <a:pt x="62" y="233"/>
                  <a:pt x="79" y="207"/>
                </a:cubicBezTo>
                <a:cubicBezTo>
                  <a:pt x="96" y="182"/>
                  <a:pt x="115" y="158"/>
                  <a:pt x="136" y="137"/>
                </a:cubicBezTo>
                <a:cubicBezTo>
                  <a:pt x="158" y="115"/>
                  <a:pt x="181" y="96"/>
                  <a:pt x="207" y="79"/>
                </a:cubicBezTo>
                <a:cubicBezTo>
                  <a:pt x="232" y="61"/>
                  <a:pt x="259" y="47"/>
                  <a:pt x="287" y="35"/>
                </a:cubicBezTo>
                <a:cubicBezTo>
                  <a:pt x="315" y="24"/>
                  <a:pt x="344" y="15"/>
                  <a:pt x="374" y="9"/>
                </a:cubicBezTo>
                <a:cubicBezTo>
                  <a:pt x="404" y="3"/>
                  <a:pt x="434" y="0"/>
                  <a:pt x="465" y="0"/>
                </a:cubicBezTo>
                <a:cubicBezTo>
                  <a:pt x="495" y="0"/>
                  <a:pt x="525" y="3"/>
                  <a:pt x="555" y="9"/>
                </a:cubicBezTo>
                <a:cubicBezTo>
                  <a:pt x="585" y="15"/>
                  <a:pt x="614" y="24"/>
                  <a:pt x="642" y="35"/>
                </a:cubicBezTo>
                <a:cubicBezTo>
                  <a:pt x="671" y="47"/>
                  <a:pt x="697" y="61"/>
                  <a:pt x="723" y="79"/>
                </a:cubicBezTo>
                <a:cubicBezTo>
                  <a:pt x="749" y="96"/>
                  <a:pt x="772" y="115"/>
                  <a:pt x="794" y="137"/>
                </a:cubicBezTo>
                <a:cubicBezTo>
                  <a:pt x="816" y="158"/>
                  <a:pt x="835" y="182"/>
                  <a:pt x="852" y="207"/>
                </a:cubicBezTo>
                <a:cubicBezTo>
                  <a:pt x="869" y="233"/>
                  <a:pt x="883" y="259"/>
                  <a:pt x="895" y="288"/>
                </a:cubicBezTo>
                <a:cubicBezTo>
                  <a:pt x="906" y="316"/>
                  <a:pt x="915" y="345"/>
                  <a:pt x="921" y="375"/>
                </a:cubicBezTo>
                <a:cubicBezTo>
                  <a:pt x="927" y="404"/>
                  <a:pt x="930" y="435"/>
                  <a:pt x="930" y="465"/>
                </a:cubicBezTo>
                <a:close/>
              </a:path>
            </a:pathLst>
          </a:custGeom>
          <a:solidFill>
            <a:srgbClr val="00BBA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6" name="Picture 625"/>
          <p:cNvPicPr/>
          <p:nvPr/>
        </p:nvPicPr>
        <p:blipFill>
          <a:blip r:embed="rId13"/>
          <a:stretch/>
        </p:blipFill>
        <p:spPr>
          <a:xfrm>
            <a:off x="7362360" y="458784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TextBox 626"/>
          <p:cNvSpPr txBox="1"/>
          <p:nvPr/>
        </p:nvSpPr>
        <p:spPr>
          <a:xfrm>
            <a:off x="3977640" y="5541840"/>
            <a:ext cx="11012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security threats.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7688160" y="4557960"/>
            <a:ext cx="1980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DejaVuSans"/>
                <a:ea typeface="DejaVuSans"/>
              </a:rPr>
              <a:t>Reﬁned Notiﬁcations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TextBox 628"/>
          <p:cNvSpPr txBox="1"/>
          <p:nvPr/>
        </p:nvSpPr>
        <p:spPr>
          <a:xfrm>
            <a:off x="7253640" y="4939920"/>
            <a:ext cx="2395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Enhancing alerting capabilities with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TextBox 629"/>
          <p:cNvSpPr txBox="1"/>
          <p:nvPr/>
        </p:nvSpPr>
        <p:spPr>
          <a:xfrm>
            <a:off x="7253640" y="5140800"/>
            <a:ext cx="2494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intelligent notiﬁcations that prioritize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7253640" y="5341320"/>
            <a:ext cx="24937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critical issues and provide actionable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2" name="Picture 631"/>
          <p:cNvPicPr/>
          <p:nvPr/>
        </p:nvPicPr>
        <p:blipFill>
          <a:blip r:embed="rId14"/>
          <a:stretch/>
        </p:blipFill>
        <p:spPr>
          <a:xfrm>
            <a:off x="534960" y="625068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TextBox 632"/>
          <p:cNvSpPr txBox="1"/>
          <p:nvPr/>
        </p:nvSpPr>
        <p:spPr>
          <a:xfrm>
            <a:off x="7253640" y="5541840"/>
            <a:ext cx="565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D1D5DB"/>
                </a:solidFill>
                <a:effectLst/>
                <a:uFillTx/>
                <a:latin typeface="DejaVuSans"/>
                <a:ea typeface="DejaVuSans"/>
              </a:rPr>
              <a:t>insights.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TextBox 633"/>
          <p:cNvSpPr txBox="1"/>
          <p:nvPr/>
        </p:nvSpPr>
        <p:spPr>
          <a:xfrm>
            <a:off x="718560" y="6242400"/>
            <a:ext cx="186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 Infrastructure Tracking System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5" name="Picture 634"/>
          <p:cNvPicPr/>
          <p:nvPr/>
        </p:nvPicPr>
        <p:blipFill>
          <a:blip r:embed="rId15"/>
          <a:stretch/>
        </p:blipFill>
        <p:spPr>
          <a:xfrm>
            <a:off x="-835560" y="4086360"/>
            <a:ext cx="3342240" cy="33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Picture 635"/>
          <p:cNvPicPr/>
          <p:nvPr/>
        </p:nvPicPr>
        <p:blipFill>
          <a:blip r:embed="rId16"/>
          <a:stretch/>
        </p:blipFill>
        <p:spPr>
          <a:xfrm>
            <a:off x="8607240" y="-417960"/>
            <a:ext cx="2506680" cy="250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7" name="Picture 636"/>
          <p:cNvPicPr/>
          <p:nvPr/>
        </p:nvPicPr>
        <p:blipFill>
          <a:blip r:embed="rId17"/>
          <a:stretch/>
        </p:blipFill>
        <p:spPr>
          <a:xfrm>
            <a:off x="5264640" y="1253520"/>
            <a:ext cx="501372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8" name="Picture 637"/>
          <p:cNvPicPr/>
          <p:nvPr/>
        </p:nvPicPr>
        <p:blipFill>
          <a:blip r:embed="rId18"/>
          <a:stretch/>
        </p:blipFill>
        <p:spPr>
          <a:xfrm>
            <a:off x="417960" y="5323320"/>
            <a:ext cx="3342240" cy="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Picture 638"/>
          <p:cNvPicPr/>
          <p:nvPr/>
        </p:nvPicPr>
        <p:blipFill>
          <a:blip r:embed="rId19"/>
          <a:stretch/>
        </p:blipFill>
        <p:spPr>
          <a:xfrm>
            <a:off x="0" y="0"/>
            <a:ext cx="10696320" cy="659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TextBox 639"/>
          <p:cNvSpPr txBox="1"/>
          <p:nvPr/>
        </p:nvSpPr>
        <p:spPr>
          <a:xfrm>
            <a:off x="9824400" y="6242400"/>
            <a:ext cx="338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0" u="none" strike="noStrike">
                <a:solidFill>
                  <a:srgbClr val="9CA3AF"/>
                </a:solidFill>
                <a:effectLst/>
                <a:uFillTx/>
                <a:latin typeface="DejaVuSans"/>
                <a:ea typeface="DejaVuSans"/>
              </a:rPr>
              <a:t>10/10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1434</Words>
  <Application>Microsoft Office PowerPoint</Application>
  <PresentationFormat>Custom</PresentationFormat>
  <Paragraphs>333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DejaVuSans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Venugopal Devaraj</cp:lastModifiedBy>
  <cp:revision>2</cp:revision>
  <dcterms:modified xsi:type="dcterms:W3CDTF">2025-07-17T03:22:49Z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